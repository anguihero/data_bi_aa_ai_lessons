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89" r:id="rId5"/>
    <p:sldId id="307" r:id="rId6"/>
    <p:sldId id="287" r:id="rId7"/>
    <p:sldId id="297" r:id="rId8"/>
    <p:sldId id="299" r:id="rId9"/>
    <p:sldId id="300" r:id="rId10"/>
    <p:sldId id="288" r:id="rId11"/>
    <p:sldId id="308" r:id="rId12"/>
    <p:sldId id="294" r:id="rId13"/>
    <p:sldId id="295" r:id="rId14"/>
    <p:sldId id="262" r:id="rId15"/>
    <p:sldId id="284" r:id="rId16"/>
    <p:sldId id="285" r:id="rId17"/>
    <p:sldId id="286" r:id="rId18"/>
    <p:sldId id="312" r:id="rId19"/>
    <p:sldId id="290" r:id="rId20"/>
    <p:sldId id="291" r:id="rId21"/>
    <p:sldId id="292" r:id="rId22"/>
    <p:sldId id="293" r:id="rId23"/>
    <p:sldId id="309" r:id="rId24"/>
    <p:sldId id="302" r:id="rId25"/>
    <p:sldId id="303" r:id="rId26"/>
    <p:sldId id="324" r:id="rId27"/>
    <p:sldId id="326" r:id="rId28"/>
    <p:sldId id="327" r:id="rId29"/>
    <p:sldId id="328" r:id="rId30"/>
    <p:sldId id="329" r:id="rId31"/>
    <p:sldId id="323" r:id="rId32"/>
    <p:sldId id="331" r:id="rId33"/>
    <p:sldId id="332" r:id="rId34"/>
    <p:sldId id="334" r:id="rId35"/>
    <p:sldId id="335" r:id="rId36"/>
    <p:sldId id="338" r:id="rId37"/>
    <p:sldId id="337" r:id="rId38"/>
    <p:sldId id="333" r:id="rId39"/>
    <p:sldId id="310" r:id="rId40"/>
    <p:sldId id="339" r:id="rId41"/>
    <p:sldId id="313" r:id="rId42"/>
    <p:sldId id="340" r:id="rId43"/>
    <p:sldId id="314" r:id="rId44"/>
    <p:sldId id="315" r:id="rId45"/>
    <p:sldId id="316" r:id="rId46"/>
    <p:sldId id="317" r:id="rId47"/>
    <p:sldId id="321" r:id="rId48"/>
    <p:sldId id="318" r:id="rId49"/>
    <p:sldId id="320" r:id="rId50"/>
    <p:sldId id="336" r:id="rId51"/>
    <p:sldId id="266" r:id="rId52"/>
    <p:sldId id="258" r:id="rId53"/>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ACAC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8" autoAdjust="0"/>
    <p:restoredTop sz="94660"/>
  </p:normalViewPr>
  <p:slideViewPr>
    <p:cSldViewPr snapToGrid="0">
      <p:cViewPr varScale="1">
        <p:scale>
          <a:sx n="112" d="100"/>
          <a:sy n="112" d="100"/>
        </p:scale>
        <p:origin x="608" y="20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8" name="Imagen 7" descr="Imagen digital de una ciudad&#10;&#10;Descripción generada automáticamente con confianza media">
            <a:extLst>
              <a:ext uri="{FF2B5EF4-FFF2-40B4-BE49-F238E27FC236}">
                <a16:creationId xmlns:a16="http://schemas.microsoft.com/office/drawing/2014/main" id="{39BE0435-354B-B7FB-5ECB-FA8806D2A1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98594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pic>
        <p:nvPicPr>
          <p:cNvPr id="8" name="Imagen 7" descr="Imagen que contiene tabla, hombre, montar a caballo, parado&#10;&#10;Descripción generada automáticamente">
            <a:extLst>
              <a:ext uri="{FF2B5EF4-FFF2-40B4-BE49-F238E27FC236}">
                <a16:creationId xmlns:a16="http://schemas.microsoft.com/office/drawing/2014/main" id="{01B77A56-E8E9-F9C6-5F1B-333632B4F17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56838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vertical y texto">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3DBE2AD5-0369-2A9B-AC69-3E90B9240EA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extLst>
      <p:ext uri="{BB962C8B-B14F-4D97-AF65-F5344CB8AC3E}">
        <p14:creationId xmlns:p14="http://schemas.microsoft.com/office/powerpoint/2010/main" val="4053983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pic>
        <p:nvPicPr>
          <p:cNvPr id="4" name="Imagen 3" descr="Imagen que contiene Interfaz de usuario gráfica&#10;&#10;Descripción generada automáticamente">
            <a:extLst>
              <a:ext uri="{FF2B5EF4-FFF2-40B4-BE49-F238E27FC236}">
                <a16:creationId xmlns:a16="http://schemas.microsoft.com/office/drawing/2014/main" id="{34F15162-7BC5-8B92-C247-D4AF273446F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664387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pic>
        <p:nvPicPr>
          <p:cNvPr id="4" name="Imagen 3" descr="Imagen que contiene Forma&#10;&#10;Descripción generada automáticamente">
            <a:extLst>
              <a:ext uri="{FF2B5EF4-FFF2-40B4-BE49-F238E27FC236}">
                <a16:creationId xmlns:a16="http://schemas.microsoft.com/office/drawing/2014/main" id="{66DEED19-E37F-4126-5401-CCD5D59780E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9024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Diseño personalizado">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9223CB85-9CA2-0A6C-676A-CDF4839B094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1999" cy="6858000"/>
          </a:xfrm>
          <a:prstGeom prst="rect">
            <a:avLst/>
          </a:prstGeom>
        </p:spPr>
      </p:pic>
    </p:spTree>
    <p:extLst>
      <p:ext uri="{BB962C8B-B14F-4D97-AF65-F5344CB8AC3E}">
        <p14:creationId xmlns:p14="http://schemas.microsoft.com/office/powerpoint/2010/main" val="1414394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27D5DE-CAA7-684D-9428-C733A29A503A}"/>
              </a:ext>
            </a:extLst>
          </p:cNvPr>
          <p:cNvSpPr>
            <a:spLocks noGrp="1"/>
          </p:cNvSpPr>
          <p:nvPr>
            <p:ph type="title"/>
          </p:nvPr>
        </p:nvSpPr>
        <p:spPr/>
        <p:txBody>
          <a:bodyPr/>
          <a:lstStyle>
            <a:lvl1pPr>
              <a:defRPr b="1">
                <a:solidFill>
                  <a:schemeClr val="bg2">
                    <a:lumMod val="50000"/>
                  </a:schemeClr>
                </a:solidFill>
              </a:defRPr>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28547C5-CFDE-B649-91CE-EA52957CBFFA}"/>
              </a:ext>
            </a:extLst>
          </p:cNvPr>
          <p:cNvSpPr>
            <a:spLocks noGrp="1"/>
          </p:cNvSpPr>
          <p:nvPr>
            <p:ph sz="half" idx="1"/>
          </p:nvPr>
        </p:nvSpPr>
        <p:spPr>
          <a:xfrm>
            <a:off x="838200" y="1825625"/>
            <a:ext cx="5181600" cy="4351338"/>
          </a:xfrm>
        </p:spPr>
        <p:txBody>
          <a:bodyPr/>
          <a:lstStyle/>
          <a:p>
            <a:pPr lvl="0"/>
            <a:r>
              <a:rPr lang="es-ES" dirty="0"/>
              <a:t>Haga clic para modificar los estilos de texto del patrón</a:t>
            </a:r>
          </a:p>
        </p:txBody>
      </p:sp>
      <p:sp>
        <p:nvSpPr>
          <p:cNvPr id="4" name="Marcador de contenido 3">
            <a:extLst>
              <a:ext uri="{FF2B5EF4-FFF2-40B4-BE49-F238E27FC236}">
                <a16:creationId xmlns:a16="http://schemas.microsoft.com/office/drawing/2014/main" id="{1085C3C8-BC27-C448-9FEA-3739EA5795C5}"/>
              </a:ext>
            </a:extLst>
          </p:cNvPr>
          <p:cNvSpPr>
            <a:spLocks noGrp="1"/>
          </p:cNvSpPr>
          <p:nvPr>
            <p:ph sz="half" idx="2"/>
          </p:nvPr>
        </p:nvSpPr>
        <p:spPr>
          <a:xfrm>
            <a:off x="6172200" y="1825625"/>
            <a:ext cx="5181600" cy="4351338"/>
          </a:xfrm>
        </p:spPr>
        <p:txBody>
          <a:bodyPr/>
          <a:lstStyle/>
          <a:p>
            <a:pPr lvl="0"/>
            <a:r>
              <a:rPr lang="es-ES" dirty="0"/>
              <a:t>Haga clic para modificar los estilos de texto del patrón</a:t>
            </a:r>
          </a:p>
        </p:txBody>
      </p:sp>
      <p:sp>
        <p:nvSpPr>
          <p:cNvPr id="9" name="Rectángulo 8">
            <a:extLst>
              <a:ext uri="{FF2B5EF4-FFF2-40B4-BE49-F238E27FC236}">
                <a16:creationId xmlns:a16="http://schemas.microsoft.com/office/drawing/2014/main" id="{EEE0FDC4-BE9F-B640-ABC9-6E9864CCEAC7}"/>
              </a:ext>
            </a:extLst>
          </p:cNvPr>
          <p:cNvSpPr/>
          <p:nvPr userDrawn="1"/>
        </p:nvSpPr>
        <p:spPr>
          <a:xfrm flipV="1">
            <a:off x="2400174" y="1712437"/>
            <a:ext cx="7544051" cy="45719"/>
          </a:xfrm>
          <a:prstGeom prst="rect">
            <a:avLst/>
          </a:prstGeom>
          <a:solidFill>
            <a:srgbClr val="00D5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pic>
        <p:nvPicPr>
          <p:cNvPr id="10" name="Imagen 9" descr="Un conjunto de letras negras en un fondo negro&#10;&#10;Descripción generada automáticamente con confianza media">
            <a:extLst>
              <a:ext uri="{FF2B5EF4-FFF2-40B4-BE49-F238E27FC236}">
                <a16:creationId xmlns:a16="http://schemas.microsoft.com/office/drawing/2014/main" id="{5FB7BAD2-D6A7-F345-A797-AA87A16CC809}"/>
              </a:ext>
            </a:extLst>
          </p:cNvPr>
          <p:cNvPicPr>
            <a:picLocks noChangeAspect="1"/>
          </p:cNvPicPr>
          <p:nvPr userDrawn="1"/>
        </p:nvPicPr>
        <p:blipFill>
          <a:blip r:embed="rId2"/>
          <a:stretch>
            <a:fillRect/>
          </a:stretch>
        </p:blipFill>
        <p:spPr>
          <a:xfrm>
            <a:off x="75878" y="230188"/>
            <a:ext cx="686638" cy="630508"/>
          </a:xfrm>
          <a:prstGeom prst="rect">
            <a:avLst/>
          </a:prstGeom>
        </p:spPr>
      </p:pic>
      <p:pic>
        <p:nvPicPr>
          <p:cNvPr id="8" name="Imagen 7" descr="Forma, Rectángulo&#10;&#10;Descripción generada automáticamente">
            <a:extLst>
              <a:ext uri="{FF2B5EF4-FFF2-40B4-BE49-F238E27FC236}">
                <a16:creationId xmlns:a16="http://schemas.microsoft.com/office/drawing/2014/main" id="{795220F8-FD50-1947-8EAF-42A6523EDD6C}"/>
              </a:ext>
            </a:extLst>
          </p:cNvPr>
          <p:cNvPicPr>
            <a:picLocks noChangeAspect="1"/>
          </p:cNvPicPr>
          <p:nvPr userDrawn="1"/>
        </p:nvPicPr>
        <p:blipFill>
          <a:blip r:embed="rId3"/>
          <a:stretch>
            <a:fillRect/>
          </a:stretch>
        </p:blipFill>
        <p:spPr>
          <a:xfrm>
            <a:off x="1" y="6433936"/>
            <a:ext cx="12191999" cy="435964"/>
          </a:xfrm>
          <a:prstGeom prst="rect">
            <a:avLst/>
          </a:prstGeom>
        </p:spPr>
      </p:pic>
      <p:pic>
        <p:nvPicPr>
          <p:cNvPr id="12" name="Imagen 11" descr="Logotipo, nombre de la empresa&#10;&#10;Descripción generada automáticamente">
            <a:extLst>
              <a:ext uri="{FF2B5EF4-FFF2-40B4-BE49-F238E27FC236}">
                <a16:creationId xmlns:a16="http://schemas.microsoft.com/office/drawing/2014/main" id="{7F42CBCB-1A30-2D40-8173-B02D7F64323F}"/>
              </a:ext>
            </a:extLst>
          </p:cNvPr>
          <p:cNvPicPr>
            <a:picLocks noChangeAspect="1"/>
          </p:cNvPicPr>
          <p:nvPr userDrawn="1"/>
        </p:nvPicPr>
        <p:blipFill>
          <a:blip r:embed="rId4"/>
          <a:stretch>
            <a:fillRect/>
          </a:stretch>
        </p:blipFill>
        <p:spPr>
          <a:xfrm>
            <a:off x="10863064" y="6433936"/>
            <a:ext cx="1195227" cy="424064"/>
          </a:xfrm>
          <a:prstGeom prst="rect">
            <a:avLst/>
          </a:prstGeom>
        </p:spPr>
      </p:pic>
    </p:spTree>
    <p:extLst>
      <p:ext uri="{BB962C8B-B14F-4D97-AF65-F5344CB8AC3E}">
        <p14:creationId xmlns:p14="http://schemas.microsoft.com/office/powerpoint/2010/main" val="147035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0254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9" r:id="rId3"/>
    <p:sldLayoutId id="2147483660" r:id="rId4"/>
    <p:sldLayoutId id="2147483661" r:id="rId5"/>
    <p:sldLayoutId id="2147483662" r:id="rId6"/>
    <p:sldLayoutId id="2147483663"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7.gi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55.gi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58.gi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hyperlink" Target="https://medium.com/@tuhinmukherjee74/different-types-of-distances-used-in-machine-learning-8f541bbdce8" TargetMode="External"/><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4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F0DEF24-0F2D-0715-9263-0E484648C6EC}"/>
              </a:ext>
            </a:extLst>
          </p:cNvPr>
          <p:cNvSpPr txBox="1"/>
          <p:nvPr/>
        </p:nvSpPr>
        <p:spPr>
          <a:xfrm>
            <a:off x="1854475" y="2700466"/>
            <a:ext cx="8751114" cy="1015663"/>
          </a:xfrm>
          <a:prstGeom prst="rect">
            <a:avLst/>
          </a:prstGeom>
          <a:noFill/>
        </p:spPr>
        <p:txBody>
          <a:bodyPr wrap="none" rtlCol="0">
            <a:spAutoFit/>
          </a:bodyPr>
          <a:lstStyle/>
          <a:p>
            <a:r>
              <a:rPr lang="es-CO" sz="6000" b="1" dirty="0">
                <a:solidFill>
                  <a:schemeClr val="bg1"/>
                </a:solidFill>
                <a:latin typeface="Montserrat ExtraBold" pitchFamily="2" charset="0"/>
              </a:rPr>
              <a:t>Modelos de Analítica</a:t>
            </a:r>
          </a:p>
        </p:txBody>
      </p:sp>
      <p:sp>
        <p:nvSpPr>
          <p:cNvPr id="3" name="CuadroTexto 2">
            <a:extLst>
              <a:ext uri="{FF2B5EF4-FFF2-40B4-BE49-F238E27FC236}">
                <a16:creationId xmlns:a16="http://schemas.microsoft.com/office/drawing/2014/main" id="{EDE6C8FC-9DED-64AF-F4EB-BB34C8FB5A5B}"/>
              </a:ext>
            </a:extLst>
          </p:cNvPr>
          <p:cNvSpPr txBox="1"/>
          <p:nvPr/>
        </p:nvSpPr>
        <p:spPr>
          <a:xfrm>
            <a:off x="2519613" y="3891754"/>
            <a:ext cx="7152774" cy="307777"/>
          </a:xfrm>
          <a:prstGeom prst="rect">
            <a:avLst/>
          </a:prstGeom>
          <a:noFill/>
        </p:spPr>
        <p:txBody>
          <a:bodyPr wrap="square" rtlCol="0">
            <a:spAutoFit/>
          </a:bodyPr>
          <a:lstStyle/>
          <a:p>
            <a:pPr algn="ctr"/>
            <a:r>
              <a:rPr lang="es-CO" sz="1400" dirty="0">
                <a:solidFill>
                  <a:schemeClr val="bg1"/>
                </a:solidFill>
                <a:latin typeface="Montserrat Medium" pitchFamily="2" charset="0"/>
              </a:rPr>
              <a:t>Analítica Avanzada Aplicada</a:t>
            </a:r>
          </a:p>
        </p:txBody>
      </p:sp>
      <p:pic>
        <p:nvPicPr>
          <p:cNvPr id="4" name="Picture 3" descr="A black background with white text&#10;&#10;Description automatically generated">
            <a:extLst>
              <a:ext uri="{FF2B5EF4-FFF2-40B4-BE49-F238E27FC236}">
                <a16:creationId xmlns:a16="http://schemas.microsoft.com/office/drawing/2014/main" id="{B9649402-A006-BB1B-76E2-ECE640C6C286}"/>
              </a:ext>
            </a:extLst>
          </p:cNvPr>
          <p:cNvPicPr>
            <a:picLocks noChangeAspect="1"/>
          </p:cNvPicPr>
          <p:nvPr/>
        </p:nvPicPr>
        <p:blipFill>
          <a:blip r:embed="rId2"/>
          <a:stretch>
            <a:fillRect/>
          </a:stretch>
        </p:blipFill>
        <p:spPr>
          <a:xfrm>
            <a:off x="862642" y="517809"/>
            <a:ext cx="3062378" cy="833440"/>
          </a:xfrm>
          <a:prstGeom prst="rect">
            <a:avLst/>
          </a:prstGeom>
        </p:spPr>
      </p:pic>
    </p:spTree>
    <p:extLst>
      <p:ext uri="{BB962C8B-B14F-4D97-AF65-F5344CB8AC3E}">
        <p14:creationId xmlns:p14="http://schemas.microsoft.com/office/powerpoint/2010/main" val="555151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3A1A84A-0B40-4912-6086-D766C69A7CCD}"/>
              </a:ext>
            </a:extLst>
          </p:cNvPr>
          <p:cNvSpPr txBox="1"/>
          <p:nvPr/>
        </p:nvSpPr>
        <p:spPr>
          <a:xfrm>
            <a:off x="2659572" y="2742683"/>
            <a:ext cx="7379527" cy="830997"/>
          </a:xfrm>
          <a:prstGeom prst="rect">
            <a:avLst/>
          </a:prstGeom>
          <a:noFill/>
        </p:spPr>
        <p:txBody>
          <a:bodyPr wrap="square" rtlCol="0">
            <a:spAutoFit/>
          </a:bodyPr>
          <a:lstStyle/>
          <a:p>
            <a:pPr algn="ctr"/>
            <a:r>
              <a:rPr lang="es-ES" sz="4800" b="1" dirty="0">
                <a:solidFill>
                  <a:schemeClr val="bg1"/>
                </a:solidFill>
                <a:latin typeface="Montserrat ExtraBold" pitchFamily="2" charset="0"/>
              </a:rPr>
              <a:t>Modelos analíticos</a:t>
            </a:r>
            <a:endParaRPr lang="es-CO" sz="4800" b="1" dirty="0">
              <a:solidFill>
                <a:schemeClr val="bg1"/>
              </a:solidFill>
              <a:latin typeface="Montserrat ExtraBold" pitchFamily="2" charset="0"/>
            </a:endParaRPr>
          </a:p>
        </p:txBody>
      </p:sp>
      <p:sp>
        <p:nvSpPr>
          <p:cNvPr id="4" name="CuadroTexto 3">
            <a:extLst>
              <a:ext uri="{FF2B5EF4-FFF2-40B4-BE49-F238E27FC236}">
                <a16:creationId xmlns:a16="http://schemas.microsoft.com/office/drawing/2014/main" id="{FBE06E5C-9D49-BF89-5763-0EAE265617E8}"/>
              </a:ext>
            </a:extLst>
          </p:cNvPr>
          <p:cNvSpPr txBox="1"/>
          <p:nvPr/>
        </p:nvSpPr>
        <p:spPr>
          <a:xfrm>
            <a:off x="2519613" y="3891754"/>
            <a:ext cx="7152774" cy="523220"/>
          </a:xfrm>
          <a:prstGeom prst="rect">
            <a:avLst/>
          </a:prstGeom>
          <a:noFill/>
        </p:spPr>
        <p:txBody>
          <a:bodyPr wrap="square" rtlCol="0">
            <a:spAutoFit/>
          </a:bodyPr>
          <a:lstStyle/>
          <a:p>
            <a:pPr algn="ctr"/>
            <a:r>
              <a:rPr lang="es-CO" sz="1400" dirty="0">
                <a:solidFill>
                  <a:schemeClr val="bg1"/>
                </a:solidFill>
                <a:latin typeface="Montserrat Medium" pitchFamily="2" charset="0"/>
              </a:rPr>
              <a:t>9ª Sesión – Modelos supervisados y no supervisados</a:t>
            </a:r>
          </a:p>
          <a:p>
            <a:pPr algn="ctr"/>
            <a:endParaRPr lang="es-CO" sz="1400" dirty="0">
              <a:solidFill>
                <a:schemeClr val="bg1"/>
              </a:solidFill>
              <a:latin typeface="Montserrat Medium" pitchFamily="2" charset="0"/>
            </a:endParaRPr>
          </a:p>
        </p:txBody>
      </p:sp>
      <p:pic>
        <p:nvPicPr>
          <p:cNvPr id="6" name="Picture 5" descr="A black background with white text&#10;&#10;Description automatically generated">
            <a:extLst>
              <a:ext uri="{FF2B5EF4-FFF2-40B4-BE49-F238E27FC236}">
                <a16:creationId xmlns:a16="http://schemas.microsoft.com/office/drawing/2014/main" id="{AB5E1676-7A8D-3A69-69C6-3FA457185796}"/>
              </a:ext>
            </a:extLst>
          </p:cNvPr>
          <p:cNvPicPr>
            <a:picLocks noChangeAspect="1"/>
          </p:cNvPicPr>
          <p:nvPr/>
        </p:nvPicPr>
        <p:blipFill>
          <a:blip r:embed="rId2"/>
          <a:stretch>
            <a:fillRect/>
          </a:stretch>
        </p:blipFill>
        <p:spPr>
          <a:xfrm>
            <a:off x="2386642" y="5348602"/>
            <a:ext cx="2559171" cy="689667"/>
          </a:xfrm>
          <a:prstGeom prst="rect">
            <a:avLst/>
          </a:prstGeom>
        </p:spPr>
      </p:pic>
    </p:spTree>
    <p:extLst>
      <p:ext uri="{BB962C8B-B14F-4D97-AF65-F5344CB8AC3E}">
        <p14:creationId xmlns:p14="http://schemas.microsoft.com/office/powerpoint/2010/main" val="972686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logo with a black background&#10;&#10;Description automatically generated">
            <a:extLst>
              <a:ext uri="{FF2B5EF4-FFF2-40B4-BE49-F238E27FC236}">
                <a16:creationId xmlns:a16="http://schemas.microsoft.com/office/drawing/2014/main" id="{0F4EBBB3-950B-A198-91DD-9E0C069E6FAC}"/>
              </a:ext>
            </a:extLst>
          </p:cNvPr>
          <p:cNvPicPr>
            <a:picLocks noChangeAspect="1"/>
          </p:cNvPicPr>
          <p:nvPr/>
        </p:nvPicPr>
        <p:blipFill rotWithShape="1">
          <a:blip r:embed="rId2"/>
          <a:srcRect l="6667" t="35664" r="10526" b="41608"/>
          <a:stretch/>
        </p:blipFill>
        <p:spPr>
          <a:xfrm>
            <a:off x="934994" y="508959"/>
            <a:ext cx="2354649" cy="647641"/>
          </a:xfrm>
          <a:prstGeom prst="rect">
            <a:avLst/>
          </a:prstGeom>
        </p:spPr>
      </p:pic>
      <p:sp>
        <p:nvSpPr>
          <p:cNvPr id="12" name="CuadroTexto 11">
            <a:extLst>
              <a:ext uri="{FF2B5EF4-FFF2-40B4-BE49-F238E27FC236}">
                <a16:creationId xmlns:a16="http://schemas.microsoft.com/office/drawing/2014/main" id="{9D1A3BE5-287C-DCDB-3C8B-4FF15D78C868}"/>
              </a:ext>
            </a:extLst>
          </p:cNvPr>
          <p:cNvSpPr txBox="1"/>
          <p:nvPr/>
        </p:nvSpPr>
        <p:spPr>
          <a:xfrm>
            <a:off x="4646270" y="1156600"/>
            <a:ext cx="6785832" cy="830997"/>
          </a:xfrm>
          <a:prstGeom prst="rect">
            <a:avLst/>
          </a:prstGeom>
          <a:noFill/>
        </p:spPr>
        <p:txBody>
          <a:bodyPr wrap="none" rtlCol="0">
            <a:spAutoFit/>
          </a:bodyPr>
          <a:lstStyle/>
          <a:p>
            <a:pPr algn="r"/>
            <a:r>
              <a:rPr lang="es-CO" sz="4800" b="1" dirty="0">
                <a:latin typeface="Montserrat ExtraBold" pitchFamily="2" charset="0"/>
              </a:rPr>
              <a:t>Agenda de la sesión</a:t>
            </a:r>
          </a:p>
        </p:txBody>
      </p:sp>
      <p:sp>
        <p:nvSpPr>
          <p:cNvPr id="15" name="CuadroTexto 14">
            <a:extLst>
              <a:ext uri="{FF2B5EF4-FFF2-40B4-BE49-F238E27FC236}">
                <a16:creationId xmlns:a16="http://schemas.microsoft.com/office/drawing/2014/main" id="{82A9CE00-9845-495E-C227-33011C52169C}"/>
              </a:ext>
            </a:extLst>
          </p:cNvPr>
          <p:cNvSpPr txBox="1"/>
          <p:nvPr/>
        </p:nvSpPr>
        <p:spPr>
          <a:xfrm>
            <a:off x="934994" y="2442541"/>
            <a:ext cx="9849395" cy="3477875"/>
          </a:xfrm>
          <a:prstGeom prst="rect">
            <a:avLst/>
          </a:prstGeom>
          <a:noFill/>
        </p:spPr>
        <p:txBody>
          <a:bodyPr wrap="square">
            <a:spAutoFit/>
          </a:bodyPr>
          <a:lstStyle/>
          <a:p>
            <a:pPr marL="457200" indent="-457200">
              <a:buFont typeface="+mj-lt"/>
              <a:buAutoNum type="arabicPeriod"/>
            </a:pPr>
            <a:r>
              <a:rPr lang="es-ES" sz="2000" b="1" dirty="0">
                <a:latin typeface="Montserrat ExtraBold" panose="00000900000000000000" pitchFamily="2" charset="0"/>
              </a:rPr>
              <a:t>Aprendizaje automático</a:t>
            </a:r>
          </a:p>
          <a:p>
            <a:pPr marL="914400" lvl="1" indent="-457200">
              <a:buFont typeface="+mj-lt"/>
              <a:buAutoNum type="arabicPeriod"/>
            </a:pPr>
            <a:r>
              <a:rPr lang="es-ES" sz="2000" b="1" dirty="0">
                <a:latin typeface="Montserrat ExtraBold" panose="00000900000000000000" pitchFamily="2" charset="0"/>
              </a:rPr>
              <a:t>Supervisados</a:t>
            </a:r>
          </a:p>
          <a:p>
            <a:pPr marL="1371600" lvl="2" indent="-457200">
              <a:buFont typeface="+mj-lt"/>
              <a:buAutoNum type="arabicPeriod"/>
            </a:pPr>
            <a:r>
              <a:rPr lang="es-ES" sz="2000" b="1" dirty="0">
                <a:latin typeface="Montserrat ExtraBold" panose="00000900000000000000" pitchFamily="2" charset="0"/>
              </a:rPr>
              <a:t>Clases de modelos</a:t>
            </a:r>
          </a:p>
          <a:p>
            <a:pPr marL="1828800" lvl="3" indent="-457200">
              <a:buFont typeface="+mj-lt"/>
              <a:buAutoNum type="arabicPeriod"/>
            </a:pPr>
            <a:r>
              <a:rPr lang="es-ES" sz="2000" b="1" dirty="0">
                <a:latin typeface="Montserrat ExtraBold" panose="00000900000000000000" pitchFamily="2" charset="0"/>
              </a:rPr>
              <a:t>Regresión simple y múltiple </a:t>
            </a:r>
          </a:p>
          <a:p>
            <a:pPr marL="1828800" lvl="3" indent="-457200">
              <a:buFont typeface="+mj-lt"/>
              <a:buAutoNum type="arabicPeriod"/>
            </a:pPr>
            <a:r>
              <a:rPr lang="es-ES" sz="2000" b="1" dirty="0">
                <a:latin typeface="Montserrat ExtraBold" panose="00000900000000000000" pitchFamily="2" charset="0"/>
              </a:rPr>
              <a:t>Clasificación</a:t>
            </a:r>
          </a:p>
          <a:p>
            <a:pPr marL="1371600" lvl="2" indent="-457200">
              <a:buFont typeface="+mj-lt"/>
              <a:buAutoNum type="arabicPeriod"/>
            </a:pPr>
            <a:r>
              <a:rPr lang="es-ES" sz="2000" b="1" dirty="0">
                <a:latin typeface="Montserrat ExtraBold" panose="00000900000000000000" pitchFamily="2" charset="0"/>
              </a:rPr>
              <a:t>métricas</a:t>
            </a:r>
          </a:p>
          <a:p>
            <a:pPr marL="914400" lvl="1" indent="-457200">
              <a:buFont typeface="+mj-lt"/>
              <a:buAutoNum type="arabicPeriod"/>
            </a:pPr>
            <a:r>
              <a:rPr lang="es-ES" sz="2000" b="1" dirty="0">
                <a:latin typeface="Montserrat ExtraBold" panose="00000900000000000000" pitchFamily="2" charset="0"/>
              </a:rPr>
              <a:t>No supervisados</a:t>
            </a:r>
          </a:p>
          <a:p>
            <a:pPr marL="1371600" lvl="2" indent="-457200">
              <a:buFont typeface="+mj-lt"/>
              <a:buAutoNum type="arabicPeriod"/>
            </a:pPr>
            <a:r>
              <a:rPr lang="es-ES" sz="2000" b="1" dirty="0">
                <a:latin typeface="Montserrat ExtraBold" panose="00000900000000000000" pitchFamily="2" charset="0"/>
              </a:rPr>
              <a:t>Clases de modelos</a:t>
            </a:r>
          </a:p>
          <a:p>
            <a:pPr marL="1828800" lvl="3" indent="-457200">
              <a:buFont typeface="+mj-lt"/>
              <a:buAutoNum type="arabicPeriod"/>
            </a:pPr>
            <a:r>
              <a:rPr lang="es-ES" sz="2000" b="1" dirty="0">
                <a:latin typeface="Montserrat ExtraBold" panose="00000900000000000000" pitchFamily="2" charset="0"/>
              </a:rPr>
              <a:t>Reducción de dimensionalidad</a:t>
            </a:r>
          </a:p>
          <a:p>
            <a:pPr marL="1828800" lvl="3" indent="-457200">
              <a:buFont typeface="+mj-lt"/>
              <a:buAutoNum type="arabicPeriod"/>
            </a:pPr>
            <a:r>
              <a:rPr lang="es-ES" sz="2000" b="1" dirty="0" err="1">
                <a:latin typeface="Montserrat ExtraBold" panose="00000900000000000000" pitchFamily="2" charset="0"/>
              </a:rPr>
              <a:t>Clustering</a:t>
            </a:r>
            <a:endParaRPr lang="es-ES" sz="2000" b="1" dirty="0">
              <a:latin typeface="Montserrat ExtraBold" panose="00000900000000000000" pitchFamily="2" charset="0"/>
            </a:endParaRPr>
          </a:p>
          <a:p>
            <a:pPr marL="1371600" lvl="2" indent="-457200">
              <a:buFont typeface="+mj-lt"/>
              <a:buAutoNum type="arabicPeriod"/>
            </a:pPr>
            <a:r>
              <a:rPr lang="es-ES" sz="2000" b="1" dirty="0">
                <a:latin typeface="Montserrat ExtraBold" panose="00000900000000000000" pitchFamily="2" charset="0"/>
              </a:rPr>
              <a:t>métricas</a:t>
            </a:r>
            <a:endParaRPr lang="en-US" sz="2000" b="1" dirty="0">
              <a:latin typeface="Montserrat ExtraBold" panose="00000900000000000000" pitchFamily="2" charset="0"/>
            </a:endParaRPr>
          </a:p>
        </p:txBody>
      </p:sp>
    </p:spTree>
    <p:extLst>
      <p:ext uri="{BB962C8B-B14F-4D97-AF65-F5344CB8AC3E}">
        <p14:creationId xmlns:p14="http://schemas.microsoft.com/office/powerpoint/2010/main" val="2135076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558BBA0-0E85-EBBB-93A4-257435319EEF}"/>
              </a:ext>
            </a:extLst>
          </p:cNvPr>
          <p:cNvSpPr txBox="1"/>
          <p:nvPr/>
        </p:nvSpPr>
        <p:spPr>
          <a:xfrm>
            <a:off x="2194560" y="1621010"/>
            <a:ext cx="7802880" cy="3477875"/>
          </a:xfrm>
          <a:prstGeom prst="rect">
            <a:avLst/>
          </a:prstGeom>
          <a:noFill/>
        </p:spPr>
        <p:txBody>
          <a:bodyPr wrap="square">
            <a:spAutoFit/>
          </a:bodyPr>
          <a:lstStyle/>
          <a:p>
            <a:pPr algn="r"/>
            <a:r>
              <a:rPr lang="en-US" sz="4400" dirty="0">
                <a:solidFill>
                  <a:schemeClr val="bg1"/>
                </a:solidFill>
                <a:latin typeface="Montserrat ExtraBold" panose="00000900000000000000" pitchFamily="2" charset="0"/>
              </a:rPr>
              <a:t>“Those who can imagine anything, can create the impossible.” </a:t>
            </a:r>
          </a:p>
          <a:p>
            <a:pPr algn="r"/>
            <a:endParaRPr lang="en-US" sz="4400" b="1" spc="50" dirty="0">
              <a:ln w="0"/>
              <a:solidFill>
                <a:schemeClr val="bg2"/>
              </a:solidFill>
              <a:effectLst>
                <a:innerShdw blurRad="63500" dist="50800" dir="13500000">
                  <a:srgbClr val="000000">
                    <a:alpha val="50000"/>
                  </a:srgbClr>
                </a:innerShdw>
              </a:effectLst>
              <a:latin typeface="Montserrat ExtraBold" panose="00000900000000000000" pitchFamily="2" charset="0"/>
            </a:endParaRPr>
          </a:p>
          <a:p>
            <a:pPr algn="r"/>
            <a:r>
              <a:rPr lang="en-US" sz="4400" b="1" spc="50" dirty="0">
                <a:ln w="0"/>
                <a:solidFill>
                  <a:schemeClr val="bg2"/>
                </a:solidFill>
                <a:effectLst>
                  <a:innerShdw blurRad="63500" dist="50800" dir="13500000">
                    <a:srgbClr val="000000">
                      <a:alpha val="50000"/>
                    </a:srgbClr>
                  </a:innerShdw>
                </a:effectLst>
                <a:latin typeface="Montserrat ExtraBold" panose="00000900000000000000" pitchFamily="2" charset="0"/>
              </a:rPr>
              <a:t>Alan Turing</a:t>
            </a:r>
            <a:endParaRPr lang="es-CO" sz="4400" b="1" spc="50" dirty="0">
              <a:ln w="0"/>
              <a:solidFill>
                <a:schemeClr val="bg2"/>
              </a:solidFill>
              <a:effectLst>
                <a:innerShdw blurRad="63500" dist="50800" dir="13500000">
                  <a:srgbClr val="000000">
                    <a:alpha val="50000"/>
                  </a:srgbClr>
                </a:innerShdw>
              </a:effectLst>
              <a:latin typeface="Montserrat ExtraBold" panose="00000900000000000000" pitchFamily="2" charset="0"/>
            </a:endParaRPr>
          </a:p>
        </p:txBody>
      </p:sp>
      <p:pic>
        <p:nvPicPr>
          <p:cNvPr id="5" name="Gráfico 4" descr="Inteligencia artificial contorno">
            <a:extLst>
              <a:ext uri="{FF2B5EF4-FFF2-40B4-BE49-F238E27FC236}">
                <a16:creationId xmlns:a16="http://schemas.microsoft.com/office/drawing/2014/main" id="{9D969904-DABC-8E5D-FD9B-453F1B2D16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07771" y="3607525"/>
            <a:ext cx="1963783" cy="1963783"/>
          </a:xfrm>
          <a:prstGeom prst="rect">
            <a:avLst/>
          </a:prstGeom>
        </p:spPr>
      </p:pic>
    </p:spTree>
    <p:extLst>
      <p:ext uri="{BB962C8B-B14F-4D97-AF65-F5344CB8AC3E}">
        <p14:creationId xmlns:p14="http://schemas.microsoft.com/office/powerpoint/2010/main" val="399605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FBFFE3-F0EE-AD46-8986-7244C4C909FD}"/>
              </a:ext>
            </a:extLst>
          </p:cNvPr>
          <p:cNvSpPr>
            <a:spLocks noGrp="1"/>
          </p:cNvSpPr>
          <p:nvPr>
            <p:ph type="title"/>
          </p:nvPr>
        </p:nvSpPr>
        <p:spPr>
          <a:xfrm>
            <a:off x="839788" y="640081"/>
            <a:ext cx="10515600" cy="937260"/>
          </a:xfrm>
        </p:spPr>
        <p:txBody>
          <a:bodyPr>
            <a:noAutofit/>
          </a:bodyPr>
          <a:lstStyle/>
          <a:p>
            <a:pPr algn="ctr"/>
            <a:r>
              <a:rPr lang="es-ES" sz="5400" b="1" dirty="0">
                <a:solidFill>
                  <a:schemeClr val="accent1"/>
                </a:solidFill>
              </a:rPr>
              <a:t>Modelos predictivos</a:t>
            </a:r>
          </a:p>
        </p:txBody>
      </p:sp>
      <p:sp>
        <p:nvSpPr>
          <p:cNvPr id="3" name="Marcador de texto 3">
            <a:extLst>
              <a:ext uri="{FF2B5EF4-FFF2-40B4-BE49-F238E27FC236}">
                <a16:creationId xmlns:a16="http://schemas.microsoft.com/office/drawing/2014/main" id="{5E5B7B94-1441-DD81-CE82-6F3C14D2C221}"/>
              </a:ext>
            </a:extLst>
          </p:cNvPr>
          <p:cNvSpPr txBox="1">
            <a:spLocks/>
          </p:cNvSpPr>
          <p:nvPr/>
        </p:nvSpPr>
        <p:spPr>
          <a:xfrm>
            <a:off x="839788" y="2072081"/>
            <a:ext cx="10913188" cy="43287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chemeClr val="bg2">
                  <a:lumMod val="50000"/>
                </a:schemeClr>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bg2">
                  <a:lumMod val="50000"/>
                </a:schemeClr>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bg2">
                  <a:lumMod val="50000"/>
                </a:schemeClr>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bg2">
                  <a:lumMod val="50000"/>
                </a:schemeClr>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bg2">
                  <a:lumMod val="50000"/>
                </a:schemeClr>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s-CO" sz="2400" dirty="0"/>
          </a:p>
        </p:txBody>
      </p:sp>
      <p:pic>
        <p:nvPicPr>
          <p:cNvPr id="1026" name="Picture 2" descr="Dentro de la Inteligencia Artificial (IA), uno de los campos más destacados es el del aprendizaje automático.">
            <a:extLst>
              <a:ext uri="{FF2B5EF4-FFF2-40B4-BE49-F238E27FC236}">
                <a16:creationId xmlns:a16="http://schemas.microsoft.com/office/drawing/2014/main" id="{61C27383-C802-E783-8230-5DAF4F2EE5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925" y="2072081"/>
            <a:ext cx="5389245" cy="3990975"/>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A2BC973C-51DE-B852-6D45-E23CB20CE85A}"/>
              </a:ext>
            </a:extLst>
          </p:cNvPr>
          <p:cNvSpPr txBox="1"/>
          <p:nvPr/>
        </p:nvSpPr>
        <p:spPr>
          <a:xfrm>
            <a:off x="6229032" y="2072081"/>
            <a:ext cx="5303837" cy="3539430"/>
          </a:xfrm>
          <a:prstGeom prst="rect">
            <a:avLst/>
          </a:prstGeom>
          <a:noFill/>
        </p:spPr>
        <p:txBody>
          <a:bodyPr wrap="square">
            <a:spAutoFit/>
          </a:bodyPr>
          <a:lstStyle/>
          <a:p>
            <a:pPr algn="ctr"/>
            <a:r>
              <a:rPr lang="es-US" sz="3200" dirty="0"/>
              <a:t>Los modelos predictivos son herramientas matemáticas y estadísticas utilizadas para predecir resultados futuros basados en datos históricos. Se basan en el análisis de patrones y tendencias.</a:t>
            </a:r>
          </a:p>
        </p:txBody>
      </p:sp>
    </p:spTree>
    <p:extLst>
      <p:ext uri="{BB962C8B-B14F-4D97-AF65-F5344CB8AC3E}">
        <p14:creationId xmlns:p14="http://schemas.microsoft.com/office/powerpoint/2010/main" val="3888613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B2092A-0D3D-1147-E34E-FFCAFE03BE9C}"/>
              </a:ext>
            </a:extLst>
          </p:cNvPr>
          <p:cNvSpPr>
            <a:spLocks noGrp="1"/>
          </p:cNvSpPr>
          <p:nvPr>
            <p:ph type="title"/>
          </p:nvPr>
        </p:nvSpPr>
        <p:spPr/>
        <p:txBody>
          <a:bodyPr/>
          <a:lstStyle/>
          <a:p>
            <a:endParaRPr lang="en-US" dirty="0"/>
          </a:p>
        </p:txBody>
      </p:sp>
      <p:sp>
        <p:nvSpPr>
          <p:cNvPr id="4" name="Marcador de contenido 3">
            <a:extLst>
              <a:ext uri="{FF2B5EF4-FFF2-40B4-BE49-F238E27FC236}">
                <a16:creationId xmlns:a16="http://schemas.microsoft.com/office/drawing/2014/main" id="{15ACF110-D799-B407-4C59-8CD863AAC477}"/>
              </a:ext>
            </a:extLst>
          </p:cNvPr>
          <p:cNvSpPr>
            <a:spLocks noGrp="1"/>
          </p:cNvSpPr>
          <p:nvPr>
            <p:ph sz="half" idx="2"/>
          </p:nvPr>
        </p:nvSpPr>
        <p:spPr>
          <a:xfrm>
            <a:off x="7053044" y="1825625"/>
            <a:ext cx="4708321" cy="4351338"/>
          </a:xfrm>
        </p:spPr>
        <p:txBody>
          <a:bodyPr>
            <a:normAutofit/>
          </a:bodyPr>
          <a:lstStyle/>
          <a:p>
            <a:pPr marL="457200" marR="0" lvl="0" indent="-314325" algn="l" rtl="0">
              <a:lnSpc>
                <a:spcPct val="100000"/>
              </a:lnSpc>
              <a:spcBef>
                <a:spcPts val="0"/>
              </a:spcBef>
              <a:spcAft>
                <a:spcPts val="0"/>
              </a:spcAft>
              <a:buClr>
                <a:schemeClr val="dk1"/>
              </a:buClr>
              <a:buSzPts val="1350"/>
              <a:buFont typeface="DM Sans"/>
              <a:buAutoNum type="arabicPeriod"/>
            </a:pPr>
            <a:endParaRPr lang="en-US" sz="2400" b="0" i="0" u="none" strike="noStrike" cap="none" dirty="0">
              <a:solidFill>
                <a:schemeClr val="dk1"/>
              </a:solidFill>
              <a:latin typeface="DM Sans"/>
              <a:ea typeface="DM Sans"/>
              <a:cs typeface="DM Sans"/>
              <a:sym typeface="DM Sans"/>
            </a:endParaRPr>
          </a:p>
          <a:p>
            <a:pPr marL="142875" marR="0" lvl="0" indent="0" algn="l" rtl="0">
              <a:lnSpc>
                <a:spcPct val="100000"/>
              </a:lnSpc>
              <a:spcBef>
                <a:spcPts val="0"/>
              </a:spcBef>
              <a:spcAft>
                <a:spcPts val="0"/>
              </a:spcAft>
              <a:buClr>
                <a:schemeClr val="dk1"/>
              </a:buClr>
              <a:buSzPts val="1350"/>
              <a:buNone/>
            </a:pPr>
            <a:r>
              <a:rPr lang="en-US" sz="2400" dirty="0">
                <a:solidFill>
                  <a:schemeClr val="dk1"/>
                </a:solidFill>
                <a:latin typeface="DM Sans"/>
                <a:ea typeface="DM Sans"/>
                <a:cs typeface="DM Sans"/>
                <a:sym typeface="DM Sans"/>
              </a:rPr>
              <a:t>Podemos </a:t>
            </a:r>
            <a:r>
              <a:rPr lang="en-US" sz="2400" dirty="0" err="1">
                <a:solidFill>
                  <a:schemeClr val="dk1"/>
                </a:solidFill>
                <a:latin typeface="DM Sans"/>
                <a:ea typeface="DM Sans"/>
                <a:cs typeface="DM Sans"/>
                <a:sym typeface="DM Sans"/>
              </a:rPr>
              <a:t>agrupar</a:t>
            </a:r>
            <a:r>
              <a:rPr lang="en-US" sz="2400" dirty="0">
                <a:solidFill>
                  <a:schemeClr val="dk1"/>
                </a:solidFill>
                <a:latin typeface="DM Sans"/>
                <a:ea typeface="DM Sans"/>
                <a:cs typeface="DM Sans"/>
                <a:sym typeface="DM Sans"/>
              </a:rPr>
              <a:t> </a:t>
            </a:r>
            <a:r>
              <a:rPr lang="en-US" sz="2400" dirty="0" err="1">
                <a:solidFill>
                  <a:schemeClr val="dk1"/>
                </a:solidFill>
                <a:latin typeface="DM Sans"/>
                <a:ea typeface="DM Sans"/>
                <a:cs typeface="DM Sans"/>
                <a:sym typeface="DM Sans"/>
              </a:rPr>
              <a:t>los</a:t>
            </a:r>
            <a:r>
              <a:rPr lang="en-US" sz="2400" dirty="0">
                <a:solidFill>
                  <a:schemeClr val="dk1"/>
                </a:solidFill>
                <a:latin typeface="DM Sans"/>
                <a:ea typeface="DM Sans"/>
                <a:cs typeface="DM Sans"/>
                <a:sym typeface="DM Sans"/>
              </a:rPr>
              <a:t> </a:t>
            </a:r>
            <a:r>
              <a:rPr lang="en-US" sz="2400" dirty="0" err="1">
                <a:solidFill>
                  <a:schemeClr val="dk1"/>
                </a:solidFill>
                <a:latin typeface="DM Sans"/>
                <a:ea typeface="DM Sans"/>
                <a:cs typeface="DM Sans"/>
                <a:sym typeface="DM Sans"/>
              </a:rPr>
              <a:t>metodos</a:t>
            </a:r>
            <a:r>
              <a:rPr lang="en-US" sz="2400" dirty="0">
                <a:solidFill>
                  <a:schemeClr val="dk1"/>
                </a:solidFill>
                <a:latin typeface="DM Sans"/>
                <a:ea typeface="DM Sans"/>
                <a:cs typeface="DM Sans"/>
                <a:sym typeface="DM Sans"/>
              </a:rPr>
              <a:t> de </a:t>
            </a:r>
            <a:r>
              <a:rPr lang="en-US" sz="2400" dirty="0" err="1">
                <a:solidFill>
                  <a:schemeClr val="dk1"/>
                </a:solidFill>
                <a:latin typeface="DM Sans"/>
                <a:ea typeface="DM Sans"/>
                <a:cs typeface="DM Sans"/>
                <a:sym typeface="DM Sans"/>
              </a:rPr>
              <a:t>aprendizaje</a:t>
            </a:r>
            <a:r>
              <a:rPr lang="en-US" sz="2400" dirty="0">
                <a:solidFill>
                  <a:schemeClr val="dk1"/>
                </a:solidFill>
                <a:latin typeface="DM Sans"/>
                <a:ea typeface="DM Sans"/>
                <a:cs typeface="DM Sans"/>
                <a:sym typeface="DM Sans"/>
              </a:rPr>
              <a:t> </a:t>
            </a:r>
            <a:r>
              <a:rPr lang="en-US" sz="2400" dirty="0" err="1">
                <a:solidFill>
                  <a:schemeClr val="dk1"/>
                </a:solidFill>
                <a:latin typeface="DM Sans"/>
                <a:ea typeface="DM Sans"/>
                <a:cs typeface="DM Sans"/>
                <a:sym typeface="DM Sans"/>
              </a:rPr>
              <a:t>los</a:t>
            </a:r>
            <a:r>
              <a:rPr lang="en-US" sz="2400" dirty="0">
                <a:solidFill>
                  <a:schemeClr val="dk1"/>
                </a:solidFill>
                <a:latin typeface="DM Sans"/>
                <a:ea typeface="DM Sans"/>
                <a:cs typeface="DM Sans"/>
                <a:sym typeface="DM Sans"/>
              </a:rPr>
              <a:t> </a:t>
            </a:r>
            <a:r>
              <a:rPr lang="en-US" sz="2400" dirty="0" err="1">
                <a:solidFill>
                  <a:schemeClr val="dk1"/>
                </a:solidFill>
                <a:latin typeface="DM Sans"/>
                <a:ea typeface="DM Sans"/>
                <a:cs typeface="DM Sans"/>
                <a:sym typeface="DM Sans"/>
              </a:rPr>
              <a:t>siguientes</a:t>
            </a:r>
            <a:r>
              <a:rPr lang="en-US" sz="2400" dirty="0">
                <a:solidFill>
                  <a:schemeClr val="dk1"/>
                </a:solidFill>
                <a:latin typeface="DM Sans"/>
                <a:ea typeface="DM Sans"/>
                <a:cs typeface="DM Sans"/>
                <a:sym typeface="DM Sans"/>
              </a:rPr>
              <a:t>:</a:t>
            </a:r>
          </a:p>
          <a:p>
            <a:pPr marL="457200" marR="0" lvl="0" indent="-314325" algn="l" rtl="0">
              <a:lnSpc>
                <a:spcPct val="100000"/>
              </a:lnSpc>
              <a:spcBef>
                <a:spcPts val="0"/>
              </a:spcBef>
              <a:spcAft>
                <a:spcPts val="0"/>
              </a:spcAft>
              <a:buClr>
                <a:schemeClr val="dk1"/>
              </a:buClr>
              <a:buSzPts val="1350"/>
              <a:buFont typeface="DM Sans"/>
              <a:buAutoNum type="arabicPeriod"/>
            </a:pPr>
            <a:endParaRPr lang="en-US" sz="2400" b="0" i="0" u="none" strike="noStrike" cap="none" dirty="0">
              <a:solidFill>
                <a:schemeClr val="dk1"/>
              </a:solidFill>
              <a:latin typeface="DM Sans"/>
              <a:ea typeface="DM Sans"/>
              <a:cs typeface="DM Sans"/>
              <a:sym typeface="DM Sans"/>
            </a:endParaRPr>
          </a:p>
          <a:p>
            <a:pPr marL="457200" marR="0" lvl="0" indent="-314325" algn="l" rtl="0">
              <a:lnSpc>
                <a:spcPct val="100000"/>
              </a:lnSpc>
              <a:spcBef>
                <a:spcPts val="0"/>
              </a:spcBef>
              <a:spcAft>
                <a:spcPts val="0"/>
              </a:spcAft>
              <a:buClr>
                <a:schemeClr val="dk1"/>
              </a:buClr>
              <a:buSzPts val="1350"/>
              <a:buFont typeface="DM Sans"/>
              <a:buAutoNum type="arabicPeriod"/>
            </a:pPr>
            <a:r>
              <a:rPr lang="en-US" sz="2400" b="0" i="0" u="none" strike="noStrike" cap="none" dirty="0" err="1">
                <a:solidFill>
                  <a:schemeClr val="dk1"/>
                </a:solidFill>
                <a:latin typeface="DM Sans"/>
                <a:ea typeface="DM Sans"/>
                <a:cs typeface="DM Sans"/>
                <a:sym typeface="DM Sans"/>
              </a:rPr>
              <a:t>Aprendizaje</a:t>
            </a:r>
            <a:r>
              <a:rPr lang="en-US" sz="2400" b="0" i="0" u="none" strike="noStrike" cap="none" dirty="0">
                <a:solidFill>
                  <a:schemeClr val="dk1"/>
                </a:solidFill>
                <a:latin typeface="DM Sans"/>
                <a:ea typeface="DM Sans"/>
                <a:cs typeface="DM Sans"/>
                <a:sym typeface="DM Sans"/>
              </a:rPr>
              <a:t> </a:t>
            </a:r>
            <a:r>
              <a:rPr lang="en-US" sz="2400" b="1" i="0" u="none" strike="noStrike" cap="none" dirty="0" err="1">
                <a:solidFill>
                  <a:schemeClr val="dk1"/>
                </a:solidFill>
                <a:latin typeface="DM Sans"/>
                <a:ea typeface="DM Sans"/>
                <a:cs typeface="DM Sans"/>
                <a:sym typeface="DM Sans"/>
              </a:rPr>
              <a:t>Supervisado</a:t>
            </a:r>
            <a:endParaRPr lang="en-US" sz="2400" b="1" i="0" u="none" strike="noStrike" cap="none" dirty="0">
              <a:solidFill>
                <a:schemeClr val="dk1"/>
              </a:solidFill>
              <a:latin typeface="DM Sans"/>
              <a:ea typeface="DM Sans"/>
              <a:cs typeface="DM Sans"/>
              <a:sym typeface="DM Sans"/>
            </a:endParaRPr>
          </a:p>
          <a:p>
            <a:pPr marL="457200" marR="0" lvl="0" indent="-314325" algn="l" rtl="0">
              <a:lnSpc>
                <a:spcPct val="100000"/>
              </a:lnSpc>
              <a:spcBef>
                <a:spcPts val="0"/>
              </a:spcBef>
              <a:spcAft>
                <a:spcPts val="0"/>
              </a:spcAft>
              <a:buClr>
                <a:schemeClr val="dk1"/>
              </a:buClr>
              <a:buSzPts val="1350"/>
              <a:buFont typeface="DM Sans"/>
              <a:buAutoNum type="arabicPeriod"/>
            </a:pPr>
            <a:r>
              <a:rPr lang="en-US" sz="2400" b="0" i="0" u="none" strike="noStrike" cap="none" dirty="0" err="1">
                <a:solidFill>
                  <a:schemeClr val="dk1"/>
                </a:solidFill>
                <a:latin typeface="DM Sans"/>
                <a:ea typeface="DM Sans"/>
                <a:cs typeface="DM Sans"/>
                <a:sym typeface="DM Sans"/>
              </a:rPr>
              <a:t>Aprendizaje</a:t>
            </a:r>
            <a:r>
              <a:rPr lang="en-US" sz="2400" b="0" i="0" u="none" strike="noStrike" cap="none" dirty="0">
                <a:solidFill>
                  <a:schemeClr val="dk1"/>
                </a:solidFill>
                <a:latin typeface="DM Sans"/>
                <a:ea typeface="DM Sans"/>
                <a:cs typeface="DM Sans"/>
                <a:sym typeface="DM Sans"/>
              </a:rPr>
              <a:t> </a:t>
            </a:r>
            <a:r>
              <a:rPr lang="en-US" sz="2400" b="1" i="0" u="none" strike="noStrike" cap="none" dirty="0">
                <a:solidFill>
                  <a:schemeClr val="dk1"/>
                </a:solidFill>
                <a:latin typeface="DM Sans"/>
                <a:ea typeface="DM Sans"/>
                <a:cs typeface="DM Sans"/>
                <a:sym typeface="DM Sans"/>
              </a:rPr>
              <a:t>No </a:t>
            </a:r>
            <a:r>
              <a:rPr lang="en-US" sz="2400" b="1" i="0" u="none" strike="noStrike" cap="none" dirty="0" err="1">
                <a:solidFill>
                  <a:schemeClr val="dk1"/>
                </a:solidFill>
                <a:latin typeface="DM Sans"/>
                <a:ea typeface="DM Sans"/>
                <a:cs typeface="DM Sans"/>
                <a:sym typeface="DM Sans"/>
              </a:rPr>
              <a:t>supervisado</a:t>
            </a:r>
            <a:endParaRPr lang="en-US" sz="2400" b="1" i="0" u="none" strike="noStrike" cap="none" dirty="0">
              <a:solidFill>
                <a:schemeClr val="dk1"/>
              </a:solidFill>
              <a:latin typeface="DM Sans"/>
              <a:ea typeface="DM Sans"/>
              <a:cs typeface="DM Sans"/>
              <a:sym typeface="DM Sans"/>
            </a:endParaRPr>
          </a:p>
          <a:p>
            <a:pPr marL="457200" marR="0" lvl="0" indent="-314325" algn="l" rtl="0">
              <a:lnSpc>
                <a:spcPct val="100000"/>
              </a:lnSpc>
              <a:spcBef>
                <a:spcPts val="0"/>
              </a:spcBef>
              <a:spcAft>
                <a:spcPts val="0"/>
              </a:spcAft>
              <a:buClr>
                <a:schemeClr val="dk1"/>
              </a:buClr>
              <a:buSzPts val="1350"/>
              <a:buFont typeface="DM Sans"/>
              <a:buAutoNum type="arabicPeriod"/>
            </a:pPr>
            <a:r>
              <a:rPr lang="en-US" sz="2400" b="0" i="0" u="none" strike="noStrike" cap="none" dirty="0" err="1">
                <a:solidFill>
                  <a:schemeClr val="dk1"/>
                </a:solidFill>
                <a:latin typeface="DM Sans"/>
                <a:ea typeface="DM Sans"/>
                <a:cs typeface="DM Sans"/>
                <a:sym typeface="DM Sans"/>
              </a:rPr>
              <a:t>Aprendizaje</a:t>
            </a:r>
            <a:r>
              <a:rPr lang="en-US" sz="2400" b="0" i="0" u="none" strike="noStrike" cap="none" dirty="0">
                <a:solidFill>
                  <a:schemeClr val="dk1"/>
                </a:solidFill>
                <a:latin typeface="DM Sans"/>
                <a:ea typeface="DM Sans"/>
                <a:cs typeface="DM Sans"/>
                <a:sym typeface="DM Sans"/>
              </a:rPr>
              <a:t> </a:t>
            </a:r>
            <a:r>
              <a:rPr lang="en-US" sz="2400" b="1" i="0" u="none" strike="noStrike" cap="none" dirty="0" err="1">
                <a:solidFill>
                  <a:schemeClr val="dk1"/>
                </a:solidFill>
                <a:latin typeface="DM Sans"/>
                <a:ea typeface="DM Sans"/>
                <a:cs typeface="DM Sans"/>
                <a:sym typeface="DM Sans"/>
              </a:rPr>
              <a:t>por</a:t>
            </a:r>
            <a:r>
              <a:rPr lang="en-US" sz="2400" b="1" i="0" u="none" strike="noStrike" cap="none" dirty="0">
                <a:solidFill>
                  <a:schemeClr val="dk1"/>
                </a:solidFill>
                <a:latin typeface="DM Sans"/>
                <a:ea typeface="DM Sans"/>
                <a:cs typeface="DM Sans"/>
                <a:sym typeface="DM Sans"/>
              </a:rPr>
              <a:t> </a:t>
            </a:r>
            <a:r>
              <a:rPr lang="en-US" sz="2400" b="1" i="0" u="none" strike="noStrike" cap="none" dirty="0" err="1">
                <a:solidFill>
                  <a:schemeClr val="dk1"/>
                </a:solidFill>
                <a:latin typeface="DM Sans"/>
                <a:ea typeface="DM Sans"/>
                <a:cs typeface="DM Sans"/>
                <a:sym typeface="DM Sans"/>
              </a:rPr>
              <a:t>refuerzo</a:t>
            </a:r>
            <a:endParaRPr lang="en-US" sz="2400" b="1" i="0" u="none" strike="noStrike" cap="none" dirty="0">
              <a:solidFill>
                <a:schemeClr val="dk1"/>
              </a:solidFill>
              <a:latin typeface="DM Sans"/>
              <a:ea typeface="DM Sans"/>
              <a:cs typeface="DM Sans"/>
              <a:sym typeface="DM Sans"/>
            </a:endParaRPr>
          </a:p>
          <a:p>
            <a:endParaRPr lang="en-US" sz="2400" dirty="0"/>
          </a:p>
        </p:txBody>
      </p:sp>
      <p:pic>
        <p:nvPicPr>
          <p:cNvPr id="5" name="Google Shape;296;p59">
            <a:extLst>
              <a:ext uri="{FF2B5EF4-FFF2-40B4-BE49-F238E27FC236}">
                <a16:creationId xmlns:a16="http://schemas.microsoft.com/office/drawing/2014/main" id="{6D412579-9D95-CBEF-D46C-E5B8B60406BF}"/>
              </a:ext>
            </a:extLst>
          </p:cNvPr>
          <p:cNvPicPr preferRelativeResize="0">
            <a:picLocks noGrp="1"/>
          </p:cNvPicPr>
          <p:nvPr>
            <p:ph sz="half" idx="1"/>
          </p:nvPr>
        </p:nvPicPr>
        <p:blipFill rotWithShape="1">
          <a:blip r:embed="rId2">
            <a:alphaModFix/>
          </a:blip>
          <a:srcRect/>
          <a:stretch/>
        </p:blipFill>
        <p:spPr>
          <a:xfrm>
            <a:off x="771088" y="1930102"/>
            <a:ext cx="6214844" cy="4142383"/>
          </a:xfrm>
          <a:prstGeom prst="rect">
            <a:avLst/>
          </a:prstGeom>
          <a:noFill/>
          <a:ln w="9525" cap="flat" cmpd="sng">
            <a:solidFill>
              <a:schemeClr val="lt2"/>
            </a:solidFill>
            <a:prstDash val="solid"/>
            <a:round/>
            <a:headEnd type="none" w="sm" len="sm"/>
            <a:tailEnd type="none" w="sm" len="sm"/>
          </a:ln>
        </p:spPr>
      </p:pic>
      <p:sp>
        <p:nvSpPr>
          <p:cNvPr id="7" name="Título 1">
            <a:extLst>
              <a:ext uri="{FF2B5EF4-FFF2-40B4-BE49-F238E27FC236}">
                <a16:creationId xmlns:a16="http://schemas.microsoft.com/office/drawing/2014/main" id="{BDFB63A5-63A5-08C5-60D4-4B427D2CCC20}"/>
              </a:ext>
            </a:extLst>
          </p:cNvPr>
          <p:cNvSpPr txBox="1">
            <a:spLocks/>
          </p:cNvSpPr>
          <p:nvPr/>
        </p:nvSpPr>
        <p:spPr>
          <a:xfrm>
            <a:off x="838200" y="681037"/>
            <a:ext cx="10515600" cy="915614"/>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sz="5400" dirty="0">
                <a:solidFill>
                  <a:schemeClr val="accent1"/>
                </a:solidFill>
              </a:rPr>
              <a:t>Aprendizaje </a:t>
            </a:r>
            <a:r>
              <a:rPr lang="es-419" sz="5400" dirty="0"/>
              <a:t>automático</a:t>
            </a:r>
            <a:endParaRPr lang="es-ES" sz="5400" dirty="0">
              <a:solidFill>
                <a:schemeClr val="accent1"/>
              </a:solidFill>
            </a:endParaRPr>
          </a:p>
        </p:txBody>
      </p:sp>
    </p:spTree>
    <p:extLst>
      <p:ext uri="{BB962C8B-B14F-4D97-AF65-F5344CB8AC3E}">
        <p14:creationId xmlns:p14="http://schemas.microsoft.com/office/powerpoint/2010/main" val="517065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FBFFE3-F0EE-AD46-8986-7244C4C909FD}"/>
              </a:ext>
            </a:extLst>
          </p:cNvPr>
          <p:cNvSpPr>
            <a:spLocks noGrp="1"/>
          </p:cNvSpPr>
          <p:nvPr>
            <p:ph type="title"/>
          </p:nvPr>
        </p:nvSpPr>
        <p:spPr>
          <a:xfrm>
            <a:off x="838200" y="318826"/>
            <a:ext cx="10515600" cy="1325563"/>
          </a:xfrm>
        </p:spPr>
        <p:txBody>
          <a:bodyPr>
            <a:noAutofit/>
          </a:bodyPr>
          <a:lstStyle/>
          <a:p>
            <a:pPr algn="ctr"/>
            <a:r>
              <a:rPr lang="es-ES" sz="5400" b="1" dirty="0">
                <a:solidFill>
                  <a:schemeClr val="accent1"/>
                </a:solidFill>
              </a:rPr>
              <a:t>Aprendizaje supervisado</a:t>
            </a:r>
          </a:p>
        </p:txBody>
      </p:sp>
      <p:sp>
        <p:nvSpPr>
          <p:cNvPr id="3" name="Marcador de texto 3">
            <a:extLst>
              <a:ext uri="{FF2B5EF4-FFF2-40B4-BE49-F238E27FC236}">
                <a16:creationId xmlns:a16="http://schemas.microsoft.com/office/drawing/2014/main" id="{5E5B7B94-1441-DD81-CE82-6F3C14D2C221}"/>
              </a:ext>
            </a:extLst>
          </p:cNvPr>
          <p:cNvSpPr txBox="1">
            <a:spLocks/>
          </p:cNvSpPr>
          <p:nvPr/>
        </p:nvSpPr>
        <p:spPr>
          <a:xfrm>
            <a:off x="839788" y="2072081"/>
            <a:ext cx="10913188" cy="43287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chemeClr val="bg2">
                  <a:lumMod val="50000"/>
                </a:schemeClr>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bg2">
                  <a:lumMod val="50000"/>
                </a:schemeClr>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bg2">
                  <a:lumMod val="50000"/>
                </a:schemeClr>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bg2">
                  <a:lumMod val="50000"/>
                </a:schemeClr>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bg2">
                  <a:lumMod val="50000"/>
                </a:schemeClr>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s-CO" sz="2400" dirty="0"/>
          </a:p>
        </p:txBody>
      </p:sp>
      <p:sp>
        <p:nvSpPr>
          <p:cNvPr id="6" name="CuadroTexto 5">
            <a:extLst>
              <a:ext uri="{FF2B5EF4-FFF2-40B4-BE49-F238E27FC236}">
                <a16:creationId xmlns:a16="http://schemas.microsoft.com/office/drawing/2014/main" id="{A49D955F-1A3C-AB8A-D437-75039A4EEDD0}"/>
              </a:ext>
            </a:extLst>
          </p:cNvPr>
          <p:cNvSpPr txBox="1"/>
          <p:nvPr/>
        </p:nvSpPr>
        <p:spPr>
          <a:xfrm>
            <a:off x="839787" y="2072081"/>
            <a:ext cx="4978083" cy="3816429"/>
          </a:xfrm>
          <a:prstGeom prst="rect">
            <a:avLst/>
          </a:prstGeom>
          <a:noFill/>
        </p:spPr>
        <p:txBody>
          <a:bodyPr wrap="square">
            <a:spAutoFit/>
          </a:bodyPr>
          <a:lstStyle/>
          <a:p>
            <a:r>
              <a:rPr lang="es-ES" sz="2200" dirty="0"/>
              <a:t>Es una subcategoría del aprendizaje automático y la IA. </a:t>
            </a:r>
          </a:p>
          <a:p>
            <a:r>
              <a:rPr lang="es-ES" sz="2200" dirty="0"/>
              <a:t>Se define por el </a:t>
            </a:r>
            <a:r>
              <a:rPr lang="es-ES" sz="2200" b="1" dirty="0"/>
              <a:t>uso de conjuntos de datos etiquetados</a:t>
            </a:r>
            <a:r>
              <a:rPr lang="es-ES" sz="2200" dirty="0"/>
              <a:t> para entrenar algoritmos que clasifiquen datos o predigan resultados con precisión. </a:t>
            </a:r>
          </a:p>
          <a:p>
            <a:r>
              <a:rPr lang="es-ES" sz="2200" dirty="0"/>
              <a:t>El aprendizaje supervisado ayuda a las organizaciones a resolver una variedad de problemas del mundo real a gran escala, por ejemplo clasificar el correo no deseado o detectar fraude.</a:t>
            </a:r>
          </a:p>
        </p:txBody>
      </p:sp>
      <p:pic>
        <p:nvPicPr>
          <p:cNvPr id="4" name="Google Shape;201;p45">
            <a:extLst>
              <a:ext uri="{FF2B5EF4-FFF2-40B4-BE49-F238E27FC236}">
                <a16:creationId xmlns:a16="http://schemas.microsoft.com/office/drawing/2014/main" id="{AC5D4AC6-DFAF-34B5-F42F-DCACE9C09720}"/>
              </a:ext>
            </a:extLst>
          </p:cNvPr>
          <p:cNvPicPr preferRelativeResize="0"/>
          <p:nvPr/>
        </p:nvPicPr>
        <p:blipFill>
          <a:blip r:embed="rId2">
            <a:alphaModFix/>
          </a:blip>
          <a:stretch>
            <a:fillRect/>
          </a:stretch>
        </p:blipFill>
        <p:spPr>
          <a:xfrm>
            <a:off x="5817870" y="2072081"/>
            <a:ext cx="5534342" cy="3878553"/>
          </a:xfrm>
          <a:prstGeom prst="rect">
            <a:avLst/>
          </a:prstGeom>
          <a:noFill/>
          <a:ln>
            <a:noFill/>
          </a:ln>
        </p:spPr>
      </p:pic>
    </p:spTree>
    <p:extLst>
      <p:ext uri="{BB962C8B-B14F-4D97-AF65-F5344CB8AC3E}">
        <p14:creationId xmlns:p14="http://schemas.microsoft.com/office/powerpoint/2010/main" val="2658405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234;p50">
            <a:extLst>
              <a:ext uri="{FF2B5EF4-FFF2-40B4-BE49-F238E27FC236}">
                <a16:creationId xmlns:a16="http://schemas.microsoft.com/office/drawing/2014/main" id="{1077C743-7D85-8083-44A3-BE4118BB7403}"/>
              </a:ext>
            </a:extLst>
          </p:cNvPr>
          <p:cNvSpPr txBox="1"/>
          <p:nvPr/>
        </p:nvSpPr>
        <p:spPr>
          <a:xfrm>
            <a:off x="1304818" y="2944620"/>
            <a:ext cx="4972667" cy="3490146"/>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s" sz="2400" b="1" dirty="0">
                <a:solidFill>
                  <a:schemeClr val="lt1"/>
                </a:solidFill>
                <a:highlight>
                  <a:srgbClr val="EF89D2"/>
                </a:highlight>
                <a:latin typeface="DM Sans"/>
                <a:ea typeface="DM Sans"/>
                <a:cs typeface="DM Sans"/>
                <a:sym typeface="DM Sans"/>
              </a:rPr>
              <a:t>Problemas de Clasificación: </a:t>
            </a:r>
            <a:endParaRPr sz="2400" b="1" dirty="0">
              <a:solidFill>
                <a:schemeClr val="lt1"/>
              </a:solidFill>
              <a:highlight>
                <a:srgbClr val="EF89D2"/>
              </a:highlight>
              <a:latin typeface="DM Sans"/>
              <a:ea typeface="DM Sans"/>
              <a:cs typeface="DM Sans"/>
              <a:sym typeface="DM Sans"/>
            </a:endParaRPr>
          </a:p>
          <a:p>
            <a:pPr marL="0" marR="0" lvl="0" indent="0" algn="ctr" rtl="0">
              <a:lnSpc>
                <a:spcPct val="115000"/>
              </a:lnSpc>
              <a:spcBef>
                <a:spcPts val="0"/>
              </a:spcBef>
              <a:spcAft>
                <a:spcPts val="0"/>
              </a:spcAft>
              <a:buNone/>
            </a:pPr>
            <a:r>
              <a:rPr lang="es" sz="2400" dirty="0">
                <a:solidFill>
                  <a:schemeClr val="dk1"/>
                </a:solidFill>
                <a:latin typeface="DM Sans"/>
                <a:ea typeface="DM Sans"/>
                <a:cs typeface="DM Sans"/>
                <a:sym typeface="DM Sans"/>
              </a:rPr>
              <a:t>Necesitan predecir </a:t>
            </a:r>
            <a:r>
              <a:rPr lang="es" sz="2400" b="1" dirty="0">
                <a:solidFill>
                  <a:schemeClr val="dk1"/>
                </a:solidFill>
                <a:latin typeface="DM Sans"/>
                <a:ea typeface="DM Sans"/>
                <a:cs typeface="DM Sans"/>
                <a:sym typeface="DM Sans"/>
              </a:rPr>
              <a:t>la clase más probable de un elemento</a:t>
            </a:r>
            <a:r>
              <a:rPr lang="es" sz="2400" dirty="0">
                <a:solidFill>
                  <a:schemeClr val="dk1"/>
                </a:solidFill>
                <a:latin typeface="DM Sans"/>
                <a:ea typeface="DM Sans"/>
                <a:cs typeface="DM Sans"/>
                <a:sym typeface="DM Sans"/>
              </a:rPr>
              <a:t>, en función de un conjunto de variables de entrada. Para este tipo de algoritmos, la variable target o respuesta, </a:t>
            </a:r>
            <a:r>
              <a:rPr lang="es" sz="2400" b="1" dirty="0">
                <a:solidFill>
                  <a:schemeClr val="dk1"/>
                </a:solidFill>
                <a:latin typeface="DM Sans"/>
                <a:ea typeface="DM Sans"/>
                <a:cs typeface="DM Sans"/>
                <a:sym typeface="DM Sans"/>
              </a:rPr>
              <a:t>es una variable de tipo categórica</a:t>
            </a:r>
            <a:r>
              <a:rPr lang="es" sz="2400" dirty="0">
                <a:solidFill>
                  <a:schemeClr val="dk1"/>
                </a:solidFill>
                <a:latin typeface="DM Sans"/>
                <a:ea typeface="DM Sans"/>
                <a:cs typeface="DM Sans"/>
                <a:sym typeface="DM Sans"/>
              </a:rPr>
              <a:t>.</a:t>
            </a:r>
            <a:endParaRPr sz="2400" i="0" u="none" strike="noStrike" cap="none" dirty="0">
              <a:solidFill>
                <a:schemeClr val="dk1"/>
              </a:solidFill>
              <a:latin typeface="DM Sans"/>
              <a:ea typeface="DM Sans"/>
              <a:cs typeface="DM Sans"/>
              <a:sym typeface="DM Sans"/>
            </a:endParaRPr>
          </a:p>
        </p:txBody>
      </p:sp>
      <p:sp>
        <p:nvSpPr>
          <p:cNvPr id="6" name="Google Shape;235;p50">
            <a:extLst>
              <a:ext uri="{FF2B5EF4-FFF2-40B4-BE49-F238E27FC236}">
                <a16:creationId xmlns:a16="http://schemas.microsoft.com/office/drawing/2014/main" id="{18361087-D3BF-D9F3-F90E-CAEBF08DCECE}"/>
              </a:ext>
            </a:extLst>
          </p:cNvPr>
          <p:cNvSpPr txBox="1"/>
          <p:nvPr/>
        </p:nvSpPr>
        <p:spPr>
          <a:xfrm>
            <a:off x="1608636" y="257605"/>
            <a:ext cx="9121791" cy="141574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sz="4000" b="1" dirty="0">
                <a:latin typeface="DM Sans"/>
                <a:ea typeface="DM Sans"/>
                <a:cs typeface="DM Sans"/>
                <a:sym typeface="DM Sans"/>
              </a:rPr>
              <a:t>¿Qué tipos de problemas resuelve el Aprendizaje Supervisado?</a:t>
            </a:r>
            <a:endParaRPr sz="4000" b="1" dirty="0">
              <a:latin typeface="DM Sans"/>
              <a:ea typeface="DM Sans"/>
              <a:cs typeface="DM Sans"/>
              <a:sym typeface="DM Sans"/>
            </a:endParaRPr>
          </a:p>
        </p:txBody>
      </p:sp>
      <p:sp>
        <p:nvSpPr>
          <p:cNvPr id="7" name="Google Shape;236;p50">
            <a:extLst>
              <a:ext uri="{FF2B5EF4-FFF2-40B4-BE49-F238E27FC236}">
                <a16:creationId xmlns:a16="http://schemas.microsoft.com/office/drawing/2014/main" id="{6DE09386-E694-9693-8654-61A784AA8F64}"/>
              </a:ext>
            </a:extLst>
          </p:cNvPr>
          <p:cNvSpPr txBox="1"/>
          <p:nvPr/>
        </p:nvSpPr>
        <p:spPr>
          <a:xfrm>
            <a:off x="6653275" y="2944620"/>
            <a:ext cx="4972668" cy="2733026"/>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s" sz="2400" b="1" dirty="0">
                <a:solidFill>
                  <a:schemeClr val="lt1"/>
                </a:solidFill>
                <a:highlight>
                  <a:srgbClr val="EF89D2"/>
                </a:highlight>
                <a:latin typeface="DM Sans"/>
                <a:ea typeface="DM Sans"/>
                <a:cs typeface="DM Sans"/>
                <a:sym typeface="DM Sans"/>
              </a:rPr>
              <a:t>Problemas de Regresión: </a:t>
            </a:r>
            <a:endParaRPr sz="2400" b="1" dirty="0">
              <a:solidFill>
                <a:schemeClr val="lt1"/>
              </a:solidFill>
              <a:highlight>
                <a:srgbClr val="EF89D2"/>
              </a:highlight>
              <a:latin typeface="DM Sans"/>
              <a:ea typeface="DM Sans"/>
              <a:cs typeface="DM Sans"/>
              <a:sym typeface="DM Sans"/>
            </a:endParaRPr>
          </a:p>
          <a:p>
            <a:pPr marL="0" lvl="0" indent="0" algn="ctr" rtl="0">
              <a:lnSpc>
                <a:spcPct val="115000"/>
              </a:lnSpc>
              <a:spcBef>
                <a:spcPts val="0"/>
              </a:spcBef>
              <a:spcAft>
                <a:spcPts val="0"/>
              </a:spcAft>
              <a:buNone/>
            </a:pPr>
            <a:r>
              <a:rPr lang="es" sz="2400" dirty="0">
                <a:solidFill>
                  <a:schemeClr val="dk1"/>
                </a:solidFill>
                <a:latin typeface="DM Sans"/>
                <a:ea typeface="DM Sans"/>
                <a:cs typeface="DM Sans"/>
                <a:sym typeface="DM Sans"/>
              </a:rPr>
              <a:t>En vez de predecir categorías, </a:t>
            </a:r>
            <a:r>
              <a:rPr lang="es" sz="2400" b="1" dirty="0">
                <a:solidFill>
                  <a:schemeClr val="dk1"/>
                </a:solidFill>
                <a:latin typeface="DM Sans"/>
                <a:ea typeface="DM Sans"/>
                <a:cs typeface="DM Sans"/>
                <a:sym typeface="DM Sans"/>
              </a:rPr>
              <a:t>predicen valores numéricos</a:t>
            </a:r>
            <a:r>
              <a:rPr lang="es" sz="2400" dirty="0">
                <a:solidFill>
                  <a:schemeClr val="dk1"/>
                </a:solidFill>
                <a:latin typeface="DM Sans"/>
                <a:ea typeface="DM Sans"/>
                <a:cs typeface="DM Sans"/>
                <a:sym typeface="DM Sans"/>
              </a:rPr>
              <a:t>. Es decir, la variable target en un problema de regresión </a:t>
            </a:r>
            <a:r>
              <a:rPr lang="es" sz="2400" b="1" dirty="0">
                <a:solidFill>
                  <a:schemeClr val="dk1"/>
                </a:solidFill>
                <a:latin typeface="DM Sans"/>
                <a:ea typeface="DM Sans"/>
                <a:cs typeface="DM Sans"/>
                <a:sym typeface="DM Sans"/>
              </a:rPr>
              <a:t>es de tipo cuantitativa.</a:t>
            </a:r>
            <a:endParaRPr sz="2400" b="1" dirty="0">
              <a:latin typeface="DM Sans"/>
              <a:ea typeface="DM Sans"/>
              <a:cs typeface="DM Sans"/>
              <a:sym typeface="DM Sans"/>
            </a:endParaRPr>
          </a:p>
        </p:txBody>
      </p:sp>
      <p:cxnSp>
        <p:nvCxnSpPr>
          <p:cNvPr id="8" name="Google Shape;237;p50">
            <a:extLst>
              <a:ext uri="{FF2B5EF4-FFF2-40B4-BE49-F238E27FC236}">
                <a16:creationId xmlns:a16="http://schemas.microsoft.com/office/drawing/2014/main" id="{2E6C6359-C7D0-6B45-4882-2C17C4A8AECD}"/>
              </a:ext>
            </a:extLst>
          </p:cNvPr>
          <p:cNvCxnSpPr>
            <a:cxnSpLocks/>
            <a:stCxn id="6" idx="2"/>
            <a:endCxn id="5" idx="0"/>
          </p:cNvCxnSpPr>
          <p:nvPr/>
        </p:nvCxnSpPr>
        <p:spPr>
          <a:xfrm flipH="1">
            <a:off x="3791152" y="1673347"/>
            <a:ext cx="2378380" cy="1271273"/>
          </a:xfrm>
          <a:prstGeom prst="straightConnector1">
            <a:avLst/>
          </a:prstGeom>
          <a:noFill/>
          <a:ln w="38100" cap="flat" cmpd="sng">
            <a:solidFill>
              <a:srgbClr val="EF89D2"/>
            </a:solidFill>
            <a:prstDash val="solid"/>
            <a:round/>
            <a:headEnd type="none" w="med" len="med"/>
            <a:tailEnd type="stealth" w="med" len="med"/>
          </a:ln>
        </p:spPr>
      </p:cxnSp>
      <p:cxnSp>
        <p:nvCxnSpPr>
          <p:cNvPr id="9" name="Google Shape;238;p50">
            <a:extLst>
              <a:ext uri="{FF2B5EF4-FFF2-40B4-BE49-F238E27FC236}">
                <a16:creationId xmlns:a16="http://schemas.microsoft.com/office/drawing/2014/main" id="{A95C79A3-89E9-F9C7-34C1-7D9389C205E4}"/>
              </a:ext>
            </a:extLst>
          </p:cNvPr>
          <p:cNvCxnSpPr>
            <a:cxnSpLocks/>
            <a:stCxn id="6" idx="2"/>
            <a:endCxn id="7" idx="0"/>
          </p:cNvCxnSpPr>
          <p:nvPr/>
        </p:nvCxnSpPr>
        <p:spPr>
          <a:xfrm>
            <a:off x="6169532" y="1673347"/>
            <a:ext cx="2970077" cy="1271273"/>
          </a:xfrm>
          <a:prstGeom prst="straightConnector1">
            <a:avLst/>
          </a:prstGeom>
          <a:noFill/>
          <a:ln w="38100" cap="flat" cmpd="sng">
            <a:solidFill>
              <a:srgbClr val="EF89D2"/>
            </a:solidFill>
            <a:prstDash val="solid"/>
            <a:round/>
            <a:headEnd type="none" w="med" len="med"/>
            <a:tailEnd type="stealth" w="med" len="med"/>
          </a:ln>
        </p:spPr>
      </p:cxnSp>
    </p:spTree>
    <p:extLst>
      <p:ext uri="{BB962C8B-B14F-4D97-AF65-F5344CB8AC3E}">
        <p14:creationId xmlns:p14="http://schemas.microsoft.com/office/powerpoint/2010/main" val="320144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235;p50">
            <a:extLst>
              <a:ext uri="{FF2B5EF4-FFF2-40B4-BE49-F238E27FC236}">
                <a16:creationId xmlns:a16="http://schemas.microsoft.com/office/drawing/2014/main" id="{18361087-D3BF-D9F3-F90E-CAEBF08DCECE}"/>
              </a:ext>
            </a:extLst>
          </p:cNvPr>
          <p:cNvSpPr txBox="1"/>
          <p:nvPr/>
        </p:nvSpPr>
        <p:spPr>
          <a:xfrm>
            <a:off x="1608636" y="257605"/>
            <a:ext cx="9121791" cy="141574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sz="4000" b="1" dirty="0">
                <a:latin typeface="DM Sans"/>
                <a:ea typeface="DM Sans"/>
                <a:cs typeface="DM Sans"/>
                <a:sym typeface="DM Sans"/>
              </a:rPr>
              <a:t>¿Qué tipos de problemas resuelve el Aprendizaje Supervisado?</a:t>
            </a:r>
            <a:endParaRPr sz="4000" b="1" dirty="0">
              <a:latin typeface="DM Sans"/>
              <a:ea typeface="DM Sans"/>
              <a:cs typeface="DM Sans"/>
              <a:sym typeface="DM Sans"/>
            </a:endParaRPr>
          </a:p>
        </p:txBody>
      </p:sp>
      <p:sp>
        <p:nvSpPr>
          <p:cNvPr id="2" name="Google Shape;244;p51">
            <a:extLst>
              <a:ext uri="{FF2B5EF4-FFF2-40B4-BE49-F238E27FC236}">
                <a16:creationId xmlns:a16="http://schemas.microsoft.com/office/drawing/2014/main" id="{F8B1B920-DAC9-BC82-09FB-61B37CE86CA4}"/>
              </a:ext>
            </a:extLst>
          </p:cNvPr>
          <p:cNvSpPr txBox="1"/>
          <p:nvPr/>
        </p:nvSpPr>
        <p:spPr>
          <a:xfrm>
            <a:off x="812675" y="2639749"/>
            <a:ext cx="4959475" cy="35393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s" sz="2800" dirty="0">
                <a:solidFill>
                  <a:schemeClr val="dk1"/>
                </a:solidFill>
                <a:latin typeface="DM Sans"/>
                <a:ea typeface="DM Sans"/>
                <a:cs typeface="DM Sans"/>
                <a:sym typeface="DM Sans"/>
              </a:rPr>
              <a:t>Entonces, </a:t>
            </a:r>
            <a:r>
              <a:rPr lang="es" sz="2800" b="1" dirty="0">
                <a:solidFill>
                  <a:schemeClr val="dk1"/>
                </a:solidFill>
                <a:latin typeface="DM Sans"/>
                <a:ea typeface="DM Sans"/>
                <a:cs typeface="DM Sans"/>
                <a:sym typeface="DM Sans"/>
              </a:rPr>
              <a:t>¿cómo sé si tengo que utilizar un algoritmo de clasificación o de regresión?</a:t>
            </a:r>
            <a:r>
              <a:rPr lang="es" sz="2800" dirty="0">
                <a:solidFill>
                  <a:schemeClr val="dk1"/>
                </a:solidFill>
                <a:latin typeface="DM Sans"/>
                <a:ea typeface="DM Sans"/>
                <a:cs typeface="DM Sans"/>
                <a:sym typeface="DM Sans"/>
              </a:rPr>
              <a:t> Depende del tipo de problema que plantea mi variable a predecir</a:t>
            </a:r>
            <a:endParaRPr sz="2800" u="none" strike="noStrike" cap="none" dirty="0">
              <a:solidFill>
                <a:schemeClr val="dk1"/>
              </a:solidFill>
              <a:latin typeface="DM Sans"/>
              <a:ea typeface="DM Sans"/>
              <a:cs typeface="DM Sans"/>
              <a:sym typeface="DM Sans"/>
            </a:endParaRPr>
          </a:p>
          <a:p>
            <a:pPr marL="285750" marR="0" lvl="0" indent="-171450" algn="l" rtl="0">
              <a:lnSpc>
                <a:spcPct val="100000"/>
              </a:lnSpc>
              <a:spcBef>
                <a:spcPts val="0"/>
              </a:spcBef>
              <a:spcAft>
                <a:spcPts val="0"/>
              </a:spcAft>
              <a:buClr>
                <a:srgbClr val="000000"/>
              </a:buClr>
              <a:buSzPts val="1800"/>
              <a:buFont typeface="Arial"/>
              <a:buNone/>
            </a:pPr>
            <a:endParaRPr sz="2800" u="none" strike="noStrike" cap="none" dirty="0">
              <a:solidFill>
                <a:schemeClr val="dk1"/>
              </a:solidFill>
              <a:latin typeface="DM Sans"/>
              <a:ea typeface="DM Sans"/>
              <a:cs typeface="DM Sans"/>
              <a:sym typeface="DM Sans"/>
            </a:endParaRPr>
          </a:p>
        </p:txBody>
      </p:sp>
      <p:pic>
        <p:nvPicPr>
          <p:cNvPr id="3" name="Google Shape;245;p51">
            <a:extLst>
              <a:ext uri="{FF2B5EF4-FFF2-40B4-BE49-F238E27FC236}">
                <a16:creationId xmlns:a16="http://schemas.microsoft.com/office/drawing/2014/main" id="{AF89A425-08CA-3202-B2A8-C01CC0433AC4}"/>
              </a:ext>
            </a:extLst>
          </p:cNvPr>
          <p:cNvPicPr preferRelativeResize="0"/>
          <p:nvPr/>
        </p:nvPicPr>
        <p:blipFill rotWithShape="1">
          <a:blip r:embed="rId2">
            <a:alphaModFix/>
          </a:blip>
          <a:srcRect/>
          <a:stretch/>
        </p:blipFill>
        <p:spPr>
          <a:xfrm>
            <a:off x="6235339" y="2617016"/>
            <a:ext cx="5283325" cy="3053777"/>
          </a:xfrm>
          <a:prstGeom prst="rect">
            <a:avLst/>
          </a:prstGeom>
          <a:noFill/>
          <a:ln>
            <a:noFill/>
          </a:ln>
        </p:spPr>
      </p:pic>
    </p:spTree>
    <p:extLst>
      <p:ext uri="{BB962C8B-B14F-4D97-AF65-F5344CB8AC3E}">
        <p14:creationId xmlns:p14="http://schemas.microsoft.com/office/powerpoint/2010/main" val="2889316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F60ED4-AD09-601C-60BE-83E3D03E4FF5}"/>
              </a:ext>
            </a:extLst>
          </p:cNvPr>
          <p:cNvSpPr>
            <a:spLocks noGrp="1"/>
          </p:cNvSpPr>
          <p:nvPr>
            <p:ph type="title"/>
          </p:nvPr>
        </p:nvSpPr>
        <p:spPr/>
        <p:txBody>
          <a:bodyPr/>
          <a:lstStyle/>
          <a:p>
            <a:r>
              <a:rPr lang="en-US" dirty="0" err="1"/>
              <a:t>Aprendizaje</a:t>
            </a:r>
            <a:r>
              <a:rPr lang="en-US" dirty="0"/>
              <a:t> </a:t>
            </a:r>
            <a:r>
              <a:rPr lang="en-US" dirty="0" err="1"/>
              <a:t>Supervisado</a:t>
            </a:r>
            <a:endParaRPr lang="en-US" dirty="0"/>
          </a:p>
        </p:txBody>
      </p:sp>
      <p:sp>
        <p:nvSpPr>
          <p:cNvPr id="3" name="Marcador de contenido 2">
            <a:extLst>
              <a:ext uri="{FF2B5EF4-FFF2-40B4-BE49-F238E27FC236}">
                <a16:creationId xmlns:a16="http://schemas.microsoft.com/office/drawing/2014/main" id="{9D2DA899-5673-6D86-03BC-438B44946301}"/>
              </a:ext>
            </a:extLst>
          </p:cNvPr>
          <p:cNvSpPr>
            <a:spLocks noGrp="1"/>
          </p:cNvSpPr>
          <p:nvPr>
            <p:ph sz="half" idx="1"/>
          </p:nvPr>
        </p:nvSpPr>
        <p:spPr>
          <a:xfrm>
            <a:off x="838200" y="1825625"/>
            <a:ext cx="4579620" cy="4351338"/>
          </a:xfrm>
        </p:spPr>
        <p:txBody>
          <a:bodyPr>
            <a:normAutofit/>
          </a:bodyPr>
          <a:lstStyle/>
          <a:p>
            <a:pPr algn="ctr"/>
            <a:r>
              <a:rPr lang="es" sz="2800" b="1" dirty="0">
                <a:solidFill>
                  <a:srgbClr val="000000"/>
                </a:solidFill>
                <a:latin typeface="DM Sans"/>
                <a:ea typeface="DM Sans"/>
                <a:cs typeface="DM Sans"/>
                <a:sym typeface="DM Sans"/>
              </a:rPr>
              <a:t>R</a:t>
            </a:r>
            <a:r>
              <a:rPr lang="es" sz="2800" b="1" i="0" u="none" strike="noStrike" cap="none" dirty="0">
                <a:solidFill>
                  <a:srgbClr val="000000"/>
                </a:solidFill>
                <a:latin typeface="DM Sans"/>
                <a:ea typeface="DM Sans"/>
                <a:cs typeface="DM Sans"/>
                <a:sym typeface="DM Sans"/>
              </a:rPr>
              <a:t>egresión</a:t>
            </a:r>
          </a:p>
          <a:p>
            <a:pPr marL="0" indent="0" algn="ctr">
              <a:buNone/>
            </a:pPr>
            <a:r>
              <a:rPr lang="es" sz="2800" b="0" i="0" u="none" strike="noStrike" cap="none" dirty="0">
                <a:solidFill>
                  <a:schemeClr val="dk1"/>
                </a:solidFill>
                <a:latin typeface="DM Sans"/>
                <a:ea typeface="DM Sans"/>
                <a:cs typeface="DM Sans"/>
                <a:sym typeface="DM Sans"/>
              </a:rPr>
              <a:t>Procura predecir </a:t>
            </a:r>
            <a:r>
              <a:rPr lang="es" sz="2800" b="1" i="0" u="none" strike="noStrike" cap="none" dirty="0">
                <a:solidFill>
                  <a:schemeClr val="dk1"/>
                </a:solidFill>
                <a:latin typeface="DM Sans"/>
                <a:ea typeface="DM Sans"/>
                <a:cs typeface="DM Sans"/>
                <a:sym typeface="DM Sans"/>
              </a:rPr>
              <a:t>valores numéricos</a:t>
            </a:r>
            <a:r>
              <a:rPr lang="es" sz="2800" b="0" i="0" u="none" strike="noStrike" cap="none" dirty="0">
                <a:solidFill>
                  <a:schemeClr val="dk1"/>
                </a:solidFill>
                <a:latin typeface="DM Sans"/>
                <a:ea typeface="DM Sans"/>
                <a:cs typeface="DM Sans"/>
                <a:sym typeface="DM Sans"/>
              </a:rPr>
              <a:t>, en función de un conjunto de variables de entrada. </a:t>
            </a:r>
          </a:p>
          <a:p>
            <a:pPr marL="0" indent="0" algn="ctr">
              <a:buNone/>
            </a:pPr>
            <a:r>
              <a:rPr lang="es" sz="2800" b="0" i="0" u="none" strike="noStrike" cap="none" dirty="0">
                <a:solidFill>
                  <a:schemeClr val="dk1"/>
                </a:solidFill>
                <a:latin typeface="DM Sans"/>
                <a:ea typeface="DM Sans"/>
                <a:cs typeface="DM Sans"/>
                <a:sym typeface="DM Sans"/>
              </a:rPr>
              <a:t>La variable respuesta o que se intenta predecir </a:t>
            </a:r>
            <a:r>
              <a:rPr lang="es" sz="2800" b="1" i="0" u="none" strike="noStrike" cap="none" dirty="0">
                <a:solidFill>
                  <a:schemeClr val="dk1"/>
                </a:solidFill>
                <a:latin typeface="DM Sans"/>
                <a:ea typeface="DM Sans"/>
                <a:cs typeface="DM Sans"/>
                <a:sym typeface="DM Sans"/>
              </a:rPr>
              <a:t>es una variable de tipo cuantitativa</a:t>
            </a:r>
            <a:r>
              <a:rPr lang="es" sz="2800" b="0" i="0" u="none" strike="noStrike" cap="none" dirty="0">
                <a:solidFill>
                  <a:schemeClr val="dk1"/>
                </a:solidFill>
                <a:latin typeface="DM Sans"/>
                <a:ea typeface="DM Sans"/>
                <a:cs typeface="DM Sans"/>
                <a:sym typeface="DM Sans"/>
              </a:rPr>
              <a:t>.</a:t>
            </a:r>
            <a:endParaRPr lang="en-US" sz="2800" dirty="0"/>
          </a:p>
          <a:p>
            <a:pPr marL="0" indent="0" algn="ctr">
              <a:buNone/>
            </a:pPr>
            <a:endParaRPr lang="en-US" sz="2800" dirty="0"/>
          </a:p>
        </p:txBody>
      </p:sp>
      <p:sp>
        <p:nvSpPr>
          <p:cNvPr id="4" name="Marcador de contenido 3">
            <a:extLst>
              <a:ext uri="{FF2B5EF4-FFF2-40B4-BE49-F238E27FC236}">
                <a16:creationId xmlns:a16="http://schemas.microsoft.com/office/drawing/2014/main" id="{E8781D1D-32A7-EB02-6D98-BF4C6A93C87D}"/>
              </a:ext>
            </a:extLst>
          </p:cNvPr>
          <p:cNvSpPr>
            <a:spLocks noGrp="1"/>
          </p:cNvSpPr>
          <p:nvPr>
            <p:ph sz="half" idx="2"/>
          </p:nvPr>
        </p:nvSpPr>
        <p:spPr>
          <a:xfrm>
            <a:off x="6355080" y="1825625"/>
            <a:ext cx="4998720" cy="4351338"/>
          </a:xfrm>
        </p:spPr>
        <p:txBody>
          <a:bodyPr>
            <a:normAutofit/>
          </a:bodyPr>
          <a:lstStyle/>
          <a:p>
            <a:pPr algn="ctr"/>
            <a:r>
              <a:rPr lang="en-US" sz="2800" b="1" i="0" u="none" strike="noStrike" cap="none" dirty="0" err="1">
                <a:solidFill>
                  <a:srgbClr val="000000"/>
                </a:solidFill>
                <a:latin typeface="DM Sans"/>
                <a:ea typeface="DM Sans"/>
                <a:cs typeface="DM Sans"/>
                <a:sym typeface="DM Sans"/>
              </a:rPr>
              <a:t>Clasificación</a:t>
            </a:r>
            <a:endParaRPr lang="en-US" sz="2800" b="1" i="0" u="none" strike="noStrike" cap="none" dirty="0">
              <a:solidFill>
                <a:srgbClr val="000000"/>
              </a:solidFill>
              <a:latin typeface="DM Sans"/>
              <a:ea typeface="DM Sans"/>
              <a:cs typeface="DM Sans"/>
              <a:sym typeface="DM Sans"/>
            </a:endParaRPr>
          </a:p>
          <a:p>
            <a:pPr marL="0" indent="0" algn="ctr">
              <a:buNone/>
            </a:pPr>
            <a:r>
              <a:rPr lang="es" sz="2800" b="0" i="0" u="none" strike="noStrike" cap="none" dirty="0">
                <a:solidFill>
                  <a:schemeClr val="dk1"/>
                </a:solidFill>
                <a:latin typeface="DM Sans"/>
                <a:ea typeface="DM Sans"/>
                <a:cs typeface="DM Sans"/>
                <a:sym typeface="DM Sans"/>
              </a:rPr>
              <a:t>Procura predecir </a:t>
            </a:r>
            <a:r>
              <a:rPr lang="es" sz="2800" b="1" i="0" u="none" strike="noStrike" cap="none" dirty="0">
                <a:solidFill>
                  <a:schemeClr val="dk1"/>
                </a:solidFill>
                <a:latin typeface="DM Sans"/>
                <a:ea typeface="DM Sans"/>
                <a:cs typeface="DM Sans"/>
                <a:sym typeface="DM Sans"/>
              </a:rPr>
              <a:t>la clase más probable de un elemento</a:t>
            </a:r>
            <a:r>
              <a:rPr lang="es" sz="2800" b="0" i="0" u="none" strike="noStrike" cap="none" dirty="0">
                <a:solidFill>
                  <a:schemeClr val="dk1"/>
                </a:solidFill>
                <a:latin typeface="DM Sans"/>
                <a:ea typeface="DM Sans"/>
                <a:cs typeface="DM Sans"/>
                <a:sym typeface="DM Sans"/>
              </a:rPr>
              <a:t>, en función de un conjunto de variables de entrada. </a:t>
            </a:r>
          </a:p>
          <a:p>
            <a:pPr marL="0" indent="0" algn="ctr">
              <a:buNone/>
            </a:pPr>
            <a:r>
              <a:rPr lang="es" sz="2800" b="0" i="0" u="none" strike="noStrike" cap="none" dirty="0">
                <a:solidFill>
                  <a:schemeClr val="dk1"/>
                </a:solidFill>
                <a:latin typeface="DM Sans"/>
                <a:ea typeface="DM Sans"/>
                <a:cs typeface="DM Sans"/>
                <a:sym typeface="DM Sans"/>
              </a:rPr>
              <a:t>La variable respuesta o que se intenta predecir </a:t>
            </a:r>
            <a:r>
              <a:rPr lang="es" sz="2800" b="1" i="0" u="none" strike="noStrike" cap="none" dirty="0">
                <a:solidFill>
                  <a:schemeClr val="dk1"/>
                </a:solidFill>
                <a:latin typeface="DM Sans"/>
                <a:ea typeface="DM Sans"/>
                <a:cs typeface="DM Sans"/>
                <a:sym typeface="DM Sans"/>
              </a:rPr>
              <a:t>es una variable de tipo categórica</a:t>
            </a:r>
            <a:r>
              <a:rPr lang="es" sz="2800" b="0" i="0" u="none" strike="noStrike" cap="none" dirty="0">
                <a:solidFill>
                  <a:schemeClr val="dk1"/>
                </a:solidFill>
                <a:latin typeface="DM Sans"/>
                <a:ea typeface="DM Sans"/>
                <a:cs typeface="DM Sans"/>
                <a:sym typeface="DM Sans"/>
              </a:rPr>
              <a:t>.</a:t>
            </a:r>
            <a:endParaRPr lang="en-US" sz="2800" dirty="0"/>
          </a:p>
        </p:txBody>
      </p:sp>
      <p:sp>
        <p:nvSpPr>
          <p:cNvPr id="7" name="Google Shape;235;p50">
            <a:extLst>
              <a:ext uri="{FF2B5EF4-FFF2-40B4-BE49-F238E27FC236}">
                <a16:creationId xmlns:a16="http://schemas.microsoft.com/office/drawing/2014/main" id="{601687F0-A464-7F61-A59B-9A16C9ACF486}"/>
              </a:ext>
            </a:extLst>
          </p:cNvPr>
          <p:cNvSpPr txBox="1"/>
          <p:nvPr/>
        </p:nvSpPr>
        <p:spPr>
          <a:xfrm>
            <a:off x="1611304" y="874825"/>
            <a:ext cx="9121791" cy="80018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sz="4000" b="1" dirty="0">
                <a:latin typeface="DM Sans"/>
                <a:ea typeface="DM Sans"/>
                <a:cs typeface="DM Sans"/>
                <a:sym typeface="DM Sans"/>
              </a:rPr>
              <a:t>Aprendizaje Supervisado</a:t>
            </a:r>
            <a:endParaRPr sz="4000" b="1" dirty="0">
              <a:latin typeface="DM Sans"/>
              <a:ea typeface="DM Sans"/>
              <a:cs typeface="DM Sans"/>
              <a:sym typeface="DM Sans"/>
            </a:endParaRPr>
          </a:p>
        </p:txBody>
      </p:sp>
    </p:spTree>
    <p:extLst>
      <p:ext uri="{BB962C8B-B14F-4D97-AF65-F5344CB8AC3E}">
        <p14:creationId xmlns:p14="http://schemas.microsoft.com/office/powerpoint/2010/main" val="1805062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54681F-57A1-032A-CB6F-92B3E46E8C09}"/>
              </a:ext>
            </a:extLst>
          </p:cNvPr>
          <p:cNvSpPr>
            <a:spLocks noGrp="1"/>
          </p:cNvSpPr>
          <p:nvPr>
            <p:ph type="title"/>
          </p:nvPr>
        </p:nvSpPr>
        <p:spPr/>
        <p:txBody>
          <a:bodyPr/>
          <a:lstStyle/>
          <a:p>
            <a:pPr algn="ctr"/>
            <a:r>
              <a:rPr lang="en-US" dirty="0" err="1"/>
              <a:t>Regresión</a:t>
            </a:r>
            <a:endParaRPr lang="en-US" dirty="0"/>
          </a:p>
        </p:txBody>
      </p:sp>
      <p:pic>
        <p:nvPicPr>
          <p:cNvPr id="2050" name="Picture 2" descr="3,500 imágenes de Regresión - Imágenes, fotos y vectores de stock |  Shutterstock">
            <a:extLst>
              <a:ext uri="{FF2B5EF4-FFF2-40B4-BE49-F238E27FC236}">
                <a16:creationId xmlns:a16="http://schemas.microsoft.com/office/drawing/2014/main" id="{D11E008B-2064-DD86-8E0C-6D6773F320B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285"/>
          <a:stretch/>
        </p:blipFill>
        <p:spPr bwMode="auto">
          <a:xfrm>
            <a:off x="4262755" y="2186940"/>
            <a:ext cx="3666490" cy="3621364"/>
          </a:xfrm>
          <a:prstGeom prst="rect">
            <a:avLst/>
          </a:prstGeom>
          <a:noFill/>
          <a:extLst>
            <a:ext uri="{909E8E84-426E-40DD-AFC4-6F175D3DCCD1}">
              <a14:hiddenFill xmlns:a14="http://schemas.microsoft.com/office/drawing/2010/main">
                <a:solidFill>
                  <a:srgbClr val="FFFFFF"/>
                </a:solidFill>
              </a14:hiddenFill>
            </a:ext>
          </a:extLst>
        </p:spPr>
      </p:pic>
      <p:sp>
        <p:nvSpPr>
          <p:cNvPr id="3" name="Título 1">
            <a:extLst>
              <a:ext uri="{FF2B5EF4-FFF2-40B4-BE49-F238E27FC236}">
                <a16:creationId xmlns:a16="http://schemas.microsoft.com/office/drawing/2014/main" id="{1BCC89F3-B722-1356-82DE-6DC716182DEA}"/>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a:solidFill>
                  <a:schemeClr val="accent1"/>
                </a:solidFill>
              </a:rPr>
              <a:t>Análisis de regresión</a:t>
            </a:r>
            <a:endParaRPr lang="es-ES" dirty="0">
              <a:solidFill>
                <a:schemeClr val="accent1"/>
              </a:solidFill>
            </a:endParaRPr>
          </a:p>
        </p:txBody>
      </p:sp>
    </p:spTree>
    <p:extLst>
      <p:ext uri="{BB962C8B-B14F-4D97-AF65-F5344CB8AC3E}">
        <p14:creationId xmlns:p14="http://schemas.microsoft.com/office/powerpoint/2010/main" val="3557461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0EEF63-279B-3827-A698-6E76EF1AE580}"/>
              </a:ext>
            </a:extLst>
          </p:cNvPr>
          <p:cNvSpPr>
            <a:spLocks noGrp="1"/>
          </p:cNvSpPr>
          <p:nvPr>
            <p:ph type="title"/>
          </p:nvPr>
        </p:nvSpPr>
        <p:spPr/>
        <p:txBody>
          <a:bodyPr/>
          <a:lstStyle/>
          <a:p>
            <a:r>
              <a:rPr lang="en-US" dirty="0" err="1"/>
              <a:t>Análisis</a:t>
            </a:r>
            <a:r>
              <a:rPr lang="en-US" dirty="0"/>
              <a:t> de </a:t>
            </a:r>
            <a:r>
              <a:rPr lang="en-US" dirty="0" err="1"/>
              <a:t>regresión</a:t>
            </a:r>
            <a:endParaRPr lang="en-US" dirty="0"/>
          </a:p>
        </p:txBody>
      </p:sp>
      <p:sp>
        <p:nvSpPr>
          <p:cNvPr id="3" name="Marcador de contenido 2">
            <a:extLst>
              <a:ext uri="{FF2B5EF4-FFF2-40B4-BE49-F238E27FC236}">
                <a16:creationId xmlns:a16="http://schemas.microsoft.com/office/drawing/2014/main" id="{B95C60E4-646E-2ED5-B357-A8EEEAAA1301}"/>
              </a:ext>
            </a:extLst>
          </p:cNvPr>
          <p:cNvSpPr>
            <a:spLocks noGrp="1"/>
          </p:cNvSpPr>
          <p:nvPr>
            <p:ph sz="half" idx="1"/>
          </p:nvPr>
        </p:nvSpPr>
        <p:spPr>
          <a:xfrm>
            <a:off x="2321417" y="2105637"/>
            <a:ext cx="7099419" cy="4732410"/>
          </a:xfrm>
        </p:spPr>
        <p:txBody>
          <a:bodyPr>
            <a:normAutofit/>
          </a:bodyPr>
          <a:lstStyle/>
          <a:p>
            <a:r>
              <a:rPr lang="es-ES" sz="3200" dirty="0">
                <a:latin typeface="DM Sans"/>
                <a:ea typeface="DM Sans"/>
                <a:cs typeface="DM Sans"/>
                <a:sym typeface="DM Sans"/>
              </a:rPr>
              <a:t>¿Cuánto crees que vale esta casa?</a:t>
            </a:r>
          </a:p>
        </p:txBody>
      </p:sp>
      <p:pic>
        <p:nvPicPr>
          <p:cNvPr id="8" name="Google Shape;814;p113">
            <a:extLst>
              <a:ext uri="{FF2B5EF4-FFF2-40B4-BE49-F238E27FC236}">
                <a16:creationId xmlns:a16="http://schemas.microsoft.com/office/drawing/2014/main" id="{C95A9798-232A-7E5B-610B-96CF4DD549FC}"/>
              </a:ext>
            </a:extLst>
          </p:cNvPr>
          <p:cNvPicPr preferRelativeResize="0"/>
          <p:nvPr/>
        </p:nvPicPr>
        <p:blipFill rotWithShape="1">
          <a:blip r:embed="rId2">
            <a:alphaModFix/>
          </a:blip>
          <a:srcRect l="50233" t="3861" r="1696" b="56488"/>
          <a:stretch/>
        </p:blipFill>
        <p:spPr>
          <a:xfrm>
            <a:off x="4036160" y="3127407"/>
            <a:ext cx="2499211" cy="2061394"/>
          </a:xfrm>
          <a:prstGeom prst="rect">
            <a:avLst/>
          </a:prstGeom>
          <a:noFill/>
          <a:ln>
            <a:noFill/>
          </a:ln>
        </p:spPr>
      </p:pic>
      <p:sp>
        <p:nvSpPr>
          <p:cNvPr id="9" name="Google Shape;815;p113">
            <a:extLst>
              <a:ext uri="{FF2B5EF4-FFF2-40B4-BE49-F238E27FC236}">
                <a16:creationId xmlns:a16="http://schemas.microsoft.com/office/drawing/2014/main" id="{2C939663-CFA6-EFF2-BA5D-B885ACE6256F}"/>
              </a:ext>
            </a:extLst>
          </p:cNvPr>
          <p:cNvSpPr txBox="1"/>
          <p:nvPr/>
        </p:nvSpPr>
        <p:spPr>
          <a:xfrm>
            <a:off x="4912218" y="5189458"/>
            <a:ext cx="10263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s" sz="2000" b="1">
                <a:solidFill>
                  <a:srgbClr val="FF0000"/>
                </a:solidFill>
              </a:rPr>
              <a:t>❓</a:t>
            </a:r>
            <a:endParaRPr/>
          </a:p>
        </p:txBody>
      </p:sp>
      <p:pic>
        <p:nvPicPr>
          <p:cNvPr id="10" name="Google Shape;816;p113">
            <a:extLst>
              <a:ext uri="{FF2B5EF4-FFF2-40B4-BE49-F238E27FC236}">
                <a16:creationId xmlns:a16="http://schemas.microsoft.com/office/drawing/2014/main" id="{21499459-314E-009F-3D40-7CB6B4005B97}"/>
              </a:ext>
            </a:extLst>
          </p:cNvPr>
          <p:cNvPicPr preferRelativeResize="0"/>
          <p:nvPr/>
        </p:nvPicPr>
        <p:blipFill rotWithShape="1">
          <a:blip r:embed="rId2">
            <a:alphaModFix/>
          </a:blip>
          <a:srcRect l="34442" t="45964" r="2750" b="11578"/>
          <a:stretch/>
        </p:blipFill>
        <p:spPr>
          <a:xfrm>
            <a:off x="6912940" y="3041913"/>
            <a:ext cx="3049498" cy="2061394"/>
          </a:xfrm>
          <a:prstGeom prst="rect">
            <a:avLst/>
          </a:prstGeom>
          <a:noFill/>
          <a:ln>
            <a:noFill/>
          </a:ln>
        </p:spPr>
      </p:pic>
      <p:pic>
        <p:nvPicPr>
          <p:cNvPr id="11" name="Google Shape;817;p113">
            <a:extLst>
              <a:ext uri="{FF2B5EF4-FFF2-40B4-BE49-F238E27FC236}">
                <a16:creationId xmlns:a16="http://schemas.microsoft.com/office/drawing/2014/main" id="{59F56D1E-EBCC-FAA0-7373-7E9A97A8E118}"/>
              </a:ext>
            </a:extLst>
          </p:cNvPr>
          <p:cNvPicPr preferRelativeResize="0"/>
          <p:nvPr/>
        </p:nvPicPr>
        <p:blipFill rotWithShape="1">
          <a:blip r:embed="rId2">
            <a:alphaModFix/>
          </a:blip>
          <a:srcRect l="25321" t="17192" r="50351" b="57193"/>
          <a:stretch/>
        </p:blipFill>
        <p:spPr>
          <a:xfrm>
            <a:off x="1852633" y="3432190"/>
            <a:ext cx="1668371" cy="1756609"/>
          </a:xfrm>
          <a:prstGeom prst="rect">
            <a:avLst/>
          </a:prstGeom>
          <a:noFill/>
          <a:ln>
            <a:noFill/>
          </a:ln>
        </p:spPr>
      </p:pic>
      <p:sp>
        <p:nvSpPr>
          <p:cNvPr id="12" name="Google Shape;818;p113">
            <a:extLst>
              <a:ext uri="{FF2B5EF4-FFF2-40B4-BE49-F238E27FC236}">
                <a16:creationId xmlns:a16="http://schemas.microsoft.com/office/drawing/2014/main" id="{F9C908E8-C95F-98C4-A344-9B0959EC784E}"/>
              </a:ext>
            </a:extLst>
          </p:cNvPr>
          <p:cNvSpPr txBox="1"/>
          <p:nvPr/>
        </p:nvSpPr>
        <p:spPr>
          <a:xfrm>
            <a:off x="2121090" y="5119304"/>
            <a:ext cx="11817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 sz="2000" b="1" i="0" u="none" strike="noStrike" cap="none">
                <a:solidFill>
                  <a:schemeClr val="dk1"/>
                </a:solidFill>
                <a:latin typeface="Arial"/>
                <a:ea typeface="Arial"/>
                <a:cs typeface="Arial"/>
                <a:sym typeface="Arial"/>
              </a:rPr>
              <a:t>$ 70,000</a:t>
            </a:r>
            <a:endParaRPr/>
          </a:p>
        </p:txBody>
      </p:sp>
      <p:sp>
        <p:nvSpPr>
          <p:cNvPr id="13" name="Google Shape;819;p113">
            <a:extLst>
              <a:ext uri="{FF2B5EF4-FFF2-40B4-BE49-F238E27FC236}">
                <a16:creationId xmlns:a16="http://schemas.microsoft.com/office/drawing/2014/main" id="{4F12E57E-4019-7A04-025D-2F16F5D1867C}"/>
              </a:ext>
            </a:extLst>
          </p:cNvPr>
          <p:cNvSpPr txBox="1"/>
          <p:nvPr/>
        </p:nvSpPr>
        <p:spPr>
          <a:xfrm>
            <a:off x="7649432" y="5188800"/>
            <a:ext cx="13245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 sz="2000" b="1" i="0" u="none" strike="noStrike" cap="none">
                <a:solidFill>
                  <a:schemeClr val="dk1"/>
                </a:solidFill>
                <a:latin typeface="Arial"/>
                <a:ea typeface="Arial"/>
                <a:cs typeface="Arial"/>
                <a:sym typeface="Arial"/>
              </a:rPr>
              <a:t>$ 160,000</a:t>
            </a:r>
            <a:endParaRPr/>
          </a:p>
        </p:txBody>
      </p:sp>
      <p:sp>
        <p:nvSpPr>
          <p:cNvPr id="4" name="Título 1">
            <a:extLst>
              <a:ext uri="{FF2B5EF4-FFF2-40B4-BE49-F238E27FC236}">
                <a16:creationId xmlns:a16="http://schemas.microsoft.com/office/drawing/2014/main" id="{CD660EC6-6F5B-1AC1-8952-5B25686D9402}"/>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a:solidFill>
                  <a:schemeClr val="accent1"/>
                </a:solidFill>
              </a:rPr>
              <a:t>Análisis de regresión</a:t>
            </a:r>
            <a:endParaRPr lang="es-ES" dirty="0">
              <a:solidFill>
                <a:schemeClr val="accent1"/>
              </a:solidFill>
            </a:endParaRPr>
          </a:p>
        </p:txBody>
      </p:sp>
    </p:spTree>
    <p:extLst>
      <p:ext uri="{BB962C8B-B14F-4D97-AF65-F5344CB8AC3E}">
        <p14:creationId xmlns:p14="http://schemas.microsoft.com/office/powerpoint/2010/main" val="628591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369C3E-3E15-4857-0CA8-5602C2AF86D2}"/>
              </a:ext>
            </a:extLst>
          </p:cNvPr>
          <p:cNvSpPr>
            <a:spLocks noGrp="1"/>
          </p:cNvSpPr>
          <p:nvPr>
            <p:ph type="title"/>
          </p:nvPr>
        </p:nvSpPr>
        <p:spPr/>
        <p:txBody>
          <a:bodyPr/>
          <a:lstStyle/>
          <a:p>
            <a:r>
              <a:rPr lang="en-US" dirty="0" err="1"/>
              <a:t>Análisis</a:t>
            </a:r>
            <a:r>
              <a:rPr lang="en-US" dirty="0"/>
              <a:t> de </a:t>
            </a:r>
            <a:r>
              <a:rPr lang="en-US" dirty="0" err="1"/>
              <a:t>regresión</a:t>
            </a:r>
            <a:endParaRPr lang="en-US" dirty="0"/>
          </a:p>
        </p:txBody>
      </p:sp>
      <p:pic>
        <p:nvPicPr>
          <p:cNvPr id="5" name="Google Shape;826;p114">
            <a:extLst>
              <a:ext uri="{FF2B5EF4-FFF2-40B4-BE49-F238E27FC236}">
                <a16:creationId xmlns:a16="http://schemas.microsoft.com/office/drawing/2014/main" id="{CEB7811F-68FC-654D-CB9E-70C0474FE1E4}"/>
              </a:ext>
            </a:extLst>
          </p:cNvPr>
          <p:cNvPicPr preferRelativeResize="0">
            <a:picLocks noGrp="1"/>
          </p:cNvPicPr>
          <p:nvPr>
            <p:ph sz="half" idx="2"/>
          </p:nvPr>
        </p:nvPicPr>
        <p:blipFill rotWithShape="1">
          <a:blip r:embed="rId2">
            <a:alphaModFix/>
          </a:blip>
          <a:srcRect/>
          <a:stretch/>
        </p:blipFill>
        <p:spPr>
          <a:xfrm>
            <a:off x="995680" y="1879601"/>
            <a:ext cx="9768840" cy="4478150"/>
          </a:xfrm>
          <a:prstGeom prst="rect">
            <a:avLst/>
          </a:prstGeom>
          <a:noFill/>
          <a:ln>
            <a:noFill/>
          </a:ln>
        </p:spPr>
      </p:pic>
      <p:sp>
        <p:nvSpPr>
          <p:cNvPr id="8" name="CuadroTexto 7">
            <a:extLst>
              <a:ext uri="{FF2B5EF4-FFF2-40B4-BE49-F238E27FC236}">
                <a16:creationId xmlns:a16="http://schemas.microsoft.com/office/drawing/2014/main" id="{0A3D56CD-191E-C3C1-77D2-EA57CD76DD3D}"/>
              </a:ext>
            </a:extLst>
          </p:cNvPr>
          <p:cNvSpPr txBox="1"/>
          <p:nvPr/>
        </p:nvSpPr>
        <p:spPr>
          <a:xfrm>
            <a:off x="1823208" y="1806508"/>
            <a:ext cx="6096000" cy="369332"/>
          </a:xfrm>
          <a:prstGeom prst="rect">
            <a:avLst/>
          </a:prstGeom>
          <a:noFill/>
        </p:spPr>
        <p:txBody>
          <a:bodyPr wrap="square">
            <a:spAutoFit/>
          </a:bodyPr>
          <a:lstStyle/>
          <a:p>
            <a:pPr marL="0" marR="0" lvl="0" indent="0" algn="l" rtl="0">
              <a:lnSpc>
                <a:spcPct val="100000"/>
              </a:lnSpc>
              <a:spcBef>
                <a:spcPts val="0"/>
              </a:spcBef>
              <a:spcAft>
                <a:spcPts val="0"/>
              </a:spcAft>
              <a:buNone/>
            </a:pPr>
            <a:r>
              <a:rPr lang="es-ES" sz="1800" i="0" u="none" strike="noStrike" cap="none" dirty="0">
                <a:solidFill>
                  <a:schemeClr val="dk1"/>
                </a:solidFill>
                <a:latin typeface="DM Sans"/>
                <a:ea typeface="DM Sans"/>
                <a:cs typeface="DM Sans"/>
                <a:sym typeface="DM Sans"/>
              </a:rPr>
              <a:t>$</a:t>
            </a:r>
          </a:p>
        </p:txBody>
      </p:sp>
      <p:sp>
        <p:nvSpPr>
          <p:cNvPr id="9" name="CuadroTexto 8">
            <a:extLst>
              <a:ext uri="{FF2B5EF4-FFF2-40B4-BE49-F238E27FC236}">
                <a16:creationId xmlns:a16="http://schemas.microsoft.com/office/drawing/2014/main" id="{04BAF5F8-A791-F0CB-A4EF-836997DF4A6D}"/>
              </a:ext>
            </a:extLst>
          </p:cNvPr>
          <p:cNvSpPr txBox="1"/>
          <p:nvPr/>
        </p:nvSpPr>
        <p:spPr>
          <a:xfrm>
            <a:off x="10205208" y="5146724"/>
            <a:ext cx="6096000" cy="369332"/>
          </a:xfrm>
          <a:prstGeom prst="rect">
            <a:avLst/>
          </a:prstGeom>
          <a:noFill/>
        </p:spPr>
        <p:txBody>
          <a:bodyPr wrap="square">
            <a:spAutoFit/>
          </a:bodyPr>
          <a:lstStyle/>
          <a:p>
            <a:pPr marL="0" marR="0" lvl="0" indent="0" algn="l" rtl="0">
              <a:lnSpc>
                <a:spcPct val="100000"/>
              </a:lnSpc>
              <a:spcBef>
                <a:spcPts val="0"/>
              </a:spcBef>
              <a:spcAft>
                <a:spcPts val="0"/>
              </a:spcAft>
              <a:buNone/>
            </a:pPr>
            <a:r>
              <a:rPr lang="es-ES" dirty="0" err="1">
                <a:solidFill>
                  <a:schemeClr val="dk1"/>
                </a:solidFill>
                <a:latin typeface="DM Sans"/>
                <a:ea typeface="DM Sans"/>
                <a:cs typeface="DM Sans"/>
                <a:sym typeface="DM Sans"/>
              </a:rPr>
              <a:t>mts</a:t>
            </a:r>
            <a:endParaRPr lang="es-ES" sz="1800" i="0" u="none" strike="noStrike" cap="none" dirty="0">
              <a:solidFill>
                <a:schemeClr val="dk1"/>
              </a:solidFill>
              <a:latin typeface="DM Sans"/>
              <a:ea typeface="DM Sans"/>
              <a:cs typeface="DM Sans"/>
              <a:sym typeface="DM Sans"/>
            </a:endParaRPr>
          </a:p>
        </p:txBody>
      </p:sp>
      <p:sp>
        <p:nvSpPr>
          <p:cNvPr id="3" name="Título 1">
            <a:extLst>
              <a:ext uri="{FF2B5EF4-FFF2-40B4-BE49-F238E27FC236}">
                <a16:creationId xmlns:a16="http://schemas.microsoft.com/office/drawing/2014/main" id="{AB809195-E5CD-BE49-3A32-22E364FCDDEE}"/>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a:solidFill>
                  <a:schemeClr val="accent1"/>
                </a:solidFill>
              </a:rPr>
              <a:t>Análisis de regresión</a:t>
            </a:r>
            <a:endParaRPr lang="es-ES" dirty="0">
              <a:solidFill>
                <a:schemeClr val="accent1"/>
              </a:solidFill>
            </a:endParaRPr>
          </a:p>
        </p:txBody>
      </p:sp>
    </p:spTree>
    <p:extLst>
      <p:ext uri="{BB962C8B-B14F-4D97-AF65-F5344CB8AC3E}">
        <p14:creationId xmlns:p14="http://schemas.microsoft.com/office/powerpoint/2010/main" val="3310150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FBFFE3-F0EE-AD46-8986-7244C4C909FD}"/>
              </a:ext>
            </a:extLst>
          </p:cNvPr>
          <p:cNvSpPr>
            <a:spLocks noGrp="1"/>
          </p:cNvSpPr>
          <p:nvPr>
            <p:ph type="title"/>
          </p:nvPr>
        </p:nvSpPr>
        <p:spPr>
          <a:xfrm>
            <a:off x="838200" y="901756"/>
            <a:ext cx="10515600" cy="762897"/>
          </a:xfrm>
        </p:spPr>
        <p:txBody>
          <a:bodyPr>
            <a:noAutofit/>
          </a:bodyPr>
          <a:lstStyle/>
          <a:p>
            <a:pPr algn="ctr"/>
            <a:r>
              <a:rPr lang="es-ES" b="1" dirty="0">
                <a:solidFill>
                  <a:schemeClr val="accent1"/>
                </a:solidFill>
              </a:rPr>
              <a:t>Análisis de regresión</a:t>
            </a:r>
          </a:p>
        </p:txBody>
      </p:sp>
      <p:sp>
        <p:nvSpPr>
          <p:cNvPr id="4" name="CuadroTexto 3">
            <a:extLst>
              <a:ext uri="{FF2B5EF4-FFF2-40B4-BE49-F238E27FC236}">
                <a16:creationId xmlns:a16="http://schemas.microsoft.com/office/drawing/2014/main" id="{5781BBDB-53A9-8BD9-F702-D7E7F589FDAA}"/>
              </a:ext>
            </a:extLst>
          </p:cNvPr>
          <p:cNvSpPr txBox="1"/>
          <p:nvPr/>
        </p:nvSpPr>
        <p:spPr>
          <a:xfrm>
            <a:off x="1000108" y="2201271"/>
            <a:ext cx="4861560" cy="4154984"/>
          </a:xfrm>
          <a:prstGeom prst="rect">
            <a:avLst/>
          </a:prstGeom>
          <a:noFill/>
        </p:spPr>
        <p:txBody>
          <a:bodyPr wrap="square">
            <a:spAutoFit/>
          </a:bodyPr>
          <a:lstStyle/>
          <a:p>
            <a:r>
              <a:rPr lang="es" sz="2400" b="1" i="1" dirty="0">
                <a:solidFill>
                  <a:schemeClr val="dk1"/>
                </a:solidFill>
                <a:latin typeface="DM Sans"/>
                <a:ea typeface="DM Sans"/>
                <a:cs typeface="DM Sans"/>
                <a:sym typeface="DM Sans"/>
              </a:rPr>
              <a:t>P</a:t>
            </a:r>
            <a:r>
              <a:rPr lang="es" sz="2400" b="1" i="1" u="none" strike="noStrike" cap="none" dirty="0">
                <a:solidFill>
                  <a:schemeClr val="dk1"/>
                </a:solidFill>
                <a:latin typeface="DM Sans"/>
                <a:ea typeface="DM Sans"/>
                <a:cs typeface="DM Sans"/>
                <a:sym typeface="DM Sans"/>
              </a:rPr>
              <a:t>odría</a:t>
            </a:r>
            <a:r>
              <a:rPr lang="es" sz="2400" b="1" i="0" u="none" strike="noStrike" cap="none" dirty="0">
                <a:solidFill>
                  <a:schemeClr val="dk1"/>
                </a:solidFill>
                <a:latin typeface="DM Sans"/>
                <a:ea typeface="DM Sans"/>
                <a:cs typeface="DM Sans"/>
                <a:sym typeface="DM Sans"/>
              </a:rPr>
              <a:t> existir algún tipo de dependencia</a:t>
            </a:r>
            <a:r>
              <a:rPr lang="es" sz="2400" b="0" i="0" u="none" strike="noStrike" cap="none" dirty="0">
                <a:solidFill>
                  <a:schemeClr val="dk1"/>
                </a:solidFill>
                <a:latin typeface="DM Sans"/>
                <a:ea typeface="DM Sans"/>
                <a:cs typeface="DM Sans"/>
                <a:sym typeface="DM Sans"/>
              </a:rPr>
              <a:t> de una variable con respecto a la otra… necesitamos </a:t>
            </a:r>
            <a:r>
              <a:rPr lang="es" sz="2400" b="1" i="0" u="none" strike="noStrike" cap="none" dirty="0">
                <a:solidFill>
                  <a:schemeClr val="dk1"/>
                </a:solidFill>
                <a:latin typeface="DM Sans"/>
                <a:ea typeface="DM Sans"/>
                <a:cs typeface="DM Sans"/>
                <a:sym typeface="DM Sans"/>
              </a:rPr>
              <a:t>ver de qué forma se da esa relación</a:t>
            </a:r>
          </a:p>
          <a:p>
            <a:endParaRPr lang="es" sz="2400" b="1" i="0" u="none" strike="noStrike" cap="none" dirty="0">
              <a:solidFill>
                <a:schemeClr val="dk1"/>
              </a:solidFill>
              <a:latin typeface="DM Sans"/>
              <a:ea typeface="DM Sans"/>
              <a:cs typeface="DM Sans"/>
              <a:sym typeface="DM Sans"/>
            </a:endParaRPr>
          </a:p>
          <a:p>
            <a:r>
              <a:rPr lang="es-ES" sz="2400" b="0" i="0" u="none" strike="noStrike" cap="none" dirty="0">
                <a:solidFill>
                  <a:schemeClr val="dk1"/>
                </a:solidFill>
                <a:latin typeface="DM Sans"/>
                <a:ea typeface="DM Sans"/>
                <a:cs typeface="DM Sans"/>
                <a:sym typeface="DM Sans"/>
              </a:rPr>
              <a:t>El modelo está dado por la ecuación: </a:t>
            </a:r>
            <a:r>
              <a:rPr lang="es-ES" sz="2400" b="1" i="0" u="none" strike="noStrike" cap="none" dirty="0">
                <a:solidFill>
                  <a:schemeClr val="dk1"/>
                </a:solidFill>
                <a:latin typeface="DM Sans"/>
                <a:ea typeface="DM Sans"/>
                <a:cs typeface="DM Sans"/>
                <a:sym typeface="DM Sans"/>
              </a:rPr>
              <a:t>y ꞊ a +</a:t>
            </a:r>
            <a:r>
              <a:rPr lang="es-ES" sz="2400" b="1" i="0" u="none" strike="noStrike" cap="none" dirty="0" err="1">
                <a:solidFill>
                  <a:schemeClr val="dk1"/>
                </a:solidFill>
                <a:latin typeface="DM Sans"/>
                <a:ea typeface="DM Sans"/>
                <a:cs typeface="DM Sans"/>
                <a:sym typeface="DM Sans"/>
              </a:rPr>
              <a:t>bx</a:t>
            </a:r>
            <a:r>
              <a:rPr lang="es-ES" sz="2400" b="1" i="0" u="none" strike="noStrike" cap="none" dirty="0">
                <a:solidFill>
                  <a:schemeClr val="dk1"/>
                </a:solidFill>
                <a:latin typeface="DM Sans"/>
                <a:ea typeface="DM Sans"/>
                <a:cs typeface="DM Sans"/>
                <a:sym typeface="DM Sans"/>
              </a:rPr>
              <a:t>. </a:t>
            </a:r>
            <a:r>
              <a:rPr lang="es-ES" sz="2400" b="0" i="0" u="none" strike="noStrike" cap="none" dirty="0">
                <a:solidFill>
                  <a:schemeClr val="dk1"/>
                </a:solidFill>
                <a:latin typeface="DM Sans"/>
                <a:ea typeface="DM Sans"/>
                <a:cs typeface="DM Sans"/>
                <a:sym typeface="DM Sans"/>
              </a:rPr>
              <a:t>Siendo a el Intercepto y b la pendiente.</a:t>
            </a:r>
            <a:endParaRPr lang="es-ES" sz="2400" b="0" i="0" u="none" strike="noStrike" cap="none" dirty="0">
              <a:solidFill>
                <a:srgbClr val="000000"/>
              </a:solidFill>
              <a:latin typeface="DM Sans"/>
              <a:ea typeface="DM Sans"/>
              <a:cs typeface="DM Sans"/>
              <a:sym typeface="DM Sans"/>
            </a:endParaRPr>
          </a:p>
          <a:p>
            <a:endParaRPr lang="es" sz="2400" b="1" dirty="0">
              <a:solidFill>
                <a:schemeClr val="dk1"/>
              </a:solidFill>
              <a:latin typeface="DM Sans"/>
              <a:sym typeface="DM Sans"/>
            </a:endParaRPr>
          </a:p>
          <a:p>
            <a:endParaRPr lang="en-US" sz="2400" dirty="0"/>
          </a:p>
        </p:txBody>
      </p:sp>
      <p:pic>
        <p:nvPicPr>
          <p:cNvPr id="5" name="Google Shape;143;g12aa89c38a5_0_0">
            <a:extLst>
              <a:ext uri="{FF2B5EF4-FFF2-40B4-BE49-F238E27FC236}">
                <a16:creationId xmlns:a16="http://schemas.microsoft.com/office/drawing/2014/main" id="{D917E0CE-3C86-8795-3C76-62471E88F75F}"/>
              </a:ext>
            </a:extLst>
          </p:cNvPr>
          <p:cNvPicPr preferRelativeResize="0"/>
          <p:nvPr/>
        </p:nvPicPr>
        <p:blipFill rotWithShape="1">
          <a:blip r:embed="rId2">
            <a:alphaModFix/>
          </a:blip>
          <a:srcRect/>
          <a:stretch/>
        </p:blipFill>
        <p:spPr>
          <a:xfrm>
            <a:off x="6259030" y="2198478"/>
            <a:ext cx="4551210" cy="3577799"/>
          </a:xfrm>
          <a:prstGeom prst="rect">
            <a:avLst/>
          </a:prstGeom>
          <a:noFill/>
          <a:ln>
            <a:noFill/>
          </a:ln>
        </p:spPr>
      </p:pic>
      <p:pic>
        <p:nvPicPr>
          <p:cNvPr id="10" name="Google Shape;199;g12aa89c38a5_0_55">
            <a:extLst>
              <a:ext uri="{FF2B5EF4-FFF2-40B4-BE49-F238E27FC236}">
                <a16:creationId xmlns:a16="http://schemas.microsoft.com/office/drawing/2014/main" id="{336E5EFF-CEB9-D379-6F9F-45D9A2DB0D96}"/>
              </a:ext>
            </a:extLst>
          </p:cNvPr>
          <p:cNvPicPr preferRelativeResize="0"/>
          <p:nvPr/>
        </p:nvPicPr>
        <p:blipFill rotWithShape="1">
          <a:blip r:embed="rId3">
            <a:alphaModFix/>
          </a:blip>
          <a:srcRect/>
          <a:stretch/>
        </p:blipFill>
        <p:spPr>
          <a:xfrm>
            <a:off x="9621458" y="2198478"/>
            <a:ext cx="1188782" cy="413853"/>
          </a:xfrm>
          <a:prstGeom prst="rect">
            <a:avLst/>
          </a:prstGeom>
          <a:noFill/>
          <a:ln>
            <a:noFill/>
          </a:ln>
        </p:spPr>
      </p:pic>
    </p:spTree>
    <p:extLst>
      <p:ext uri="{BB962C8B-B14F-4D97-AF65-F5344CB8AC3E}">
        <p14:creationId xmlns:p14="http://schemas.microsoft.com/office/powerpoint/2010/main" val="4248888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9825B9-4E94-A010-53F4-3E7BE4C52303}"/>
              </a:ext>
            </a:extLst>
          </p:cNvPr>
          <p:cNvSpPr>
            <a:spLocks noGrp="1"/>
          </p:cNvSpPr>
          <p:nvPr>
            <p:ph type="title"/>
          </p:nvPr>
        </p:nvSpPr>
        <p:spPr/>
        <p:txBody>
          <a:bodyPr/>
          <a:lstStyle/>
          <a:p>
            <a:r>
              <a:rPr lang="en-US" dirty="0" err="1"/>
              <a:t>Correlación</a:t>
            </a:r>
            <a:endParaRPr lang="en-US" dirty="0"/>
          </a:p>
        </p:txBody>
      </p:sp>
      <p:sp>
        <p:nvSpPr>
          <p:cNvPr id="3" name="Marcador de contenido 2">
            <a:extLst>
              <a:ext uri="{FF2B5EF4-FFF2-40B4-BE49-F238E27FC236}">
                <a16:creationId xmlns:a16="http://schemas.microsoft.com/office/drawing/2014/main" id="{C1586AFA-DA10-AF78-DB19-C3C062B55E99}"/>
              </a:ext>
            </a:extLst>
          </p:cNvPr>
          <p:cNvSpPr>
            <a:spLocks noGrp="1"/>
          </p:cNvSpPr>
          <p:nvPr>
            <p:ph sz="half" idx="1"/>
          </p:nvPr>
        </p:nvSpPr>
        <p:spPr>
          <a:xfrm>
            <a:off x="838199" y="1825625"/>
            <a:ext cx="5185095" cy="4351338"/>
          </a:xfrm>
        </p:spPr>
        <p:txBody>
          <a:bodyPr>
            <a:normAutofit/>
          </a:bodyPr>
          <a:lstStyle/>
          <a:p>
            <a:r>
              <a:rPr lang="es" sz="3200" b="0" i="0" u="none" strike="noStrike" cap="none" dirty="0">
                <a:solidFill>
                  <a:schemeClr val="dk1"/>
                </a:solidFill>
                <a:latin typeface="DM Sans"/>
                <a:ea typeface="DM Sans"/>
                <a:cs typeface="DM Sans"/>
                <a:sym typeface="DM Sans"/>
              </a:rPr>
              <a:t>Cuando al realizar </a:t>
            </a:r>
            <a:r>
              <a:rPr lang="es" sz="3200" dirty="0">
                <a:solidFill>
                  <a:schemeClr val="dk1"/>
                </a:solidFill>
                <a:latin typeface="DM Sans"/>
                <a:sym typeface="DM Sans"/>
              </a:rPr>
              <a:t>un cambio en la variable x se produce un cambio en la variable y se dice que </a:t>
            </a:r>
            <a:r>
              <a:rPr lang="es" sz="3200" b="1" dirty="0">
                <a:solidFill>
                  <a:schemeClr val="dk1"/>
                </a:solidFill>
                <a:latin typeface="DM Sans"/>
                <a:sym typeface="DM Sans"/>
              </a:rPr>
              <a:t>existe </a:t>
            </a:r>
            <a:r>
              <a:rPr lang="es" sz="3200" b="1" i="0" u="none" strike="noStrike" cap="none" dirty="0">
                <a:solidFill>
                  <a:schemeClr val="dk1"/>
                </a:solidFill>
                <a:latin typeface="DM Sans"/>
                <a:ea typeface="DM Sans"/>
                <a:cs typeface="DM Sans"/>
                <a:sym typeface="DM Sans"/>
              </a:rPr>
              <a:t>dependencia de la variable y hacia la variable x</a:t>
            </a:r>
            <a:r>
              <a:rPr lang="es" sz="3200" b="0" i="0" u="none" strike="noStrike" cap="none" dirty="0">
                <a:solidFill>
                  <a:schemeClr val="dk1"/>
                </a:solidFill>
                <a:latin typeface="DM Sans"/>
                <a:ea typeface="DM Sans"/>
                <a:cs typeface="DM Sans"/>
                <a:sym typeface="DM Sans"/>
              </a:rPr>
              <a:t>.</a:t>
            </a:r>
            <a:endParaRPr lang="en-US" sz="3200" dirty="0"/>
          </a:p>
        </p:txBody>
      </p:sp>
      <p:pic>
        <p:nvPicPr>
          <p:cNvPr id="5" name="Google Shape;152;g12aa89c38a5_0_10">
            <a:extLst>
              <a:ext uri="{FF2B5EF4-FFF2-40B4-BE49-F238E27FC236}">
                <a16:creationId xmlns:a16="http://schemas.microsoft.com/office/drawing/2014/main" id="{EB0AF285-E777-2653-8D07-84D85886FAD8}"/>
              </a:ext>
            </a:extLst>
          </p:cNvPr>
          <p:cNvPicPr preferRelativeResize="0">
            <a:picLocks noGrp="1"/>
          </p:cNvPicPr>
          <p:nvPr>
            <p:ph sz="half" idx="2"/>
          </p:nvPr>
        </p:nvPicPr>
        <p:blipFill rotWithShape="1">
          <a:blip r:embed="rId2">
            <a:alphaModFix/>
          </a:blip>
          <a:srcRect/>
          <a:stretch/>
        </p:blipFill>
        <p:spPr>
          <a:xfrm>
            <a:off x="6096000" y="2009470"/>
            <a:ext cx="5309008" cy="3558381"/>
          </a:xfrm>
          <a:prstGeom prst="rect">
            <a:avLst/>
          </a:prstGeom>
          <a:noFill/>
          <a:ln w="19050" cap="flat" cmpd="sng">
            <a:solidFill>
              <a:srgbClr val="595959"/>
            </a:solidFill>
            <a:prstDash val="solid"/>
            <a:round/>
            <a:headEnd type="none" w="sm" len="sm"/>
            <a:tailEnd type="none" w="sm" len="sm"/>
          </a:ln>
        </p:spPr>
      </p:pic>
      <p:sp>
        <p:nvSpPr>
          <p:cNvPr id="4" name="Título 1">
            <a:extLst>
              <a:ext uri="{FF2B5EF4-FFF2-40B4-BE49-F238E27FC236}">
                <a16:creationId xmlns:a16="http://schemas.microsoft.com/office/drawing/2014/main" id="{EE527653-80E0-30D2-EE3B-BDADCD212160}"/>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a:solidFill>
                  <a:schemeClr val="accent1"/>
                </a:solidFill>
              </a:rPr>
              <a:t>Correlación</a:t>
            </a:r>
          </a:p>
        </p:txBody>
      </p:sp>
    </p:spTree>
    <p:extLst>
      <p:ext uri="{BB962C8B-B14F-4D97-AF65-F5344CB8AC3E}">
        <p14:creationId xmlns:p14="http://schemas.microsoft.com/office/powerpoint/2010/main" val="460519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DC800C-30B8-4273-68BD-B5C4C29196F5}"/>
              </a:ext>
            </a:extLst>
          </p:cNvPr>
          <p:cNvSpPr>
            <a:spLocks noGrp="1"/>
          </p:cNvSpPr>
          <p:nvPr>
            <p:ph type="title"/>
          </p:nvPr>
        </p:nvSpPr>
        <p:spPr/>
        <p:txBody>
          <a:bodyPr/>
          <a:lstStyle/>
          <a:p>
            <a:r>
              <a:rPr lang="en-US" dirty="0" err="1"/>
              <a:t>Correlación</a:t>
            </a:r>
            <a:endParaRPr lang="en-US" dirty="0"/>
          </a:p>
        </p:txBody>
      </p:sp>
      <p:sp>
        <p:nvSpPr>
          <p:cNvPr id="3" name="Marcador de contenido 2">
            <a:extLst>
              <a:ext uri="{FF2B5EF4-FFF2-40B4-BE49-F238E27FC236}">
                <a16:creationId xmlns:a16="http://schemas.microsoft.com/office/drawing/2014/main" id="{B4FB90CF-6121-54EA-DF9C-DAD301EAB944}"/>
              </a:ext>
            </a:extLst>
          </p:cNvPr>
          <p:cNvSpPr>
            <a:spLocks noGrp="1"/>
          </p:cNvSpPr>
          <p:nvPr>
            <p:ph sz="half" idx="1"/>
          </p:nvPr>
        </p:nvSpPr>
        <p:spPr>
          <a:xfrm>
            <a:off x="468630" y="1825625"/>
            <a:ext cx="5551170" cy="4351338"/>
          </a:xfrm>
        </p:spPr>
        <p:txBody>
          <a:bodyPr>
            <a:normAutofit/>
          </a:bodyPr>
          <a:lstStyle/>
          <a:p>
            <a:r>
              <a:rPr lang="en-US" sz="2400" b="1" i="0" u="none" strike="noStrike" cap="none" dirty="0" err="1">
                <a:solidFill>
                  <a:schemeClr val="dk1"/>
                </a:solidFill>
                <a:latin typeface="DM Sans"/>
                <a:ea typeface="DM Sans"/>
                <a:cs typeface="DM Sans"/>
                <a:sym typeface="DM Sans"/>
              </a:rPr>
              <a:t>Correlación</a:t>
            </a:r>
            <a:r>
              <a:rPr lang="en-US" sz="2400" b="1" i="0" u="none" strike="noStrike" cap="none" dirty="0">
                <a:solidFill>
                  <a:schemeClr val="dk1"/>
                </a:solidFill>
                <a:latin typeface="DM Sans"/>
                <a:ea typeface="DM Sans"/>
                <a:cs typeface="DM Sans"/>
                <a:sym typeface="DM Sans"/>
              </a:rPr>
              <a:t> no </a:t>
            </a:r>
            <a:r>
              <a:rPr lang="en-US" sz="2400" b="1" i="0" u="none" strike="noStrike" cap="none" dirty="0" err="1">
                <a:solidFill>
                  <a:schemeClr val="dk1"/>
                </a:solidFill>
                <a:latin typeface="DM Sans"/>
                <a:ea typeface="DM Sans"/>
                <a:cs typeface="DM Sans"/>
                <a:sym typeface="DM Sans"/>
              </a:rPr>
              <a:t>implica</a:t>
            </a:r>
            <a:r>
              <a:rPr lang="en-US" sz="2400" b="1" i="0" u="none" strike="noStrike" cap="none" dirty="0">
                <a:solidFill>
                  <a:schemeClr val="dk1"/>
                </a:solidFill>
                <a:latin typeface="DM Sans"/>
                <a:ea typeface="DM Sans"/>
                <a:cs typeface="DM Sans"/>
                <a:sym typeface="DM Sans"/>
              </a:rPr>
              <a:t> </a:t>
            </a:r>
            <a:r>
              <a:rPr lang="en-US" sz="2400" b="1" i="0" u="none" strike="noStrike" cap="none" dirty="0" err="1">
                <a:solidFill>
                  <a:schemeClr val="dk1"/>
                </a:solidFill>
                <a:latin typeface="DM Sans"/>
                <a:ea typeface="DM Sans"/>
                <a:cs typeface="DM Sans"/>
                <a:sym typeface="DM Sans"/>
              </a:rPr>
              <a:t>causalidad</a:t>
            </a:r>
            <a:endParaRPr lang="en-US" sz="2400" b="1" i="0" u="none" strike="noStrike" cap="none" dirty="0">
              <a:solidFill>
                <a:schemeClr val="dk1"/>
              </a:solidFill>
              <a:latin typeface="DM Sans"/>
              <a:ea typeface="DM Sans"/>
              <a:cs typeface="DM Sans"/>
              <a:sym typeface="DM Sans"/>
            </a:endParaRPr>
          </a:p>
          <a:p>
            <a:pPr marL="457200" marR="0" lvl="0" indent="-311150" algn="l" rtl="0">
              <a:lnSpc>
                <a:spcPct val="100000"/>
              </a:lnSpc>
              <a:spcBef>
                <a:spcPts val="1000"/>
              </a:spcBef>
              <a:spcAft>
                <a:spcPts val="0"/>
              </a:spcAft>
              <a:buClr>
                <a:srgbClr val="EA90FF"/>
              </a:buClr>
              <a:buSzPts val="1300"/>
              <a:buFont typeface="Helvetica Neue Light"/>
              <a:buChar char="✓"/>
            </a:pPr>
            <a:r>
              <a:rPr lang="es-ES" sz="2400" b="1" i="0" u="none" strike="noStrike" cap="none" dirty="0">
                <a:solidFill>
                  <a:schemeClr val="dk1"/>
                </a:solidFill>
                <a:latin typeface="DM Sans"/>
                <a:ea typeface="DM Sans"/>
                <a:cs typeface="DM Sans"/>
                <a:sym typeface="DM Sans"/>
              </a:rPr>
              <a:t>Correlación</a:t>
            </a:r>
            <a:r>
              <a:rPr lang="es-ES" sz="2400" b="0" i="0" u="none" strike="noStrike" cap="none" dirty="0">
                <a:solidFill>
                  <a:schemeClr val="dk1"/>
                </a:solidFill>
                <a:latin typeface="DM Sans"/>
                <a:ea typeface="DM Sans"/>
                <a:cs typeface="DM Sans"/>
                <a:sym typeface="DM Sans"/>
              </a:rPr>
              <a:t> es una relación o conexión mutua entre dos o más cosas (o variables)</a:t>
            </a:r>
          </a:p>
          <a:p>
            <a:pPr marL="457200" marR="0" lvl="0" indent="-311150" algn="l" rtl="0">
              <a:lnSpc>
                <a:spcPct val="100000"/>
              </a:lnSpc>
              <a:spcBef>
                <a:spcPts val="1000"/>
              </a:spcBef>
              <a:spcAft>
                <a:spcPts val="1000"/>
              </a:spcAft>
              <a:buClr>
                <a:srgbClr val="EA90FF"/>
              </a:buClr>
              <a:buSzPts val="1300"/>
              <a:buFont typeface="Helvetica Neue Light"/>
              <a:buChar char="✓"/>
            </a:pPr>
            <a:r>
              <a:rPr lang="es-ES" sz="2400" b="1" i="0" u="none" strike="noStrike" cap="none" dirty="0">
                <a:solidFill>
                  <a:schemeClr val="dk1"/>
                </a:solidFill>
                <a:latin typeface="DM Sans"/>
                <a:ea typeface="DM Sans"/>
                <a:cs typeface="DM Sans"/>
                <a:sym typeface="DM Sans"/>
              </a:rPr>
              <a:t>Causalidad</a:t>
            </a:r>
            <a:r>
              <a:rPr lang="es-ES" sz="2400" b="0" i="0" u="none" strike="noStrike" cap="none" dirty="0">
                <a:solidFill>
                  <a:schemeClr val="dk1"/>
                </a:solidFill>
                <a:latin typeface="DM Sans"/>
                <a:ea typeface="DM Sans"/>
                <a:cs typeface="DM Sans"/>
                <a:sym typeface="DM Sans"/>
              </a:rPr>
              <a:t> significa que existe una relación entre dos eventos en la que un evento afecta al otro.</a:t>
            </a:r>
          </a:p>
        </p:txBody>
      </p:sp>
      <p:pic>
        <p:nvPicPr>
          <p:cNvPr id="5" name="Google Shape;169;g12aa89c38a5_0_26">
            <a:extLst>
              <a:ext uri="{FF2B5EF4-FFF2-40B4-BE49-F238E27FC236}">
                <a16:creationId xmlns:a16="http://schemas.microsoft.com/office/drawing/2014/main" id="{744A2E59-D179-E420-088D-D23C69850369}"/>
              </a:ext>
            </a:extLst>
          </p:cNvPr>
          <p:cNvPicPr preferRelativeResize="0">
            <a:picLocks noGrp="1"/>
          </p:cNvPicPr>
          <p:nvPr>
            <p:ph sz="half" idx="2"/>
          </p:nvPr>
        </p:nvPicPr>
        <p:blipFill rotWithShape="1">
          <a:blip r:embed="rId2">
            <a:alphaModFix/>
          </a:blip>
          <a:srcRect l="17460" r="9785"/>
          <a:stretch/>
        </p:blipFill>
        <p:spPr>
          <a:xfrm>
            <a:off x="6172200" y="2140676"/>
            <a:ext cx="5181600" cy="3721236"/>
          </a:xfrm>
          <a:prstGeom prst="rect">
            <a:avLst/>
          </a:prstGeom>
          <a:noFill/>
          <a:ln w="9525" cap="flat" cmpd="sng">
            <a:solidFill>
              <a:schemeClr val="lt2"/>
            </a:solidFill>
            <a:prstDash val="solid"/>
            <a:round/>
            <a:headEnd type="none" w="sm" len="sm"/>
            <a:tailEnd type="none" w="sm" len="sm"/>
          </a:ln>
        </p:spPr>
      </p:pic>
      <p:sp>
        <p:nvSpPr>
          <p:cNvPr id="6" name="Título 1">
            <a:extLst>
              <a:ext uri="{FF2B5EF4-FFF2-40B4-BE49-F238E27FC236}">
                <a16:creationId xmlns:a16="http://schemas.microsoft.com/office/drawing/2014/main" id="{DEA75089-D2B3-066A-3AC3-A2451A04C3C8}"/>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a:solidFill>
                  <a:schemeClr val="accent1"/>
                </a:solidFill>
              </a:rPr>
              <a:t>Correlación</a:t>
            </a:r>
          </a:p>
        </p:txBody>
      </p:sp>
    </p:spTree>
    <p:extLst>
      <p:ext uri="{BB962C8B-B14F-4D97-AF65-F5344CB8AC3E}">
        <p14:creationId xmlns:p14="http://schemas.microsoft.com/office/powerpoint/2010/main" val="878763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3F43A9-3441-973B-6DC3-1C6962FDA6C2}"/>
              </a:ext>
            </a:extLst>
          </p:cNvPr>
          <p:cNvSpPr>
            <a:spLocks noGrp="1"/>
          </p:cNvSpPr>
          <p:nvPr>
            <p:ph type="title"/>
          </p:nvPr>
        </p:nvSpPr>
        <p:spPr/>
        <p:txBody>
          <a:bodyPr/>
          <a:lstStyle/>
          <a:p>
            <a:endParaRPr lang="en-US" dirty="0"/>
          </a:p>
        </p:txBody>
      </p:sp>
      <p:sp>
        <p:nvSpPr>
          <p:cNvPr id="3" name="Marcador de contenido 2">
            <a:extLst>
              <a:ext uri="{FF2B5EF4-FFF2-40B4-BE49-F238E27FC236}">
                <a16:creationId xmlns:a16="http://schemas.microsoft.com/office/drawing/2014/main" id="{EE2BCBD0-B981-A2CC-D8C9-4DED9E252B0F}"/>
              </a:ext>
            </a:extLst>
          </p:cNvPr>
          <p:cNvSpPr>
            <a:spLocks noGrp="1"/>
          </p:cNvSpPr>
          <p:nvPr>
            <p:ph sz="half" idx="1"/>
          </p:nvPr>
        </p:nvSpPr>
        <p:spPr>
          <a:xfrm>
            <a:off x="628650" y="1825625"/>
            <a:ext cx="6023610" cy="4351338"/>
          </a:xfrm>
        </p:spPr>
        <p:txBody>
          <a:bodyPr/>
          <a:lstStyle/>
          <a:p>
            <a:pPr marL="457200" marR="0" lvl="0" indent="-314325" algn="l" rtl="0">
              <a:lnSpc>
                <a:spcPct val="115000"/>
              </a:lnSpc>
              <a:spcBef>
                <a:spcPts val="1000"/>
              </a:spcBef>
              <a:spcAft>
                <a:spcPts val="0"/>
              </a:spcAft>
              <a:buClr>
                <a:srgbClr val="EA90FF"/>
              </a:buClr>
              <a:buSzPts val="1350"/>
              <a:buFont typeface="Arial"/>
              <a:buChar char="✓"/>
            </a:pPr>
            <a:endParaRPr lang="es-ES" sz="2000" b="1" i="0" u="none" strike="noStrike" cap="none" dirty="0">
              <a:solidFill>
                <a:schemeClr val="dk1"/>
              </a:solidFill>
              <a:latin typeface="DM Sans"/>
              <a:ea typeface="DM Sans"/>
              <a:cs typeface="DM Sans"/>
              <a:sym typeface="DM Sans"/>
            </a:endParaRPr>
          </a:p>
          <a:p>
            <a:pPr marL="457200" marR="0" lvl="0" indent="-314325" algn="l" rtl="0">
              <a:lnSpc>
                <a:spcPct val="115000"/>
              </a:lnSpc>
              <a:spcBef>
                <a:spcPts val="1000"/>
              </a:spcBef>
              <a:spcAft>
                <a:spcPts val="0"/>
              </a:spcAft>
              <a:buClr>
                <a:srgbClr val="EA90FF"/>
              </a:buClr>
              <a:buSzPts val="1350"/>
              <a:buFont typeface="Arial"/>
              <a:buChar char="✓"/>
            </a:pPr>
            <a:r>
              <a:rPr lang="es-ES" sz="2000" b="1" i="0" u="none" strike="noStrike" cap="none" dirty="0">
                <a:solidFill>
                  <a:schemeClr val="dk1"/>
                </a:solidFill>
                <a:latin typeface="DM Sans"/>
                <a:ea typeface="DM Sans"/>
                <a:cs typeface="DM Sans"/>
                <a:sym typeface="DM Sans"/>
              </a:rPr>
              <a:t>Normalidad: </a:t>
            </a:r>
            <a:r>
              <a:rPr lang="es-ES" sz="2000" b="0" i="0" u="none" strike="noStrike" cap="none" dirty="0">
                <a:solidFill>
                  <a:schemeClr val="dk1"/>
                </a:solidFill>
                <a:latin typeface="DM Sans"/>
                <a:ea typeface="DM Sans"/>
                <a:cs typeface="DM Sans"/>
                <a:sym typeface="DM Sans"/>
              </a:rPr>
              <a:t>Los residuales del modelo tienen una distribución normal.</a:t>
            </a:r>
          </a:p>
          <a:p>
            <a:pPr marL="457200" marR="0" lvl="0" indent="-314325" algn="l" rtl="0">
              <a:lnSpc>
                <a:spcPct val="115000"/>
              </a:lnSpc>
              <a:spcBef>
                <a:spcPts val="0"/>
              </a:spcBef>
              <a:spcAft>
                <a:spcPts val="0"/>
              </a:spcAft>
              <a:buClr>
                <a:srgbClr val="EA90FF"/>
              </a:buClr>
              <a:buSzPts val="1350"/>
              <a:buFont typeface="Helvetica Neue"/>
              <a:buChar char="✓"/>
            </a:pPr>
            <a:r>
              <a:rPr lang="es-ES" sz="2000" b="1" i="0" u="none" strike="noStrike" cap="none" dirty="0">
                <a:solidFill>
                  <a:schemeClr val="dk1"/>
                </a:solidFill>
                <a:latin typeface="DM Sans"/>
                <a:ea typeface="DM Sans"/>
                <a:cs typeface="DM Sans"/>
                <a:sym typeface="DM Sans"/>
              </a:rPr>
              <a:t>Relación lineal: </a:t>
            </a:r>
            <a:r>
              <a:rPr lang="es-ES" sz="2000" b="0" i="0" u="none" strike="noStrike" cap="none" dirty="0">
                <a:solidFill>
                  <a:schemeClr val="dk1"/>
                </a:solidFill>
                <a:latin typeface="DM Sans"/>
                <a:ea typeface="DM Sans"/>
                <a:cs typeface="DM Sans"/>
                <a:sym typeface="DM Sans"/>
              </a:rPr>
              <a:t>Existe una relación lineal entre las variables independientes y la dependiente</a:t>
            </a:r>
          </a:p>
          <a:p>
            <a:pPr marL="457200" marR="0" lvl="0" indent="-314325" algn="l" rtl="0">
              <a:lnSpc>
                <a:spcPct val="115000"/>
              </a:lnSpc>
              <a:spcBef>
                <a:spcPts val="0"/>
              </a:spcBef>
              <a:spcAft>
                <a:spcPts val="0"/>
              </a:spcAft>
              <a:buClr>
                <a:srgbClr val="EA90FF"/>
              </a:buClr>
              <a:buSzPts val="1350"/>
              <a:buFont typeface="Helvetica Neue"/>
              <a:buChar char="✓"/>
            </a:pPr>
            <a:r>
              <a:rPr lang="es-ES" sz="2000" b="1" i="0" u="none" strike="noStrike" cap="none" dirty="0">
                <a:solidFill>
                  <a:schemeClr val="dk1"/>
                </a:solidFill>
                <a:latin typeface="DM Sans"/>
                <a:ea typeface="DM Sans"/>
                <a:cs typeface="DM Sans"/>
                <a:sym typeface="DM Sans"/>
              </a:rPr>
              <a:t>Independencia: </a:t>
            </a:r>
            <a:r>
              <a:rPr lang="es-ES" sz="2000" b="0" i="0" u="none" strike="noStrike" cap="none" dirty="0">
                <a:solidFill>
                  <a:schemeClr val="dk1"/>
                </a:solidFill>
                <a:latin typeface="DM Sans"/>
                <a:ea typeface="DM Sans"/>
                <a:cs typeface="DM Sans"/>
                <a:sym typeface="DM Sans"/>
              </a:rPr>
              <a:t>no hay correlación entre los residuales como lo que ocurre en series de tiempo</a:t>
            </a:r>
          </a:p>
          <a:p>
            <a:pPr marL="457200" marR="0" lvl="0" indent="-314325" algn="l" rtl="0">
              <a:lnSpc>
                <a:spcPct val="115000"/>
              </a:lnSpc>
              <a:spcBef>
                <a:spcPts val="0"/>
              </a:spcBef>
              <a:spcAft>
                <a:spcPts val="0"/>
              </a:spcAft>
              <a:buClr>
                <a:srgbClr val="EA90FF"/>
              </a:buClr>
              <a:buSzPts val="1350"/>
              <a:buFont typeface="Helvetica Neue"/>
              <a:buChar char="✓"/>
            </a:pPr>
            <a:r>
              <a:rPr lang="es-ES" sz="2000" b="1" i="0" u="none" strike="noStrike" cap="none" dirty="0">
                <a:solidFill>
                  <a:schemeClr val="dk1"/>
                </a:solidFill>
                <a:latin typeface="DM Sans"/>
                <a:ea typeface="DM Sans"/>
                <a:cs typeface="DM Sans"/>
                <a:sym typeface="DM Sans"/>
              </a:rPr>
              <a:t>Homocedasticidad: </a:t>
            </a:r>
            <a:r>
              <a:rPr lang="es-ES" sz="2000" b="0" i="0" u="none" strike="noStrike" cap="none" dirty="0">
                <a:solidFill>
                  <a:schemeClr val="dk1"/>
                </a:solidFill>
                <a:latin typeface="DM Sans"/>
                <a:ea typeface="DM Sans"/>
                <a:cs typeface="DM Sans"/>
                <a:sym typeface="DM Sans"/>
              </a:rPr>
              <a:t>Los residuales tienen una varianza constante. </a:t>
            </a:r>
          </a:p>
          <a:p>
            <a:endParaRPr lang="en-US" dirty="0"/>
          </a:p>
        </p:txBody>
      </p:sp>
      <p:pic>
        <p:nvPicPr>
          <p:cNvPr id="5" name="Google Shape;268;g12d82f9d360_0_17">
            <a:extLst>
              <a:ext uri="{FF2B5EF4-FFF2-40B4-BE49-F238E27FC236}">
                <a16:creationId xmlns:a16="http://schemas.microsoft.com/office/drawing/2014/main" id="{4718FF64-332C-875A-4EC4-AE904E865643}"/>
              </a:ext>
            </a:extLst>
          </p:cNvPr>
          <p:cNvPicPr preferRelativeResize="0"/>
          <p:nvPr/>
        </p:nvPicPr>
        <p:blipFill rotWithShape="1">
          <a:blip r:embed="rId2">
            <a:alphaModFix/>
          </a:blip>
          <a:srcRect/>
          <a:stretch/>
        </p:blipFill>
        <p:spPr>
          <a:xfrm>
            <a:off x="7192775" y="1989896"/>
            <a:ext cx="3118300" cy="1657625"/>
          </a:xfrm>
          <a:prstGeom prst="rect">
            <a:avLst/>
          </a:prstGeom>
          <a:noFill/>
          <a:ln>
            <a:noFill/>
          </a:ln>
        </p:spPr>
      </p:pic>
      <p:pic>
        <p:nvPicPr>
          <p:cNvPr id="6" name="Google Shape;269;g12d82f9d360_0_17">
            <a:extLst>
              <a:ext uri="{FF2B5EF4-FFF2-40B4-BE49-F238E27FC236}">
                <a16:creationId xmlns:a16="http://schemas.microsoft.com/office/drawing/2014/main" id="{D9941D20-008A-3A57-1F7C-64ACE7DAFF38}"/>
              </a:ext>
            </a:extLst>
          </p:cNvPr>
          <p:cNvPicPr preferRelativeResize="0"/>
          <p:nvPr/>
        </p:nvPicPr>
        <p:blipFill rotWithShape="1">
          <a:blip r:embed="rId3">
            <a:alphaModFix/>
          </a:blip>
          <a:srcRect l="3192" t="24183" b="13471"/>
          <a:stretch/>
        </p:blipFill>
        <p:spPr>
          <a:xfrm>
            <a:off x="6762473" y="4111428"/>
            <a:ext cx="3548602" cy="1284966"/>
          </a:xfrm>
          <a:prstGeom prst="rect">
            <a:avLst/>
          </a:prstGeom>
          <a:noFill/>
          <a:ln>
            <a:noFill/>
          </a:ln>
        </p:spPr>
      </p:pic>
      <p:sp>
        <p:nvSpPr>
          <p:cNvPr id="8" name="Título 1">
            <a:extLst>
              <a:ext uri="{FF2B5EF4-FFF2-40B4-BE49-F238E27FC236}">
                <a16:creationId xmlns:a16="http://schemas.microsoft.com/office/drawing/2014/main" id="{822D6D2D-0BDA-668B-A60B-C1FAA7A207C2}"/>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a:solidFill>
                  <a:schemeClr val="accent1"/>
                </a:solidFill>
              </a:rPr>
              <a:t>Supuestos</a:t>
            </a:r>
          </a:p>
        </p:txBody>
      </p:sp>
    </p:spTree>
    <p:extLst>
      <p:ext uri="{BB962C8B-B14F-4D97-AF65-F5344CB8AC3E}">
        <p14:creationId xmlns:p14="http://schemas.microsoft.com/office/powerpoint/2010/main" val="3805016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E7EC96-E7FB-29AE-2EE9-BC0EA65CC1B0}"/>
              </a:ext>
            </a:extLst>
          </p:cNvPr>
          <p:cNvSpPr>
            <a:spLocks noGrp="1"/>
          </p:cNvSpPr>
          <p:nvPr>
            <p:ph type="title"/>
          </p:nvPr>
        </p:nvSpPr>
        <p:spPr/>
        <p:txBody>
          <a:bodyPr/>
          <a:lstStyle/>
          <a:p>
            <a:endParaRPr lang="en-US" dirty="0"/>
          </a:p>
        </p:txBody>
      </p:sp>
      <p:sp>
        <p:nvSpPr>
          <p:cNvPr id="3" name="Marcador de contenido 2">
            <a:extLst>
              <a:ext uri="{FF2B5EF4-FFF2-40B4-BE49-F238E27FC236}">
                <a16:creationId xmlns:a16="http://schemas.microsoft.com/office/drawing/2014/main" id="{BB334F89-09A2-B093-1CB6-76BAC12177E7}"/>
              </a:ext>
            </a:extLst>
          </p:cNvPr>
          <p:cNvSpPr>
            <a:spLocks noGrp="1"/>
          </p:cNvSpPr>
          <p:nvPr>
            <p:ph sz="half" idx="1"/>
          </p:nvPr>
        </p:nvSpPr>
        <p:spPr>
          <a:xfrm>
            <a:off x="838199" y="1825625"/>
            <a:ext cx="5386431" cy="4351338"/>
          </a:xfrm>
        </p:spPr>
        <p:txBody>
          <a:bodyPr>
            <a:normAutofit/>
          </a:bodyPr>
          <a:lstStyle/>
          <a:p>
            <a:r>
              <a:rPr lang="es-ES" sz="2800" b="0" i="0" u="none" strike="noStrike" cap="none" dirty="0">
                <a:solidFill>
                  <a:schemeClr val="dk1"/>
                </a:solidFill>
                <a:latin typeface="DM Sans"/>
                <a:ea typeface="DM Sans"/>
                <a:cs typeface="DM Sans"/>
                <a:sym typeface="DM Sans"/>
              </a:rPr>
              <a:t>Para cada valor xi tenemos una variable aleatoria: </a:t>
            </a:r>
            <a:r>
              <a:rPr lang="es-ES" sz="2800" b="1" i="0" u="none" strike="noStrike" cap="none" dirty="0">
                <a:solidFill>
                  <a:schemeClr val="dk1"/>
                </a:solidFill>
                <a:latin typeface="DM Sans"/>
                <a:ea typeface="DM Sans"/>
                <a:cs typeface="DM Sans"/>
                <a:sym typeface="DM Sans"/>
              </a:rPr>
              <a:t>Yi= Y|X </a:t>
            </a:r>
          </a:p>
          <a:p>
            <a:r>
              <a:rPr lang="es-ES" sz="2800" b="0" i="0" u="none" strike="noStrike" cap="none" dirty="0">
                <a:solidFill>
                  <a:schemeClr val="dk1"/>
                </a:solidFill>
                <a:latin typeface="DM Sans"/>
                <a:ea typeface="DM Sans"/>
                <a:cs typeface="DM Sans"/>
                <a:sym typeface="DM Sans"/>
              </a:rPr>
              <a:t>En este modelo se tiene </a:t>
            </a:r>
            <a:r>
              <a:rPr lang="es-ES" sz="2800" b="1" i="0" u="none" strike="noStrike" cap="none" dirty="0">
                <a:solidFill>
                  <a:schemeClr val="dk1"/>
                </a:solidFill>
                <a:latin typeface="DM Sans"/>
                <a:ea typeface="DM Sans"/>
                <a:cs typeface="DM Sans"/>
                <a:sym typeface="DM Sans"/>
              </a:rPr>
              <a:t>solo una variable dependiente (Y) y una independiente (X)</a:t>
            </a:r>
            <a:r>
              <a:rPr lang="es-ES" sz="2800" b="0" i="0" u="none" strike="noStrike" cap="none" dirty="0">
                <a:solidFill>
                  <a:schemeClr val="dk1"/>
                </a:solidFill>
                <a:latin typeface="DM Sans"/>
                <a:ea typeface="DM Sans"/>
                <a:cs typeface="DM Sans"/>
                <a:sym typeface="DM Sans"/>
              </a:rPr>
              <a:t>, el modelo está dado por: </a:t>
            </a:r>
            <a:r>
              <a:rPr lang="es-ES" sz="2800" b="1" i="0" u="none" strike="noStrike" cap="none" dirty="0">
                <a:solidFill>
                  <a:schemeClr val="dk1"/>
                </a:solidFill>
                <a:latin typeface="DM Sans"/>
                <a:ea typeface="DM Sans"/>
                <a:cs typeface="DM Sans"/>
                <a:sym typeface="DM Sans"/>
              </a:rPr>
              <a:t>y= </a:t>
            </a:r>
            <a:r>
              <a:rPr lang="es-ES" sz="2800" b="1" i="0" u="none" strike="noStrike" cap="none" dirty="0" err="1">
                <a:solidFill>
                  <a:schemeClr val="dk1"/>
                </a:solidFill>
                <a:latin typeface="DM Sans"/>
                <a:ea typeface="DM Sans"/>
                <a:cs typeface="DM Sans"/>
                <a:sym typeface="DM Sans"/>
              </a:rPr>
              <a:t>a+bx</a:t>
            </a:r>
            <a:endParaRPr lang="es-ES" sz="2800" b="1" i="0" u="none" strike="noStrike" cap="none" dirty="0">
              <a:solidFill>
                <a:schemeClr val="dk1"/>
              </a:solidFill>
              <a:latin typeface="DM Sans"/>
              <a:ea typeface="DM Sans"/>
              <a:cs typeface="DM Sans"/>
              <a:sym typeface="DM Sans"/>
            </a:endParaRPr>
          </a:p>
          <a:p>
            <a:endParaRPr lang="en-US" sz="2800" dirty="0"/>
          </a:p>
        </p:txBody>
      </p:sp>
      <p:pic>
        <p:nvPicPr>
          <p:cNvPr id="8" name="Google Shape;804;p112">
            <a:extLst>
              <a:ext uri="{FF2B5EF4-FFF2-40B4-BE49-F238E27FC236}">
                <a16:creationId xmlns:a16="http://schemas.microsoft.com/office/drawing/2014/main" id="{4D213848-CD81-D7C9-E540-E11159807B14}"/>
              </a:ext>
            </a:extLst>
          </p:cNvPr>
          <p:cNvPicPr preferRelativeResize="0"/>
          <p:nvPr/>
        </p:nvPicPr>
        <p:blipFill>
          <a:blip r:embed="rId2">
            <a:alphaModFix/>
          </a:blip>
          <a:stretch>
            <a:fillRect/>
          </a:stretch>
        </p:blipFill>
        <p:spPr>
          <a:xfrm>
            <a:off x="6224630" y="1825625"/>
            <a:ext cx="5050174" cy="4466118"/>
          </a:xfrm>
          <a:prstGeom prst="rect">
            <a:avLst/>
          </a:prstGeom>
          <a:noFill/>
          <a:ln>
            <a:noFill/>
          </a:ln>
        </p:spPr>
      </p:pic>
      <p:sp>
        <p:nvSpPr>
          <p:cNvPr id="4" name="Título 1">
            <a:extLst>
              <a:ext uri="{FF2B5EF4-FFF2-40B4-BE49-F238E27FC236}">
                <a16:creationId xmlns:a16="http://schemas.microsoft.com/office/drawing/2014/main" id="{C8940895-1250-8492-54B8-EDEFE19DBA9A}"/>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a:solidFill>
                  <a:schemeClr val="accent1"/>
                </a:solidFill>
              </a:rPr>
              <a:t>Regresión lineal simple</a:t>
            </a:r>
          </a:p>
        </p:txBody>
      </p:sp>
    </p:spTree>
    <p:extLst>
      <p:ext uri="{BB962C8B-B14F-4D97-AF65-F5344CB8AC3E}">
        <p14:creationId xmlns:p14="http://schemas.microsoft.com/office/powerpoint/2010/main" val="654116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3ACCE8-2968-957B-3FF5-2BBB52A12659}"/>
              </a:ext>
            </a:extLst>
          </p:cNvPr>
          <p:cNvSpPr>
            <a:spLocks noGrp="1"/>
          </p:cNvSpPr>
          <p:nvPr>
            <p:ph type="title"/>
          </p:nvPr>
        </p:nvSpPr>
        <p:spPr/>
        <p:txBody>
          <a:bodyPr/>
          <a:lstStyle/>
          <a:p>
            <a:endParaRPr lang="en-US" dirty="0"/>
          </a:p>
        </p:txBody>
      </p:sp>
      <p:sp>
        <p:nvSpPr>
          <p:cNvPr id="3" name="Marcador de contenido 2">
            <a:extLst>
              <a:ext uri="{FF2B5EF4-FFF2-40B4-BE49-F238E27FC236}">
                <a16:creationId xmlns:a16="http://schemas.microsoft.com/office/drawing/2014/main" id="{2FD45536-55DC-24E0-7F18-15ACB0ABE758}"/>
              </a:ext>
            </a:extLst>
          </p:cNvPr>
          <p:cNvSpPr>
            <a:spLocks noGrp="1"/>
          </p:cNvSpPr>
          <p:nvPr>
            <p:ph sz="half" idx="1"/>
          </p:nvPr>
        </p:nvSpPr>
        <p:spPr>
          <a:xfrm>
            <a:off x="543560" y="1959951"/>
            <a:ext cx="5181600" cy="1710055"/>
          </a:xfrm>
        </p:spPr>
        <p:txBody>
          <a:bodyPr>
            <a:normAutofit lnSpcReduction="10000"/>
          </a:bodyPr>
          <a:lstStyle/>
          <a:p>
            <a:r>
              <a:rPr lang="es-419" sz="3200" dirty="0"/>
              <a:t>Generaliza la solución lineal simple para poder hacer uso de mas variables </a:t>
            </a:r>
            <a:r>
              <a:rPr lang="es-419" sz="3200" dirty="0" err="1"/>
              <a:t>regresoras</a:t>
            </a:r>
            <a:r>
              <a:rPr lang="es-419" sz="3200" dirty="0"/>
              <a:t>.</a:t>
            </a:r>
            <a:endParaRPr lang="en-US" sz="3200" dirty="0"/>
          </a:p>
        </p:txBody>
      </p:sp>
      <p:pic>
        <p:nvPicPr>
          <p:cNvPr id="5" name="Google Shape;364;g12d82f9d360_0_112">
            <a:extLst>
              <a:ext uri="{FF2B5EF4-FFF2-40B4-BE49-F238E27FC236}">
                <a16:creationId xmlns:a16="http://schemas.microsoft.com/office/drawing/2014/main" id="{E3DAD6E6-53C3-D87E-F250-B87CD99DA458}"/>
              </a:ext>
            </a:extLst>
          </p:cNvPr>
          <p:cNvPicPr preferRelativeResize="0">
            <a:picLocks noGrp="1"/>
          </p:cNvPicPr>
          <p:nvPr>
            <p:ph sz="half" idx="2"/>
          </p:nvPr>
        </p:nvPicPr>
        <p:blipFill rotWithShape="1">
          <a:blip r:embed="rId2">
            <a:clrChange>
              <a:clrFrom>
                <a:srgbClr val="FFFFFF"/>
              </a:clrFrom>
              <a:clrTo>
                <a:srgbClr val="FFFFFF">
                  <a:alpha val="0"/>
                </a:srgbClr>
              </a:clrTo>
            </a:clrChange>
            <a:alphaModFix/>
          </a:blip>
          <a:srcRect/>
          <a:stretch/>
        </p:blipFill>
        <p:spPr>
          <a:xfrm>
            <a:off x="620086" y="3670006"/>
            <a:ext cx="5735320" cy="2452721"/>
          </a:xfrm>
          <a:prstGeom prst="rect">
            <a:avLst/>
          </a:prstGeom>
          <a:noFill/>
          <a:ln w="9525" cap="flat" cmpd="sng">
            <a:solidFill>
              <a:schemeClr val="lt2"/>
            </a:solidFill>
            <a:prstDash val="solid"/>
            <a:round/>
            <a:headEnd type="none" w="sm" len="sm"/>
            <a:tailEnd type="none" w="sm" len="sm"/>
          </a:ln>
        </p:spPr>
      </p:pic>
      <p:pic>
        <p:nvPicPr>
          <p:cNvPr id="6" name="Google Shape;805;p112">
            <a:extLst>
              <a:ext uri="{FF2B5EF4-FFF2-40B4-BE49-F238E27FC236}">
                <a16:creationId xmlns:a16="http://schemas.microsoft.com/office/drawing/2014/main" id="{CEC07D06-2BF7-BF99-BB6B-BB645512F83B}"/>
              </a:ext>
            </a:extLst>
          </p:cNvPr>
          <p:cNvPicPr preferRelativeResize="0"/>
          <p:nvPr/>
        </p:nvPicPr>
        <p:blipFill>
          <a:blip r:embed="rId3">
            <a:alphaModFix/>
          </a:blip>
          <a:stretch>
            <a:fillRect/>
          </a:stretch>
        </p:blipFill>
        <p:spPr>
          <a:xfrm>
            <a:off x="6530917" y="1959951"/>
            <a:ext cx="5040997" cy="3966494"/>
          </a:xfrm>
          <a:prstGeom prst="rect">
            <a:avLst/>
          </a:prstGeom>
          <a:noFill/>
          <a:ln>
            <a:noFill/>
          </a:ln>
        </p:spPr>
      </p:pic>
      <p:sp>
        <p:nvSpPr>
          <p:cNvPr id="4" name="Título 1">
            <a:extLst>
              <a:ext uri="{FF2B5EF4-FFF2-40B4-BE49-F238E27FC236}">
                <a16:creationId xmlns:a16="http://schemas.microsoft.com/office/drawing/2014/main" id="{A40CDE6A-DEFD-29B2-A8F7-F7A957D9D6F1}"/>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a:solidFill>
                  <a:schemeClr val="accent1"/>
                </a:solidFill>
              </a:rPr>
              <a:t>Regresión lineal </a:t>
            </a:r>
            <a:r>
              <a:rPr lang="es-ES" dirty="0" err="1">
                <a:solidFill>
                  <a:schemeClr val="accent1"/>
                </a:solidFill>
              </a:rPr>
              <a:t>multiple</a:t>
            </a:r>
            <a:endParaRPr lang="es-ES" dirty="0">
              <a:solidFill>
                <a:schemeClr val="accent1"/>
              </a:solidFill>
            </a:endParaRPr>
          </a:p>
        </p:txBody>
      </p:sp>
    </p:spTree>
    <p:extLst>
      <p:ext uri="{BB962C8B-B14F-4D97-AF65-F5344CB8AC3E}">
        <p14:creationId xmlns:p14="http://schemas.microsoft.com/office/powerpoint/2010/main" val="1536418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712C58-AB68-F5E9-5114-998A8723AC2D}"/>
              </a:ext>
            </a:extLst>
          </p:cNvPr>
          <p:cNvSpPr>
            <a:spLocks noGrp="1"/>
          </p:cNvSpPr>
          <p:nvPr>
            <p:ph type="title"/>
          </p:nvPr>
        </p:nvSpPr>
        <p:spPr/>
        <p:txBody>
          <a:bodyPr/>
          <a:lstStyle/>
          <a:p>
            <a:endParaRPr lang="en-US" dirty="0"/>
          </a:p>
        </p:txBody>
      </p:sp>
      <p:sp>
        <p:nvSpPr>
          <p:cNvPr id="3" name="Marcador de contenido 2">
            <a:extLst>
              <a:ext uri="{FF2B5EF4-FFF2-40B4-BE49-F238E27FC236}">
                <a16:creationId xmlns:a16="http://schemas.microsoft.com/office/drawing/2014/main" id="{64ED2E95-0E3C-5F44-5888-F5F18038D9A2}"/>
              </a:ext>
            </a:extLst>
          </p:cNvPr>
          <p:cNvSpPr>
            <a:spLocks noGrp="1"/>
          </p:cNvSpPr>
          <p:nvPr>
            <p:ph sz="half" idx="1"/>
          </p:nvPr>
        </p:nvSpPr>
        <p:spPr>
          <a:xfrm>
            <a:off x="838200" y="1825625"/>
            <a:ext cx="4748868" cy="4351338"/>
          </a:xfrm>
        </p:spPr>
        <p:txBody>
          <a:bodyPr>
            <a:normAutofit/>
          </a:bodyPr>
          <a:lstStyle/>
          <a:p>
            <a:r>
              <a:rPr lang="es" sz="2400" dirty="0">
                <a:solidFill>
                  <a:schemeClr val="dk1"/>
                </a:solidFill>
                <a:latin typeface="DM Sans"/>
                <a:ea typeface="DM Sans"/>
                <a:cs typeface="DM Sans"/>
                <a:sym typeface="DM Sans"/>
              </a:rPr>
              <a:t>P</a:t>
            </a:r>
            <a:r>
              <a:rPr lang="es" sz="2400" b="0" i="0" u="none" strike="noStrike" cap="none" dirty="0">
                <a:solidFill>
                  <a:schemeClr val="dk1"/>
                </a:solidFill>
                <a:latin typeface="DM Sans"/>
                <a:ea typeface="DM Sans"/>
                <a:cs typeface="DM Sans"/>
                <a:sym typeface="DM Sans"/>
              </a:rPr>
              <a:t>uede tomar valores </a:t>
            </a:r>
            <a:r>
              <a:rPr lang="es" sz="2400" b="1" i="0" u="none" strike="noStrike" cap="none" dirty="0">
                <a:solidFill>
                  <a:schemeClr val="dk1"/>
                </a:solidFill>
                <a:latin typeface="DM Sans"/>
                <a:ea typeface="DM Sans"/>
                <a:cs typeface="DM Sans"/>
                <a:sym typeface="DM Sans"/>
              </a:rPr>
              <a:t>entre 0 y 1 </a:t>
            </a:r>
            <a:r>
              <a:rPr lang="es" sz="2400" b="0" i="0" u="none" strike="noStrike" cap="none" dirty="0">
                <a:solidFill>
                  <a:schemeClr val="dk1"/>
                </a:solidFill>
                <a:latin typeface="DM Sans"/>
                <a:ea typeface="DM Sans"/>
                <a:cs typeface="DM Sans"/>
                <a:sym typeface="DM Sans"/>
              </a:rPr>
              <a:t>(interpretación similar al 0% a 100%) representando el </a:t>
            </a:r>
            <a:r>
              <a:rPr lang="es-ES" sz="2400" b="0" i="0" u="none" strike="noStrike" cap="none" dirty="0">
                <a:solidFill>
                  <a:schemeClr val="dk1"/>
                </a:solidFill>
                <a:latin typeface="DM Sans"/>
                <a:ea typeface="DM Sans"/>
                <a:cs typeface="DM Sans"/>
                <a:sym typeface="DM Sans"/>
              </a:rPr>
              <a:t>porcentaje de variabilidad de los datos explicada por el modelo de regresión lineal siendo que </a:t>
            </a:r>
            <a:r>
              <a:rPr lang="es" sz="2400" b="1" i="0" u="none" strike="noStrike" cap="none" dirty="0">
                <a:solidFill>
                  <a:schemeClr val="dk1"/>
                </a:solidFill>
                <a:latin typeface="DM Sans"/>
                <a:ea typeface="DM Sans"/>
                <a:cs typeface="DM Sans"/>
                <a:sym typeface="DM Sans"/>
              </a:rPr>
              <a:t>un modelo que funcione bien será el que mejor explique la variabilidad de los datos</a:t>
            </a:r>
            <a:endParaRPr lang="en-US" sz="2400" dirty="0"/>
          </a:p>
        </p:txBody>
      </p:sp>
      <p:pic>
        <p:nvPicPr>
          <p:cNvPr id="5" name="Google Shape;471;p61">
            <a:extLst>
              <a:ext uri="{FF2B5EF4-FFF2-40B4-BE49-F238E27FC236}">
                <a16:creationId xmlns:a16="http://schemas.microsoft.com/office/drawing/2014/main" id="{C6AE4572-0480-A234-7E28-F8CC85643DCE}"/>
              </a:ext>
            </a:extLst>
          </p:cNvPr>
          <p:cNvPicPr preferRelativeResize="0">
            <a:picLocks noGrp="1"/>
          </p:cNvPicPr>
          <p:nvPr>
            <p:ph sz="half" idx="2"/>
          </p:nvPr>
        </p:nvPicPr>
        <p:blipFill rotWithShape="1">
          <a:blip r:embed="rId2">
            <a:alphaModFix/>
          </a:blip>
          <a:srcRect/>
          <a:stretch/>
        </p:blipFill>
        <p:spPr>
          <a:xfrm>
            <a:off x="6505575" y="2991644"/>
            <a:ext cx="4514850" cy="2019300"/>
          </a:xfrm>
          <a:prstGeom prst="rect">
            <a:avLst/>
          </a:prstGeom>
          <a:noFill/>
          <a:ln w="9525" cap="flat" cmpd="sng">
            <a:solidFill>
              <a:schemeClr val="lt2"/>
            </a:solidFill>
            <a:prstDash val="solid"/>
            <a:round/>
            <a:headEnd type="none" w="sm" len="sm"/>
            <a:tailEnd type="none" w="sm" len="sm"/>
          </a:ln>
        </p:spPr>
      </p:pic>
      <p:sp>
        <p:nvSpPr>
          <p:cNvPr id="4" name="Título 1">
            <a:extLst>
              <a:ext uri="{FF2B5EF4-FFF2-40B4-BE49-F238E27FC236}">
                <a16:creationId xmlns:a16="http://schemas.microsoft.com/office/drawing/2014/main" id="{0A052674-0289-6C50-715D-9688AFAEBCF3}"/>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a:solidFill>
                  <a:schemeClr val="accent1"/>
                </a:solidFill>
              </a:rPr>
              <a:t>R2 : Coeficiente de </a:t>
            </a:r>
            <a:r>
              <a:rPr lang="es-ES" dirty="0" err="1">
                <a:solidFill>
                  <a:schemeClr val="accent1"/>
                </a:solidFill>
              </a:rPr>
              <a:t>determinacion</a:t>
            </a:r>
            <a:endParaRPr lang="es-ES" dirty="0">
              <a:solidFill>
                <a:schemeClr val="accent1"/>
              </a:solidFill>
            </a:endParaRPr>
          </a:p>
        </p:txBody>
      </p:sp>
    </p:spTree>
    <p:extLst>
      <p:ext uri="{BB962C8B-B14F-4D97-AF65-F5344CB8AC3E}">
        <p14:creationId xmlns:p14="http://schemas.microsoft.com/office/powerpoint/2010/main" val="1872727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5DFAF1-4F42-A274-BC29-955DD103F8AE}"/>
              </a:ext>
            </a:extLst>
          </p:cNvPr>
          <p:cNvSpPr>
            <a:spLocks noGrp="1"/>
          </p:cNvSpPr>
          <p:nvPr>
            <p:ph type="title"/>
          </p:nvPr>
        </p:nvSpPr>
        <p:spPr/>
        <p:txBody>
          <a:bodyPr/>
          <a:lstStyle/>
          <a:p>
            <a:endParaRPr lang="en-US" dirty="0"/>
          </a:p>
        </p:txBody>
      </p:sp>
      <p:sp>
        <p:nvSpPr>
          <p:cNvPr id="3" name="Marcador de contenido 2">
            <a:extLst>
              <a:ext uri="{FF2B5EF4-FFF2-40B4-BE49-F238E27FC236}">
                <a16:creationId xmlns:a16="http://schemas.microsoft.com/office/drawing/2014/main" id="{2AB6EFD7-D4E9-C8AB-3B48-A7CB94E4E652}"/>
              </a:ext>
            </a:extLst>
          </p:cNvPr>
          <p:cNvSpPr>
            <a:spLocks noGrp="1"/>
          </p:cNvSpPr>
          <p:nvPr>
            <p:ph sz="half" idx="1"/>
          </p:nvPr>
        </p:nvSpPr>
        <p:spPr/>
        <p:txBody>
          <a:bodyPr/>
          <a:lstStyle/>
          <a:p>
            <a:r>
              <a:rPr lang="es-ES" sz="2000" b="0" i="0" u="none" strike="noStrike" cap="none" dirty="0">
                <a:solidFill>
                  <a:schemeClr val="dk1"/>
                </a:solidFill>
                <a:latin typeface="DM Sans"/>
                <a:ea typeface="DM Sans"/>
                <a:cs typeface="DM Sans"/>
                <a:sym typeface="DM Sans"/>
              </a:rPr>
              <a:t>Conjunto de puntos que tiene una </a:t>
            </a:r>
            <a:r>
              <a:rPr lang="es-ES" sz="2000" b="1" i="0" u="none" strike="noStrike" cap="none" dirty="0">
                <a:solidFill>
                  <a:schemeClr val="dk1"/>
                </a:solidFill>
                <a:latin typeface="DM Sans"/>
                <a:ea typeface="DM Sans"/>
                <a:cs typeface="DM Sans"/>
                <a:sym typeface="DM Sans"/>
              </a:rPr>
              <a:t>recta de ajuste que parece funcionar muy bien</a:t>
            </a:r>
            <a:r>
              <a:rPr lang="es-ES" sz="2000" b="0" i="0" u="none" strike="noStrike" cap="none" dirty="0">
                <a:solidFill>
                  <a:schemeClr val="dk1"/>
                </a:solidFill>
                <a:latin typeface="DM Sans"/>
                <a:ea typeface="DM Sans"/>
                <a:cs typeface="DM Sans"/>
                <a:sym typeface="DM Sans"/>
              </a:rPr>
              <a:t>, por cuanto pasa bastante bien por el “centro” de los datos.</a:t>
            </a:r>
          </a:p>
          <a:p>
            <a:endParaRPr lang="en-US" dirty="0"/>
          </a:p>
        </p:txBody>
      </p:sp>
      <p:sp>
        <p:nvSpPr>
          <p:cNvPr id="4" name="Marcador de contenido 3">
            <a:extLst>
              <a:ext uri="{FF2B5EF4-FFF2-40B4-BE49-F238E27FC236}">
                <a16:creationId xmlns:a16="http://schemas.microsoft.com/office/drawing/2014/main" id="{E806E204-D04A-E8AE-ABF2-085907499054}"/>
              </a:ext>
            </a:extLst>
          </p:cNvPr>
          <p:cNvSpPr>
            <a:spLocks noGrp="1"/>
          </p:cNvSpPr>
          <p:nvPr>
            <p:ph sz="half" idx="2"/>
          </p:nvPr>
        </p:nvSpPr>
        <p:spPr/>
        <p:txBody>
          <a:bodyPr/>
          <a:lstStyle/>
          <a:p>
            <a:r>
              <a:rPr lang="es-ES" sz="2000" b="0" i="0" u="none" strike="noStrike" cap="none" dirty="0">
                <a:solidFill>
                  <a:schemeClr val="dk1"/>
                </a:solidFill>
                <a:latin typeface="DM Sans"/>
                <a:ea typeface="DM Sans"/>
                <a:cs typeface="DM Sans"/>
                <a:sym typeface="DM Sans"/>
              </a:rPr>
              <a:t>Conjunto de datos </a:t>
            </a:r>
            <a:r>
              <a:rPr lang="es-ES" sz="2000" b="1" i="0" u="none" strike="noStrike" cap="none" dirty="0">
                <a:solidFill>
                  <a:schemeClr val="dk1"/>
                </a:solidFill>
                <a:latin typeface="DM Sans"/>
                <a:ea typeface="DM Sans"/>
                <a:cs typeface="DM Sans"/>
                <a:sym typeface="DM Sans"/>
              </a:rPr>
              <a:t>no parece ser lo más conveniente utilizar una recta </a:t>
            </a:r>
            <a:r>
              <a:rPr lang="es-ES" sz="2000" b="0" i="0" u="none" strike="noStrike" cap="none" dirty="0">
                <a:solidFill>
                  <a:schemeClr val="dk1"/>
                </a:solidFill>
                <a:latin typeface="DM Sans"/>
                <a:ea typeface="DM Sans"/>
                <a:cs typeface="DM Sans"/>
                <a:sym typeface="DM Sans"/>
              </a:rPr>
              <a:t>para representar los puntos.</a:t>
            </a:r>
          </a:p>
          <a:p>
            <a:endParaRPr lang="en-US" dirty="0"/>
          </a:p>
        </p:txBody>
      </p:sp>
      <p:pic>
        <p:nvPicPr>
          <p:cNvPr id="5" name="Google Shape;486;g12df8c1a598_0_113">
            <a:extLst>
              <a:ext uri="{FF2B5EF4-FFF2-40B4-BE49-F238E27FC236}">
                <a16:creationId xmlns:a16="http://schemas.microsoft.com/office/drawing/2014/main" id="{60957213-3F62-5B4A-8C19-3672C681B9C3}"/>
              </a:ext>
            </a:extLst>
          </p:cNvPr>
          <p:cNvPicPr preferRelativeResize="0"/>
          <p:nvPr/>
        </p:nvPicPr>
        <p:blipFill rotWithShape="1">
          <a:blip r:embed="rId2">
            <a:alphaModFix/>
          </a:blip>
          <a:srcRect/>
          <a:stretch/>
        </p:blipFill>
        <p:spPr>
          <a:xfrm>
            <a:off x="1191952" y="3154261"/>
            <a:ext cx="4193780" cy="2468551"/>
          </a:xfrm>
          <a:prstGeom prst="rect">
            <a:avLst/>
          </a:prstGeom>
          <a:noFill/>
          <a:ln w="19050" cap="flat" cmpd="sng">
            <a:solidFill>
              <a:srgbClr val="595959"/>
            </a:solidFill>
            <a:prstDash val="solid"/>
            <a:round/>
            <a:headEnd type="none" w="sm" len="sm"/>
            <a:tailEnd type="none" w="sm" len="sm"/>
          </a:ln>
        </p:spPr>
      </p:pic>
      <p:pic>
        <p:nvPicPr>
          <p:cNvPr id="6" name="Google Shape;487;g12df8c1a598_0_113">
            <a:extLst>
              <a:ext uri="{FF2B5EF4-FFF2-40B4-BE49-F238E27FC236}">
                <a16:creationId xmlns:a16="http://schemas.microsoft.com/office/drawing/2014/main" id="{423E6330-A809-A95D-2C6A-908E7D887EF8}"/>
              </a:ext>
            </a:extLst>
          </p:cNvPr>
          <p:cNvPicPr preferRelativeResize="0"/>
          <p:nvPr/>
        </p:nvPicPr>
        <p:blipFill rotWithShape="1">
          <a:blip r:embed="rId3">
            <a:alphaModFix/>
          </a:blip>
          <a:srcRect/>
          <a:stretch/>
        </p:blipFill>
        <p:spPr>
          <a:xfrm>
            <a:off x="6373552" y="3154261"/>
            <a:ext cx="4565692" cy="2468551"/>
          </a:xfrm>
          <a:prstGeom prst="rect">
            <a:avLst/>
          </a:prstGeom>
          <a:noFill/>
          <a:ln w="19050" cap="flat" cmpd="sng">
            <a:solidFill>
              <a:srgbClr val="595959"/>
            </a:solidFill>
            <a:prstDash val="solid"/>
            <a:round/>
            <a:headEnd type="none" w="sm" len="sm"/>
            <a:tailEnd type="none" w="sm" len="sm"/>
          </a:ln>
        </p:spPr>
      </p:pic>
      <p:sp>
        <p:nvSpPr>
          <p:cNvPr id="7" name="Título 1">
            <a:extLst>
              <a:ext uri="{FF2B5EF4-FFF2-40B4-BE49-F238E27FC236}">
                <a16:creationId xmlns:a16="http://schemas.microsoft.com/office/drawing/2014/main" id="{67817036-71EE-878A-E4DC-5A18E17FC0E0}"/>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a:solidFill>
                  <a:schemeClr val="accent1"/>
                </a:solidFill>
              </a:rPr>
              <a:t>Ejemplo</a:t>
            </a:r>
          </a:p>
        </p:txBody>
      </p:sp>
    </p:spTree>
    <p:extLst>
      <p:ext uri="{BB962C8B-B14F-4D97-AF65-F5344CB8AC3E}">
        <p14:creationId xmlns:p14="http://schemas.microsoft.com/office/powerpoint/2010/main" val="26237190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049FDF-7AA0-ED98-83D8-DFAA9AFBFA57}"/>
              </a:ext>
            </a:extLst>
          </p:cNvPr>
          <p:cNvSpPr>
            <a:spLocks noGrp="1"/>
          </p:cNvSpPr>
          <p:nvPr>
            <p:ph type="title"/>
          </p:nvPr>
        </p:nvSpPr>
        <p:spPr/>
        <p:txBody>
          <a:bodyPr/>
          <a:lstStyle/>
          <a:p>
            <a:endParaRPr lang="en-US" dirty="0"/>
          </a:p>
        </p:txBody>
      </p:sp>
      <p:graphicFrame>
        <p:nvGraphicFramePr>
          <p:cNvPr id="6" name="Google Shape;494;g12df8c1a598_0_123">
            <a:extLst>
              <a:ext uri="{FF2B5EF4-FFF2-40B4-BE49-F238E27FC236}">
                <a16:creationId xmlns:a16="http://schemas.microsoft.com/office/drawing/2014/main" id="{45DD67BA-B6C6-35B4-50A3-42E0FBADBB76}"/>
              </a:ext>
            </a:extLst>
          </p:cNvPr>
          <p:cNvGraphicFramePr/>
          <p:nvPr/>
        </p:nvGraphicFramePr>
        <p:xfrm>
          <a:off x="1836026" y="2642533"/>
          <a:ext cx="8885100" cy="2977337"/>
        </p:xfrm>
        <a:graphic>
          <a:graphicData uri="http://schemas.openxmlformats.org/drawingml/2006/table">
            <a:tbl>
              <a:tblPr>
                <a:noFill/>
              </a:tblPr>
              <a:tblGrid>
                <a:gridCol w="888510">
                  <a:extLst>
                    <a:ext uri="{9D8B030D-6E8A-4147-A177-3AD203B41FA5}">
                      <a16:colId xmlns:a16="http://schemas.microsoft.com/office/drawing/2014/main" val="20000"/>
                    </a:ext>
                  </a:extLst>
                </a:gridCol>
                <a:gridCol w="888510">
                  <a:extLst>
                    <a:ext uri="{9D8B030D-6E8A-4147-A177-3AD203B41FA5}">
                      <a16:colId xmlns:a16="http://schemas.microsoft.com/office/drawing/2014/main" val="20001"/>
                    </a:ext>
                  </a:extLst>
                </a:gridCol>
                <a:gridCol w="888510">
                  <a:extLst>
                    <a:ext uri="{9D8B030D-6E8A-4147-A177-3AD203B41FA5}">
                      <a16:colId xmlns:a16="http://schemas.microsoft.com/office/drawing/2014/main" val="20002"/>
                    </a:ext>
                  </a:extLst>
                </a:gridCol>
                <a:gridCol w="888510">
                  <a:extLst>
                    <a:ext uri="{9D8B030D-6E8A-4147-A177-3AD203B41FA5}">
                      <a16:colId xmlns:a16="http://schemas.microsoft.com/office/drawing/2014/main" val="20003"/>
                    </a:ext>
                  </a:extLst>
                </a:gridCol>
                <a:gridCol w="888510">
                  <a:extLst>
                    <a:ext uri="{9D8B030D-6E8A-4147-A177-3AD203B41FA5}">
                      <a16:colId xmlns:a16="http://schemas.microsoft.com/office/drawing/2014/main" val="20004"/>
                    </a:ext>
                  </a:extLst>
                </a:gridCol>
                <a:gridCol w="888510">
                  <a:extLst>
                    <a:ext uri="{9D8B030D-6E8A-4147-A177-3AD203B41FA5}">
                      <a16:colId xmlns:a16="http://schemas.microsoft.com/office/drawing/2014/main" val="20005"/>
                    </a:ext>
                  </a:extLst>
                </a:gridCol>
                <a:gridCol w="888510">
                  <a:extLst>
                    <a:ext uri="{9D8B030D-6E8A-4147-A177-3AD203B41FA5}">
                      <a16:colId xmlns:a16="http://schemas.microsoft.com/office/drawing/2014/main" val="20006"/>
                    </a:ext>
                  </a:extLst>
                </a:gridCol>
                <a:gridCol w="888510">
                  <a:extLst>
                    <a:ext uri="{9D8B030D-6E8A-4147-A177-3AD203B41FA5}">
                      <a16:colId xmlns:a16="http://schemas.microsoft.com/office/drawing/2014/main" val="20007"/>
                    </a:ext>
                  </a:extLst>
                </a:gridCol>
                <a:gridCol w="888510">
                  <a:extLst>
                    <a:ext uri="{9D8B030D-6E8A-4147-A177-3AD203B41FA5}">
                      <a16:colId xmlns:a16="http://schemas.microsoft.com/office/drawing/2014/main" val="20008"/>
                    </a:ext>
                  </a:extLst>
                </a:gridCol>
                <a:gridCol w="888510">
                  <a:extLst>
                    <a:ext uri="{9D8B030D-6E8A-4147-A177-3AD203B41FA5}">
                      <a16:colId xmlns:a16="http://schemas.microsoft.com/office/drawing/2014/main" val="20009"/>
                    </a:ext>
                  </a:extLst>
                </a:gridCol>
              </a:tblGrid>
              <a:tr h="428990">
                <a:tc>
                  <a:txBody>
                    <a:bodyPr/>
                    <a:lstStyle/>
                    <a:p>
                      <a:pPr marL="0" marR="0" lvl="0" indent="0" algn="ctr" rtl="0">
                        <a:lnSpc>
                          <a:spcPct val="115000"/>
                        </a:lnSpc>
                        <a:spcBef>
                          <a:spcPts val="0"/>
                        </a:spcBef>
                        <a:spcAft>
                          <a:spcPts val="0"/>
                        </a:spcAft>
                        <a:buClr>
                          <a:srgbClr val="000000"/>
                        </a:buClr>
                        <a:buSzPts val="800"/>
                        <a:buFont typeface="Arial"/>
                        <a:buNone/>
                      </a:pPr>
                      <a:r>
                        <a:rPr lang="es" sz="800" b="1" u="none" strike="noStrike" cap="none" baseline="0"/>
                        <a:t>Caso 1</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BDBDBD"/>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b="1" u="none" strike="noStrike" cap="none" baseline="0">
                          <a:solidFill>
                            <a:srgbClr val="212121"/>
                          </a:solidFill>
                          <a:latin typeface="Roboto"/>
                          <a:ea typeface="Roboto"/>
                          <a:cs typeface="Roboto"/>
                          <a:sym typeface="Roboto"/>
                        </a:rPr>
                        <a:t>names</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BDBDBD"/>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b="1" u="none" strike="noStrike" cap="none" baseline="0">
                          <a:solidFill>
                            <a:srgbClr val="212121"/>
                          </a:solidFill>
                          <a:latin typeface="Roboto"/>
                          <a:ea typeface="Roboto"/>
                          <a:cs typeface="Roboto"/>
                          <a:sym typeface="Roboto"/>
                        </a:rPr>
                        <a:t>coef</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BDBDBD"/>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b="1" u="none" strike="noStrike" cap="none" baseline="0">
                          <a:solidFill>
                            <a:srgbClr val="212121"/>
                          </a:solidFill>
                          <a:latin typeface="Roboto"/>
                          <a:ea typeface="Roboto"/>
                          <a:cs typeface="Roboto"/>
                          <a:sym typeface="Roboto"/>
                        </a:rPr>
                        <a:t>se</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BDBDBD"/>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b="1" u="none" strike="noStrike" cap="none" baseline="0">
                          <a:solidFill>
                            <a:srgbClr val="212121"/>
                          </a:solidFill>
                          <a:latin typeface="Roboto"/>
                          <a:ea typeface="Roboto"/>
                          <a:cs typeface="Roboto"/>
                          <a:sym typeface="Roboto"/>
                        </a:rPr>
                        <a:t>T</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BDBDBD"/>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b="1" u="none" strike="noStrike" cap="none" baseline="0">
                          <a:solidFill>
                            <a:srgbClr val="212121"/>
                          </a:solidFill>
                          <a:latin typeface="Roboto"/>
                          <a:ea typeface="Roboto"/>
                          <a:cs typeface="Roboto"/>
                          <a:sym typeface="Roboto"/>
                        </a:rPr>
                        <a:t>pval</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BDBDBD"/>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b="1" u="none" strike="noStrike" cap="none" baseline="0">
                          <a:solidFill>
                            <a:srgbClr val="212121"/>
                          </a:solidFill>
                          <a:latin typeface="Roboto"/>
                          <a:ea typeface="Roboto"/>
                          <a:cs typeface="Roboto"/>
                          <a:sym typeface="Roboto"/>
                        </a:rPr>
                        <a:t>r2</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BDBDBD"/>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b="1" u="none" strike="noStrike" cap="none" baseline="0">
                          <a:solidFill>
                            <a:srgbClr val="212121"/>
                          </a:solidFill>
                          <a:latin typeface="Roboto"/>
                          <a:ea typeface="Roboto"/>
                          <a:cs typeface="Roboto"/>
                          <a:sym typeface="Roboto"/>
                        </a:rPr>
                        <a:t>adj_r2</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BDBDBD"/>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b="1" u="none" strike="noStrike" cap="none" baseline="0">
                          <a:solidFill>
                            <a:srgbClr val="212121"/>
                          </a:solidFill>
                          <a:latin typeface="Roboto"/>
                          <a:ea typeface="Roboto"/>
                          <a:cs typeface="Roboto"/>
                          <a:sym typeface="Roboto"/>
                        </a:rPr>
                        <a:t>CI[2.5%]</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BDBDBD"/>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b="1" u="none" strike="noStrike" cap="none" baseline="0">
                          <a:solidFill>
                            <a:srgbClr val="212121"/>
                          </a:solidFill>
                          <a:latin typeface="Roboto"/>
                          <a:ea typeface="Roboto"/>
                          <a:cs typeface="Roboto"/>
                          <a:sym typeface="Roboto"/>
                        </a:rPr>
                        <a:t>CI[97.5%]</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BDBDBD"/>
                    </a:solidFill>
                  </a:tcPr>
                </a:tc>
                <a:extLst>
                  <a:ext uri="{0D108BD9-81ED-4DB2-BD59-A6C34878D82A}">
                    <a16:rowId xmlns:a16="http://schemas.microsoft.com/office/drawing/2014/main" val="10000"/>
                  </a:ext>
                </a:extLst>
              </a:tr>
              <a:tr h="428990">
                <a:tc>
                  <a:txBody>
                    <a:bodyPr/>
                    <a:lstStyle/>
                    <a:p>
                      <a:pPr marL="0" marR="0" lvl="0" indent="0" algn="ctr" rtl="0">
                        <a:lnSpc>
                          <a:spcPct val="115000"/>
                        </a:lnSpc>
                        <a:spcBef>
                          <a:spcPts val="0"/>
                        </a:spcBef>
                        <a:spcAft>
                          <a:spcPts val="0"/>
                        </a:spcAft>
                        <a:buClr>
                          <a:srgbClr val="000000"/>
                        </a:buClr>
                        <a:buSzPts val="900"/>
                        <a:buFont typeface="Arial"/>
                        <a:buNone/>
                      </a:pPr>
                      <a:r>
                        <a:rPr lang="es" sz="900" b="1" u="none" strike="noStrike" cap="none" baseline="0">
                          <a:solidFill>
                            <a:srgbClr val="212121"/>
                          </a:solidFill>
                          <a:latin typeface="Roboto"/>
                          <a:ea typeface="Roboto"/>
                          <a:cs typeface="Roboto"/>
                          <a:sym typeface="Roboto"/>
                        </a:rPr>
                        <a:t>0</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FFFF"/>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Intercept</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FFFF"/>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7.94</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FFFF"/>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4.65</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FFFF"/>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1.71</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FFFF"/>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0.09</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FFFF"/>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0.94</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0.94</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FFFF"/>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-1.22</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FFFF"/>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17.10</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28990">
                <a:tc>
                  <a:txBody>
                    <a:bodyPr/>
                    <a:lstStyle/>
                    <a:p>
                      <a:pPr marL="0" marR="0" lvl="0" indent="0" algn="ctr" rtl="0">
                        <a:lnSpc>
                          <a:spcPct val="115000"/>
                        </a:lnSpc>
                        <a:spcBef>
                          <a:spcPts val="0"/>
                        </a:spcBef>
                        <a:spcAft>
                          <a:spcPts val="0"/>
                        </a:spcAft>
                        <a:buClr>
                          <a:srgbClr val="000000"/>
                        </a:buClr>
                        <a:buSzPts val="900"/>
                        <a:buFont typeface="Arial"/>
                        <a:buNone/>
                      </a:pPr>
                      <a:r>
                        <a:rPr lang="es" sz="900" b="1" u="none" strike="noStrike" cap="none" baseline="0">
                          <a:solidFill>
                            <a:srgbClr val="212121"/>
                          </a:solidFill>
                          <a:latin typeface="Roboto"/>
                          <a:ea typeface="Roboto"/>
                          <a:cs typeface="Roboto"/>
                          <a:sym typeface="Roboto"/>
                        </a:rPr>
                        <a:t>1</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x1</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0.68</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0.01</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58.94</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0.00</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0.94</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A90FF"/>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0.94</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0.66</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0.71</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403397">
                <a:tc>
                  <a:txBody>
                    <a:bodyPr/>
                    <a:lstStyle/>
                    <a:p>
                      <a:pPr marL="0" marR="0" lvl="0" indent="0" algn="l" rtl="0">
                        <a:lnSpc>
                          <a:spcPct val="115000"/>
                        </a:lnSpc>
                        <a:spcBef>
                          <a:spcPts val="0"/>
                        </a:spcBef>
                        <a:spcAft>
                          <a:spcPts val="0"/>
                        </a:spcAft>
                        <a:buClr>
                          <a:srgbClr val="000000"/>
                        </a:buClr>
                        <a:buSzPts val="800"/>
                        <a:buFont typeface="Arial"/>
                        <a:buNone/>
                      </a:pP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800"/>
                        <a:buFont typeface="Arial"/>
                        <a:buNone/>
                      </a:pP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800"/>
                        <a:buFont typeface="Arial"/>
                        <a:buNone/>
                      </a:pP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800"/>
                        <a:buFont typeface="Arial"/>
                        <a:buNone/>
                      </a:pP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800"/>
                        <a:buFont typeface="Arial"/>
                        <a:buNone/>
                      </a:pP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800"/>
                        <a:buFont typeface="Arial"/>
                        <a:buNone/>
                      </a:pP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800"/>
                        <a:buFont typeface="Arial"/>
                        <a:buNone/>
                      </a:pP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800"/>
                        <a:buFont typeface="Arial"/>
                        <a:buNone/>
                      </a:pP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800"/>
                        <a:buFont typeface="Arial"/>
                        <a:buNone/>
                      </a:pP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800"/>
                        <a:buFont typeface="Arial"/>
                        <a:buNone/>
                      </a:pP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428990">
                <a:tc>
                  <a:txBody>
                    <a:bodyPr/>
                    <a:lstStyle/>
                    <a:p>
                      <a:pPr marL="0" marR="0" lvl="0" indent="0" algn="ctr" rtl="0">
                        <a:lnSpc>
                          <a:spcPct val="115000"/>
                        </a:lnSpc>
                        <a:spcBef>
                          <a:spcPts val="0"/>
                        </a:spcBef>
                        <a:spcAft>
                          <a:spcPts val="0"/>
                        </a:spcAft>
                        <a:buClr>
                          <a:srgbClr val="000000"/>
                        </a:buClr>
                        <a:buSzPts val="800"/>
                        <a:buFont typeface="Arial"/>
                        <a:buNone/>
                      </a:pPr>
                      <a:r>
                        <a:rPr lang="es" sz="800" b="1" u="none" strike="noStrike" cap="none" baseline="0"/>
                        <a:t>Caso 2</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BDBDBD"/>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b="1" u="none" strike="noStrike" cap="none" baseline="0">
                          <a:solidFill>
                            <a:srgbClr val="212121"/>
                          </a:solidFill>
                          <a:latin typeface="Roboto"/>
                          <a:ea typeface="Roboto"/>
                          <a:cs typeface="Roboto"/>
                          <a:sym typeface="Roboto"/>
                        </a:rPr>
                        <a:t>names</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BDBDBD"/>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b="1" u="none" strike="noStrike" cap="none" baseline="0">
                          <a:solidFill>
                            <a:srgbClr val="212121"/>
                          </a:solidFill>
                          <a:latin typeface="Roboto"/>
                          <a:ea typeface="Roboto"/>
                          <a:cs typeface="Roboto"/>
                          <a:sym typeface="Roboto"/>
                        </a:rPr>
                        <a:t>coef</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BDBDBD"/>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b="1" u="none" strike="noStrike" cap="none" baseline="0">
                          <a:solidFill>
                            <a:srgbClr val="212121"/>
                          </a:solidFill>
                          <a:latin typeface="Roboto"/>
                          <a:ea typeface="Roboto"/>
                          <a:cs typeface="Roboto"/>
                          <a:sym typeface="Roboto"/>
                        </a:rPr>
                        <a:t>se</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BDBDBD"/>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b="1" u="none" strike="noStrike" cap="none" baseline="0">
                          <a:solidFill>
                            <a:srgbClr val="212121"/>
                          </a:solidFill>
                          <a:latin typeface="Roboto"/>
                          <a:ea typeface="Roboto"/>
                          <a:cs typeface="Roboto"/>
                          <a:sym typeface="Roboto"/>
                        </a:rPr>
                        <a:t>T</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BDBDBD"/>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b="1" u="none" strike="noStrike" cap="none" baseline="0">
                          <a:solidFill>
                            <a:srgbClr val="212121"/>
                          </a:solidFill>
                          <a:latin typeface="Roboto"/>
                          <a:ea typeface="Roboto"/>
                          <a:cs typeface="Roboto"/>
                          <a:sym typeface="Roboto"/>
                        </a:rPr>
                        <a:t>pval</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BDBDBD"/>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b="1" u="none" strike="noStrike" cap="none" baseline="0">
                          <a:solidFill>
                            <a:srgbClr val="212121"/>
                          </a:solidFill>
                          <a:latin typeface="Roboto"/>
                          <a:ea typeface="Roboto"/>
                          <a:cs typeface="Roboto"/>
                          <a:sym typeface="Roboto"/>
                        </a:rPr>
                        <a:t>r2</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BDBDBD"/>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b="1" u="none" strike="noStrike" cap="none" baseline="0">
                          <a:solidFill>
                            <a:srgbClr val="212121"/>
                          </a:solidFill>
                          <a:latin typeface="Roboto"/>
                          <a:ea typeface="Roboto"/>
                          <a:cs typeface="Roboto"/>
                          <a:sym typeface="Roboto"/>
                        </a:rPr>
                        <a:t>adj_r2</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BDBDBD"/>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b="1" u="none" strike="noStrike" cap="none" baseline="0">
                          <a:solidFill>
                            <a:srgbClr val="212121"/>
                          </a:solidFill>
                          <a:latin typeface="Roboto"/>
                          <a:ea typeface="Roboto"/>
                          <a:cs typeface="Roboto"/>
                          <a:sym typeface="Roboto"/>
                        </a:rPr>
                        <a:t>CI[2.5%]</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BDBDBD"/>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b="1" u="none" strike="noStrike" cap="none" baseline="0">
                          <a:solidFill>
                            <a:srgbClr val="212121"/>
                          </a:solidFill>
                          <a:latin typeface="Roboto"/>
                          <a:ea typeface="Roboto"/>
                          <a:cs typeface="Roboto"/>
                          <a:sym typeface="Roboto"/>
                        </a:rPr>
                        <a:t>CI[97.5%]</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BDBDBD"/>
                    </a:solidFill>
                  </a:tcPr>
                </a:tc>
                <a:extLst>
                  <a:ext uri="{0D108BD9-81ED-4DB2-BD59-A6C34878D82A}">
                    <a16:rowId xmlns:a16="http://schemas.microsoft.com/office/drawing/2014/main" val="10004"/>
                  </a:ext>
                </a:extLst>
              </a:tr>
              <a:tr h="428990">
                <a:tc>
                  <a:txBody>
                    <a:bodyPr/>
                    <a:lstStyle/>
                    <a:p>
                      <a:pPr marL="0" marR="0" lvl="0" indent="0" algn="ctr" rtl="0">
                        <a:lnSpc>
                          <a:spcPct val="115000"/>
                        </a:lnSpc>
                        <a:spcBef>
                          <a:spcPts val="0"/>
                        </a:spcBef>
                        <a:spcAft>
                          <a:spcPts val="0"/>
                        </a:spcAft>
                        <a:buClr>
                          <a:srgbClr val="000000"/>
                        </a:buClr>
                        <a:buSzPts val="900"/>
                        <a:buFont typeface="Arial"/>
                        <a:buNone/>
                      </a:pPr>
                      <a:r>
                        <a:rPr lang="es" sz="900" b="1" u="none" strike="noStrike" cap="none" baseline="0">
                          <a:solidFill>
                            <a:srgbClr val="212121"/>
                          </a:solidFill>
                          <a:latin typeface="Roboto"/>
                          <a:ea typeface="Roboto"/>
                          <a:cs typeface="Roboto"/>
                          <a:sym typeface="Roboto"/>
                        </a:rPr>
                        <a:t>0</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FFFF"/>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Intercept</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FFFF"/>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251.70</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FFFF"/>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4.53</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FFFF"/>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55.59</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FFFF"/>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0.00</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FFFF"/>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0.01</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FFFF"/>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0.0</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FFFF"/>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242.77</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FFFF"/>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260.63</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28990">
                <a:tc>
                  <a:txBody>
                    <a:bodyPr/>
                    <a:lstStyle/>
                    <a:p>
                      <a:pPr marL="0" marR="0" lvl="0" indent="0" algn="ctr" rtl="0">
                        <a:lnSpc>
                          <a:spcPct val="115000"/>
                        </a:lnSpc>
                        <a:spcBef>
                          <a:spcPts val="0"/>
                        </a:spcBef>
                        <a:spcAft>
                          <a:spcPts val="0"/>
                        </a:spcAft>
                        <a:buClr>
                          <a:srgbClr val="000000"/>
                        </a:buClr>
                        <a:buSzPts val="900"/>
                        <a:buFont typeface="Arial"/>
                        <a:buNone/>
                      </a:pPr>
                      <a:r>
                        <a:rPr lang="es" sz="900" b="1" u="none" strike="noStrike" cap="none" baseline="0">
                          <a:solidFill>
                            <a:srgbClr val="212121"/>
                          </a:solidFill>
                          <a:latin typeface="Roboto"/>
                          <a:ea typeface="Roboto"/>
                          <a:cs typeface="Roboto"/>
                          <a:sym typeface="Roboto"/>
                        </a:rPr>
                        <a:t>1</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x1</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-0.01</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0.01</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-1.02</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0.31</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0.01</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A90FF"/>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0.0</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a:solidFill>
                            <a:srgbClr val="212121"/>
                          </a:solidFill>
                          <a:latin typeface="Roboto"/>
                          <a:ea typeface="Roboto"/>
                          <a:cs typeface="Roboto"/>
                          <a:sym typeface="Roboto"/>
                        </a:rPr>
                        <a:t>-0.03</a:t>
                      </a:r>
                      <a:endParaRPr sz="800" u="none" strike="noStrike" cap="none" baseline="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900"/>
                        <a:buFont typeface="Arial"/>
                        <a:buNone/>
                      </a:pPr>
                      <a:r>
                        <a:rPr lang="es" sz="900" u="none" strike="noStrike" cap="none" baseline="0" dirty="0">
                          <a:solidFill>
                            <a:srgbClr val="212121"/>
                          </a:solidFill>
                          <a:latin typeface="Roboto"/>
                          <a:ea typeface="Roboto"/>
                          <a:cs typeface="Roboto"/>
                          <a:sym typeface="Roboto"/>
                        </a:rPr>
                        <a:t>0.01</a:t>
                      </a:r>
                      <a:endParaRPr sz="800" u="none" strike="noStrike" cap="none" baseline="0" dirty="0"/>
                    </a:p>
                  </a:txBody>
                  <a:tcPr marL="25400" marR="25400" marT="25400" marB="2540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10" name="CuadroTexto 9">
            <a:extLst>
              <a:ext uri="{FF2B5EF4-FFF2-40B4-BE49-F238E27FC236}">
                <a16:creationId xmlns:a16="http://schemas.microsoft.com/office/drawing/2014/main" id="{CF8C16EB-90C7-16C2-A952-A27B6B3FB16E}"/>
              </a:ext>
            </a:extLst>
          </p:cNvPr>
          <p:cNvSpPr txBox="1"/>
          <p:nvPr/>
        </p:nvSpPr>
        <p:spPr>
          <a:xfrm>
            <a:off x="1210112" y="2147122"/>
            <a:ext cx="10282805" cy="369332"/>
          </a:xfrm>
          <a:prstGeom prst="rect">
            <a:avLst/>
          </a:prstGeom>
          <a:noFill/>
        </p:spPr>
        <p:txBody>
          <a:bodyPr wrap="square">
            <a:spAutoFit/>
          </a:bodyPr>
          <a:lstStyle/>
          <a:p>
            <a:r>
              <a:rPr lang="es-ES" dirty="0"/>
              <a:t>Cuanto mayor sea el R cuadrado, mayor será la variabilidad explicada por el modelo de regresión lineal.</a:t>
            </a:r>
            <a:endParaRPr lang="en-US" dirty="0"/>
          </a:p>
        </p:txBody>
      </p:sp>
      <p:sp>
        <p:nvSpPr>
          <p:cNvPr id="3" name="Título 1">
            <a:extLst>
              <a:ext uri="{FF2B5EF4-FFF2-40B4-BE49-F238E27FC236}">
                <a16:creationId xmlns:a16="http://schemas.microsoft.com/office/drawing/2014/main" id="{D0500B8E-D2D1-557F-BA56-B278877AF630}"/>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a:solidFill>
                  <a:schemeClr val="accent1"/>
                </a:solidFill>
              </a:rPr>
              <a:t>Ejemplo</a:t>
            </a:r>
          </a:p>
        </p:txBody>
      </p:sp>
    </p:spTree>
    <p:extLst>
      <p:ext uri="{BB962C8B-B14F-4D97-AF65-F5344CB8AC3E}">
        <p14:creationId xmlns:p14="http://schemas.microsoft.com/office/powerpoint/2010/main" val="1403816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1AC661-1229-1329-09F9-8046A7ED11F8}"/>
              </a:ext>
            </a:extLst>
          </p:cNvPr>
          <p:cNvSpPr>
            <a:spLocks noGrp="1"/>
          </p:cNvSpPr>
          <p:nvPr>
            <p:ph type="title"/>
          </p:nvPr>
        </p:nvSpPr>
        <p:spPr/>
        <p:txBody>
          <a:bodyPr/>
          <a:lstStyle/>
          <a:p>
            <a:pPr algn="ctr"/>
            <a:endParaRPr lang="en-US" dirty="0"/>
          </a:p>
        </p:txBody>
      </p:sp>
      <p:pic>
        <p:nvPicPr>
          <p:cNvPr id="3074" name="Picture 2" descr="Pranay Pathole on Twitter: &quot;People with no idea about AI, telling me my AI  will destroy the world Vs Me wondering why my Machine learning algorithm is  classifying a cat as a">
            <a:extLst>
              <a:ext uri="{FF2B5EF4-FFF2-40B4-BE49-F238E27FC236}">
                <a16:creationId xmlns:a16="http://schemas.microsoft.com/office/drawing/2014/main" id="{6634E647-EC8A-5831-37C6-E1D67C671D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1808" y="1905000"/>
            <a:ext cx="4508383" cy="4293698"/>
          </a:xfrm>
          <a:prstGeom prst="rect">
            <a:avLst/>
          </a:prstGeom>
          <a:noFill/>
          <a:extLst>
            <a:ext uri="{909E8E84-426E-40DD-AFC4-6F175D3DCCD1}">
              <a14:hiddenFill xmlns:a14="http://schemas.microsoft.com/office/drawing/2010/main">
                <a:solidFill>
                  <a:srgbClr val="FFFFFF"/>
                </a:solidFill>
              </a14:hiddenFill>
            </a:ext>
          </a:extLst>
        </p:spPr>
      </p:pic>
      <p:sp>
        <p:nvSpPr>
          <p:cNvPr id="3" name="Título 1">
            <a:extLst>
              <a:ext uri="{FF2B5EF4-FFF2-40B4-BE49-F238E27FC236}">
                <a16:creationId xmlns:a16="http://schemas.microsoft.com/office/drawing/2014/main" id="{70B5B961-CDCD-77C9-91FE-5CA844F83C2C}"/>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a:solidFill>
                  <a:schemeClr val="accent1"/>
                </a:solidFill>
              </a:rPr>
              <a:t>Clasificación</a:t>
            </a:r>
          </a:p>
        </p:txBody>
      </p:sp>
    </p:spTree>
    <p:extLst>
      <p:ext uri="{BB962C8B-B14F-4D97-AF65-F5344CB8AC3E}">
        <p14:creationId xmlns:p14="http://schemas.microsoft.com/office/powerpoint/2010/main" val="16130470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343573-6D85-1E89-E6B8-846C7FCB3A00}"/>
              </a:ext>
            </a:extLst>
          </p:cNvPr>
          <p:cNvSpPr>
            <a:spLocks noGrp="1"/>
          </p:cNvSpPr>
          <p:nvPr>
            <p:ph type="title"/>
          </p:nvPr>
        </p:nvSpPr>
        <p:spPr/>
        <p:txBody>
          <a:bodyPr>
            <a:normAutofit fontScale="90000"/>
          </a:bodyPr>
          <a:lstStyle/>
          <a:p>
            <a:endParaRPr lang="en-US" dirty="0"/>
          </a:p>
        </p:txBody>
      </p:sp>
      <p:sp>
        <p:nvSpPr>
          <p:cNvPr id="3" name="Marcador de contenido 2">
            <a:extLst>
              <a:ext uri="{FF2B5EF4-FFF2-40B4-BE49-F238E27FC236}">
                <a16:creationId xmlns:a16="http://schemas.microsoft.com/office/drawing/2014/main" id="{92AE8916-6489-48B9-BFC1-008451CE2623}"/>
              </a:ext>
            </a:extLst>
          </p:cNvPr>
          <p:cNvSpPr>
            <a:spLocks noGrp="1"/>
          </p:cNvSpPr>
          <p:nvPr>
            <p:ph sz="half" idx="1"/>
          </p:nvPr>
        </p:nvSpPr>
        <p:spPr>
          <a:xfrm>
            <a:off x="292608" y="1825625"/>
            <a:ext cx="6729984" cy="4351338"/>
          </a:xfrm>
        </p:spPr>
        <p:txBody>
          <a:bodyPr/>
          <a:lstStyle/>
          <a:p>
            <a:pPr marL="0" lvl="0" indent="0" algn="l" rtl="0">
              <a:spcBef>
                <a:spcPts val="0"/>
              </a:spcBef>
              <a:spcAft>
                <a:spcPts val="0"/>
              </a:spcAft>
              <a:buClr>
                <a:schemeClr val="dk1"/>
              </a:buClr>
              <a:buSzPts val="1100"/>
              <a:buFont typeface="Arial"/>
              <a:buNone/>
            </a:pPr>
            <a:r>
              <a:rPr lang="es-ES" sz="2800" dirty="0">
                <a:latin typeface="DM Sans"/>
                <a:ea typeface="DM Sans"/>
                <a:cs typeface="DM Sans"/>
                <a:sym typeface="DM Sans"/>
              </a:rPr>
              <a:t>Tenemos dos grandes tipos</a:t>
            </a:r>
            <a:r>
              <a:rPr lang="es-ES" dirty="0">
                <a:latin typeface="DM Sans"/>
                <a:ea typeface="DM Sans"/>
                <a:cs typeface="DM Sans"/>
                <a:sym typeface="DM Sans"/>
              </a:rPr>
              <a:t> de </a:t>
            </a:r>
            <a:r>
              <a:rPr lang="es-ES" sz="2800" dirty="0">
                <a:latin typeface="DM Sans"/>
                <a:ea typeface="DM Sans"/>
                <a:cs typeface="DM Sans"/>
                <a:sym typeface="DM Sans"/>
              </a:rPr>
              <a:t>problemas de clasificación</a:t>
            </a:r>
          </a:p>
          <a:p>
            <a:pPr marL="457200" lvl="0" indent="-314325" algn="l" rtl="0">
              <a:spcBef>
                <a:spcPts val="0"/>
              </a:spcBef>
              <a:spcAft>
                <a:spcPts val="0"/>
              </a:spcAft>
              <a:buClr>
                <a:srgbClr val="EF89D2"/>
              </a:buClr>
              <a:buSzPts val="1350"/>
              <a:buFont typeface="DM Sans"/>
              <a:buChar char="✔"/>
            </a:pPr>
            <a:r>
              <a:rPr lang="es-ES" sz="2800" b="1" dirty="0">
                <a:latin typeface="DM Sans"/>
                <a:ea typeface="DM Sans"/>
                <a:cs typeface="DM Sans"/>
                <a:sym typeface="DM Sans"/>
              </a:rPr>
              <a:t>Clasificación binaria</a:t>
            </a:r>
            <a:r>
              <a:rPr lang="es-ES" sz="2800" dirty="0">
                <a:latin typeface="DM Sans"/>
                <a:ea typeface="DM Sans"/>
                <a:cs typeface="DM Sans"/>
                <a:sym typeface="DM Sans"/>
              </a:rPr>
              <a:t>: Clasifica los datos en dos clases, como Si/No, bueno/malo, alto/bajo, padece una enfermedad en particular o no, etc.</a:t>
            </a:r>
          </a:p>
          <a:p>
            <a:pPr marL="457200" lvl="0" indent="-314325" algn="l" rtl="0">
              <a:spcBef>
                <a:spcPts val="0"/>
              </a:spcBef>
              <a:spcAft>
                <a:spcPts val="0"/>
              </a:spcAft>
              <a:buClr>
                <a:srgbClr val="EF89D2"/>
              </a:buClr>
              <a:buSzPts val="1350"/>
              <a:buFont typeface="DM Sans"/>
              <a:buChar char="✔"/>
            </a:pPr>
            <a:r>
              <a:rPr lang="es-ES" sz="2800" b="1" dirty="0">
                <a:latin typeface="DM Sans"/>
                <a:ea typeface="DM Sans"/>
                <a:cs typeface="DM Sans"/>
                <a:sym typeface="DM Sans"/>
              </a:rPr>
              <a:t>Clasificación multiclase</a:t>
            </a:r>
            <a:r>
              <a:rPr lang="es-ES" sz="2800" dirty="0">
                <a:latin typeface="DM Sans"/>
                <a:ea typeface="DM Sans"/>
                <a:cs typeface="DM Sans"/>
                <a:sym typeface="DM Sans"/>
              </a:rPr>
              <a:t>: Clasifica datos en tres o más clases; por ej. clasificación de documentos, categorización de productos, clasificación de malware</a:t>
            </a:r>
          </a:p>
          <a:p>
            <a:endParaRPr lang="en-US" dirty="0"/>
          </a:p>
        </p:txBody>
      </p:sp>
      <p:pic>
        <p:nvPicPr>
          <p:cNvPr id="7" name="Google Shape;268;p54">
            <a:extLst>
              <a:ext uri="{FF2B5EF4-FFF2-40B4-BE49-F238E27FC236}">
                <a16:creationId xmlns:a16="http://schemas.microsoft.com/office/drawing/2014/main" id="{7BADFAB2-699A-0021-7AD1-2A2EF00649A8}"/>
              </a:ext>
            </a:extLst>
          </p:cNvPr>
          <p:cNvPicPr preferRelativeResize="0">
            <a:picLocks noGrp="1"/>
          </p:cNvPicPr>
          <p:nvPr>
            <p:ph sz="half" idx="2"/>
          </p:nvPr>
        </p:nvPicPr>
        <p:blipFill>
          <a:blip r:embed="rId2">
            <a:alphaModFix/>
          </a:blip>
          <a:stretch>
            <a:fillRect/>
          </a:stretch>
        </p:blipFill>
        <p:spPr>
          <a:xfrm>
            <a:off x="7022592" y="2608326"/>
            <a:ext cx="4331208" cy="2785935"/>
          </a:xfrm>
          <a:prstGeom prst="rect">
            <a:avLst/>
          </a:prstGeom>
          <a:noFill/>
          <a:ln>
            <a:noFill/>
          </a:ln>
        </p:spPr>
      </p:pic>
      <p:sp>
        <p:nvSpPr>
          <p:cNvPr id="4" name="Título 1">
            <a:extLst>
              <a:ext uri="{FF2B5EF4-FFF2-40B4-BE49-F238E27FC236}">
                <a16:creationId xmlns:a16="http://schemas.microsoft.com/office/drawing/2014/main" id="{04B1706D-9E7E-A3CD-ECA1-C931C97F3D91}"/>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a:solidFill>
                  <a:schemeClr val="accent1"/>
                </a:solidFill>
              </a:rPr>
              <a:t>Tipos de problemas de Clasificación</a:t>
            </a:r>
          </a:p>
        </p:txBody>
      </p:sp>
    </p:spTree>
    <p:extLst>
      <p:ext uri="{BB962C8B-B14F-4D97-AF65-F5344CB8AC3E}">
        <p14:creationId xmlns:p14="http://schemas.microsoft.com/office/powerpoint/2010/main" val="39075150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343573-6D85-1E89-E6B8-846C7FCB3A00}"/>
              </a:ext>
            </a:extLst>
          </p:cNvPr>
          <p:cNvSpPr>
            <a:spLocks noGrp="1"/>
          </p:cNvSpPr>
          <p:nvPr>
            <p:ph type="title"/>
          </p:nvPr>
        </p:nvSpPr>
        <p:spPr/>
        <p:txBody>
          <a:bodyPr>
            <a:normAutofit fontScale="90000"/>
          </a:bodyPr>
          <a:lstStyle/>
          <a:p>
            <a:endParaRPr lang="es-ES" dirty="0"/>
          </a:p>
        </p:txBody>
      </p:sp>
      <p:sp>
        <p:nvSpPr>
          <p:cNvPr id="3" name="Marcador de contenido 2">
            <a:extLst>
              <a:ext uri="{FF2B5EF4-FFF2-40B4-BE49-F238E27FC236}">
                <a16:creationId xmlns:a16="http://schemas.microsoft.com/office/drawing/2014/main" id="{92AE8916-6489-48B9-BFC1-008451CE2623}"/>
              </a:ext>
            </a:extLst>
          </p:cNvPr>
          <p:cNvSpPr>
            <a:spLocks noGrp="1"/>
          </p:cNvSpPr>
          <p:nvPr>
            <p:ph sz="half" idx="1"/>
          </p:nvPr>
        </p:nvSpPr>
        <p:spPr>
          <a:xfrm>
            <a:off x="292608" y="1825625"/>
            <a:ext cx="6729984" cy="4351338"/>
          </a:xfrm>
        </p:spPr>
        <p:txBody>
          <a:bodyPr>
            <a:normAutofit lnSpcReduction="10000"/>
          </a:bodyPr>
          <a:lstStyle/>
          <a:p>
            <a:pPr marL="457200" lvl="0" indent="-314325" algn="l" rtl="0">
              <a:spcBef>
                <a:spcPts val="0"/>
              </a:spcBef>
              <a:spcAft>
                <a:spcPts val="0"/>
              </a:spcAft>
              <a:buClr>
                <a:srgbClr val="EA90FF"/>
              </a:buClr>
              <a:buSzPts val="1350"/>
              <a:buFont typeface="DM Sans"/>
              <a:buChar char="✔"/>
            </a:pPr>
            <a:r>
              <a:rPr lang="es-ES" sz="2800">
                <a:latin typeface="DM Sans"/>
                <a:ea typeface="DM Sans"/>
                <a:cs typeface="DM Sans"/>
                <a:sym typeface="DM Sans"/>
              </a:rPr>
              <a:t>Predicción comportamiento de clientes</a:t>
            </a:r>
          </a:p>
          <a:p>
            <a:pPr marL="457200" lvl="0" indent="-314325" algn="l" rtl="0">
              <a:spcBef>
                <a:spcPts val="0"/>
              </a:spcBef>
              <a:spcAft>
                <a:spcPts val="0"/>
              </a:spcAft>
              <a:buClr>
                <a:srgbClr val="EA90FF"/>
              </a:buClr>
              <a:buSzPts val="1350"/>
              <a:buFont typeface="DM Sans"/>
              <a:buChar char="✔"/>
            </a:pPr>
            <a:r>
              <a:rPr lang="es-ES" sz="2800">
                <a:latin typeface="DM Sans"/>
                <a:ea typeface="DM Sans"/>
                <a:cs typeface="DM Sans"/>
                <a:sym typeface="DM Sans"/>
              </a:rPr>
              <a:t>Clasificación de documentos</a:t>
            </a:r>
          </a:p>
          <a:p>
            <a:pPr marL="457200" lvl="0" indent="-314325" algn="l" rtl="0">
              <a:spcBef>
                <a:spcPts val="0"/>
              </a:spcBef>
              <a:spcAft>
                <a:spcPts val="0"/>
              </a:spcAft>
              <a:buClr>
                <a:srgbClr val="EA90FF"/>
              </a:buClr>
              <a:buSzPts val="1350"/>
              <a:buFont typeface="DM Sans"/>
              <a:buChar char="✔"/>
            </a:pPr>
            <a:r>
              <a:rPr lang="es-ES" sz="2800">
                <a:latin typeface="DM Sans"/>
                <a:ea typeface="DM Sans"/>
                <a:cs typeface="DM Sans"/>
                <a:sym typeface="DM Sans"/>
              </a:rPr>
              <a:t>Clasificación de imágenes</a:t>
            </a:r>
          </a:p>
          <a:p>
            <a:pPr marL="457200" lvl="0" indent="-314325" algn="l" rtl="0">
              <a:spcBef>
                <a:spcPts val="0"/>
              </a:spcBef>
              <a:spcAft>
                <a:spcPts val="0"/>
              </a:spcAft>
              <a:buClr>
                <a:srgbClr val="EA90FF"/>
              </a:buClr>
              <a:buSzPts val="1350"/>
              <a:buFont typeface="DM Sans"/>
              <a:buChar char="✔"/>
            </a:pPr>
            <a:r>
              <a:rPr lang="es-ES" sz="2800">
                <a:latin typeface="DM Sans"/>
                <a:ea typeface="DM Sans"/>
                <a:cs typeface="DM Sans"/>
                <a:sym typeface="DM Sans"/>
              </a:rPr>
              <a:t>Clasificación de texto web</a:t>
            </a:r>
          </a:p>
          <a:p>
            <a:pPr marL="457200" lvl="0" indent="-314325" algn="l" rtl="0">
              <a:spcBef>
                <a:spcPts val="0"/>
              </a:spcBef>
              <a:spcAft>
                <a:spcPts val="0"/>
              </a:spcAft>
              <a:buClr>
                <a:srgbClr val="EA90FF"/>
              </a:buClr>
              <a:buSzPts val="1350"/>
              <a:buFont typeface="DM Sans"/>
              <a:buChar char="✔"/>
            </a:pPr>
            <a:r>
              <a:rPr lang="es-ES" sz="2800">
                <a:latin typeface="DM Sans"/>
                <a:ea typeface="DM Sans"/>
                <a:cs typeface="DM Sans"/>
                <a:sym typeface="DM Sans"/>
              </a:rPr>
              <a:t>Predicción de la tasa de clics de los anuncios</a:t>
            </a:r>
          </a:p>
          <a:p>
            <a:pPr marL="457200" lvl="0" indent="-314325" algn="l" rtl="0">
              <a:spcBef>
                <a:spcPts val="0"/>
              </a:spcBef>
              <a:spcAft>
                <a:spcPts val="0"/>
              </a:spcAft>
              <a:buClr>
                <a:srgbClr val="EA90FF"/>
              </a:buClr>
              <a:buSzPts val="1350"/>
              <a:buFont typeface="DM Sans"/>
              <a:buChar char="✔"/>
            </a:pPr>
            <a:r>
              <a:rPr lang="es-ES" sz="2800">
                <a:latin typeface="DM Sans"/>
                <a:ea typeface="DM Sans"/>
                <a:cs typeface="DM Sans"/>
                <a:sym typeface="DM Sans"/>
              </a:rPr>
              <a:t>Categorización de productos</a:t>
            </a:r>
          </a:p>
          <a:p>
            <a:pPr marL="457200" lvl="0" indent="-314325" algn="l" rtl="0">
              <a:spcBef>
                <a:spcPts val="0"/>
              </a:spcBef>
              <a:spcAft>
                <a:spcPts val="0"/>
              </a:spcAft>
              <a:buClr>
                <a:srgbClr val="EA90FF"/>
              </a:buClr>
              <a:buSzPts val="1350"/>
              <a:buFont typeface="DM Sans"/>
              <a:buChar char="✔"/>
            </a:pPr>
            <a:r>
              <a:rPr lang="es-ES" sz="2800">
                <a:latin typeface="DM Sans"/>
                <a:ea typeface="DM Sans"/>
                <a:cs typeface="DM Sans"/>
                <a:sym typeface="DM Sans"/>
              </a:rPr>
              <a:t>Clasificación de Malware</a:t>
            </a:r>
          </a:p>
          <a:p>
            <a:pPr marL="457200" lvl="0" indent="-314325" algn="l" rtl="0">
              <a:spcBef>
                <a:spcPts val="0"/>
              </a:spcBef>
              <a:spcAft>
                <a:spcPts val="0"/>
              </a:spcAft>
              <a:buClr>
                <a:srgbClr val="EA90FF"/>
              </a:buClr>
              <a:buSzPts val="1350"/>
              <a:buFont typeface="DM Sans"/>
              <a:buChar char="✔"/>
            </a:pPr>
            <a:r>
              <a:rPr lang="es-ES" sz="2800">
                <a:latin typeface="DM Sans"/>
                <a:ea typeface="DM Sans"/>
                <a:cs typeface="DM Sans"/>
                <a:sym typeface="DM Sans"/>
              </a:rPr>
              <a:t>Detección de fraude</a:t>
            </a:r>
          </a:p>
          <a:p>
            <a:pPr marL="457200" lvl="0" indent="-314325" algn="l" rtl="0">
              <a:spcBef>
                <a:spcPts val="0"/>
              </a:spcBef>
              <a:spcAft>
                <a:spcPts val="0"/>
              </a:spcAft>
              <a:buClr>
                <a:srgbClr val="EA90FF"/>
              </a:buClr>
              <a:buSzPts val="1350"/>
              <a:buFont typeface="DM Sans"/>
              <a:buChar char="✔"/>
            </a:pPr>
            <a:r>
              <a:rPr lang="es-ES" sz="2800">
                <a:latin typeface="DM Sans"/>
                <a:ea typeface="DM Sans"/>
                <a:cs typeface="DM Sans"/>
                <a:sym typeface="DM Sans"/>
              </a:rPr>
              <a:t>Análisis de sentimientos de imágenes</a:t>
            </a:r>
            <a:endParaRPr lang="es-ES" sz="2800" dirty="0">
              <a:latin typeface="DM Sans"/>
              <a:ea typeface="DM Sans"/>
              <a:cs typeface="DM Sans"/>
              <a:sym typeface="DM Sans"/>
            </a:endParaRPr>
          </a:p>
        </p:txBody>
      </p:sp>
      <p:pic>
        <p:nvPicPr>
          <p:cNvPr id="4" name="Google Shape;275;p55">
            <a:extLst>
              <a:ext uri="{FF2B5EF4-FFF2-40B4-BE49-F238E27FC236}">
                <a16:creationId xmlns:a16="http://schemas.microsoft.com/office/drawing/2014/main" id="{610DCE2A-5BB6-709C-DF47-44E1F6B44FA6}"/>
              </a:ext>
            </a:extLst>
          </p:cNvPr>
          <p:cNvPicPr preferRelativeResize="0"/>
          <p:nvPr/>
        </p:nvPicPr>
        <p:blipFill>
          <a:blip r:embed="rId2">
            <a:alphaModFix/>
          </a:blip>
          <a:stretch>
            <a:fillRect/>
          </a:stretch>
        </p:blipFill>
        <p:spPr>
          <a:xfrm>
            <a:off x="6757981" y="2319401"/>
            <a:ext cx="4376363" cy="2983308"/>
          </a:xfrm>
          <a:prstGeom prst="rect">
            <a:avLst/>
          </a:prstGeom>
          <a:noFill/>
          <a:ln>
            <a:noFill/>
          </a:ln>
        </p:spPr>
      </p:pic>
      <p:sp>
        <p:nvSpPr>
          <p:cNvPr id="5" name="Título 1">
            <a:extLst>
              <a:ext uri="{FF2B5EF4-FFF2-40B4-BE49-F238E27FC236}">
                <a16:creationId xmlns:a16="http://schemas.microsoft.com/office/drawing/2014/main" id="{A653BFFB-58BA-1241-433F-6C72E6661E09}"/>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a:solidFill>
                  <a:schemeClr val="accent1"/>
                </a:solidFill>
              </a:rPr>
              <a:t>Tipos de problemas de Clasificación</a:t>
            </a:r>
          </a:p>
        </p:txBody>
      </p:sp>
    </p:spTree>
    <p:extLst>
      <p:ext uri="{BB962C8B-B14F-4D97-AF65-F5344CB8AC3E}">
        <p14:creationId xmlns:p14="http://schemas.microsoft.com/office/powerpoint/2010/main" val="25164266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2F300B-78D2-52BF-BD08-84D07E3218D1}"/>
              </a:ext>
            </a:extLst>
          </p:cNvPr>
          <p:cNvSpPr>
            <a:spLocks noGrp="1"/>
          </p:cNvSpPr>
          <p:nvPr>
            <p:ph type="title"/>
          </p:nvPr>
        </p:nvSpPr>
        <p:spPr/>
        <p:txBody>
          <a:bodyPr/>
          <a:lstStyle/>
          <a:p>
            <a:endParaRPr lang="es-ES" dirty="0"/>
          </a:p>
        </p:txBody>
      </p:sp>
      <p:sp>
        <p:nvSpPr>
          <p:cNvPr id="4" name="Marcador de contenido 3">
            <a:extLst>
              <a:ext uri="{FF2B5EF4-FFF2-40B4-BE49-F238E27FC236}">
                <a16:creationId xmlns:a16="http://schemas.microsoft.com/office/drawing/2014/main" id="{B6E5EBA2-C15A-764E-230A-E1CD369897CE}"/>
              </a:ext>
            </a:extLst>
          </p:cNvPr>
          <p:cNvSpPr>
            <a:spLocks noGrp="1"/>
          </p:cNvSpPr>
          <p:nvPr>
            <p:ph sz="half" idx="2"/>
          </p:nvPr>
        </p:nvSpPr>
        <p:spPr>
          <a:xfrm>
            <a:off x="4048125" y="1977390"/>
            <a:ext cx="7798435" cy="4366260"/>
          </a:xfrm>
        </p:spPr>
        <p:txBody>
          <a:bodyPr>
            <a:normAutofit fontScale="92500" lnSpcReduction="10000"/>
          </a:bodyPr>
          <a:lstStyle/>
          <a:p>
            <a:pPr marL="457200" indent="-314325" algn="just">
              <a:spcBef>
                <a:spcPts val="0"/>
              </a:spcBef>
              <a:buClr>
                <a:srgbClr val="EF89D2"/>
              </a:buClr>
              <a:buSzPts val="1350"/>
              <a:buFont typeface="DM Sans"/>
              <a:buChar char="✔"/>
            </a:pPr>
            <a:r>
              <a:rPr lang="es-ES" sz="2800" dirty="0">
                <a:latin typeface="DM Sans"/>
                <a:ea typeface="DM Sans"/>
                <a:cs typeface="DM Sans"/>
                <a:sym typeface="DM Sans"/>
              </a:rPr>
              <a:t>Método de aprendizaje que proviene del campo de la estadística para </a:t>
            </a:r>
            <a:r>
              <a:rPr lang="es-ES" sz="2800" dirty="0">
                <a:solidFill>
                  <a:schemeClr val="dk1"/>
                </a:solidFill>
                <a:latin typeface="DM Sans"/>
                <a:ea typeface="DM Sans"/>
                <a:cs typeface="DM Sans"/>
                <a:sym typeface="DM Sans"/>
              </a:rPr>
              <a:t>determinar si una variable independiente tiene un efecto sobre una variable dependiente binaria </a:t>
            </a:r>
            <a:r>
              <a:rPr lang="es-ES" sz="2800" b="1" dirty="0">
                <a:solidFill>
                  <a:schemeClr val="dk1"/>
                </a:solidFill>
                <a:latin typeface="DM Sans"/>
                <a:ea typeface="DM Sans"/>
                <a:cs typeface="DM Sans"/>
                <a:sym typeface="DM Sans"/>
              </a:rPr>
              <a:t>(Clasificación)</a:t>
            </a:r>
            <a:r>
              <a:rPr lang="es-ES" sz="2800" dirty="0">
                <a:solidFill>
                  <a:schemeClr val="dk1"/>
                </a:solidFill>
                <a:latin typeface="DM Sans"/>
                <a:ea typeface="DM Sans"/>
                <a:cs typeface="DM Sans"/>
                <a:sym typeface="DM Sans"/>
              </a:rPr>
              <a:t>. </a:t>
            </a:r>
            <a:endParaRPr lang="es-ES" dirty="0">
              <a:solidFill>
                <a:schemeClr val="dk1"/>
              </a:solidFill>
              <a:latin typeface="DM Sans"/>
              <a:ea typeface="DM Sans"/>
              <a:cs typeface="DM Sans"/>
              <a:sym typeface="DM Sans"/>
            </a:endParaRPr>
          </a:p>
          <a:p>
            <a:pPr marL="457200" indent="-314325" algn="just">
              <a:spcBef>
                <a:spcPts val="0"/>
              </a:spcBef>
              <a:buClr>
                <a:srgbClr val="EF89D2"/>
              </a:buClr>
              <a:buSzPts val="1350"/>
              <a:buFont typeface="DM Sans"/>
              <a:buChar char="✔"/>
            </a:pPr>
            <a:endParaRPr lang="es-ES" sz="2800" dirty="0">
              <a:latin typeface="DM Sans"/>
              <a:ea typeface="DM Sans"/>
              <a:cs typeface="DM Sans"/>
              <a:sym typeface="DM Sans"/>
            </a:endParaRPr>
          </a:p>
          <a:p>
            <a:pPr marL="457200" lvl="0" indent="-314325" algn="just" rtl="0">
              <a:spcBef>
                <a:spcPts val="0"/>
              </a:spcBef>
              <a:spcAft>
                <a:spcPts val="0"/>
              </a:spcAft>
              <a:buClr>
                <a:srgbClr val="EF89D2"/>
              </a:buClr>
              <a:buSzPts val="1350"/>
              <a:buFont typeface="DM Sans"/>
              <a:buChar char="✔"/>
            </a:pPr>
            <a:r>
              <a:rPr lang="es-ES" sz="2800" dirty="0">
                <a:latin typeface="DM Sans"/>
                <a:ea typeface="DM Sans"/>
                <a:cs typeface="DM Sans"/>
                <a:sym typeface="DM Sans"/>
              </a:rPr>
              <a:t>Se usa para resolver problemas de clasificación, en los que se pretende obtener un valor binario entre 0 y 1 dependiendo de la definición de un </a:t>
            </a:r>
            <a:r>
              <a:rPr lang="es-ES" sz="2800" b="1" dirty="0">
                <a:latin typeface="DM Sans"/>
                <a:ea typeface="DM Sans"/>
                <a:cs typeface="DM Sans"/>
                <a:sym typeface="DM Sans"/>
              </a:rPr>
              <a:t>umbral</a:t>
            </a:r>
            <a:r>
              <a:rPr lang="es-ES" sz="2800" dirty="0">
                <a:latin typeface="DM Sans"/>
                <a:ea typeface="DM Sans"/>
                <a:cs typeface="DM Sans"/>
                <a:sym typeface="DM Sans"/>
              </a:rPr>
              <a:t> para distinguir las clases binarias (por ejemplo, &lt;50% mal escrito = no es spam,&gt; 50% mal escrito = spam). </a:t>
            </a:r>
          </a:p>
          <a:p>
            <a:pPr marL="457200" lvl="0" indent="-314325" algn="just" rtl="0">
              <a:spcBef>
                <a:spcPts val="0"/>
              </a:spcBef>
              <a:spcAft>
                <a:spcPts val="0"/>
              </a:spcAft>
              <a:buClr>
                <a:srgbClr val="EF89D2"/>
              </a:buClr>
              <a:buSzPts val="1350"/>
              <a:buFont typeface="DM Sans"/>
              <a:buChar char="✔"/>
            </a:pPr>
            <a:endParaRPr lang="es-ES" sz="2800" dirty="0">
              <a:latin typeface="DM Sans"/>
              <a:ea typeface="DM Sans"/>
              <a:cs typeface="DM Sans"/>
              <a:sym typeface="DM Sans"/>
            </a:endParaRPr>
          </a:p>
        </p:txBody>
      </p:sp>
      <p:pic>
        <p:nvPicPr>
          <p:cNvPr id="6146" name="Picture 2" descr="Cómo afecta el scoring y rating de crédito a la hipoteca? | Navas &amp; Cusi  Abogados">
            <a:extLst>
              <a:ext uri="{FF2B5EF4-FFF2-40B4-BE49-F238E27FC236}">
                <a16:creationId xmlns:a16="http://schemas.microsoft.com/office/drawing/2014/main" id="{42B1D0CE-0B14-C188-557B-F8681AF3A9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168994"/>
            <a:ext cx="3209925" cy="1428750"/>
          </a:xfrm>
          <a:prstGeom prst="rect">
            <a:avLst/>
          </a:prstGeom>
          <a:noFill/>
          <a:extLst>
            <a:ext uri="{909E8E84-426E-40DD-AFC4-6F175D3DCCD1}">
              <a14:hiddenFill xmlns:a14="http://schemas.microsoft.com/office/drawing/2010/main">
                <a:solidFill>
                  <a:srgbClr val="FFFFFF"/>
                </a:solidFill>
              </a14:hiddenFill>
            </a:ext>
          </a:extLst>
        </p:spPr>
      </p:pic>
      <p:sp>
        <p:nvSpPr>
          <p:cNvPr id="5" name="Título 1">
            <a:extLst>
              <a:ext uri="{FF2B5EF4-FFF2-40B4-BE49-F238E27FC236}">
                <a16:creationId xmlns:a16="http://schemas.microsoft.com/office/drawing/2014/main" id="{7FBE7E03-08C3-F758-5D38-9914BF7F65E1}"/>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a:solidFill>
                  <a:schemeClr val="accent1"/>
                </a:solidFill>
              </a:rPr>
              <a:t>Regresión Logística</a:t>
            </a:r>
          </a:p>
        </p:txBody>
      </p:sp>
    </p:spTree>
    <p:extLst>
      <p:ext uri="{BB962C8B-B14F-4D97-AF65-F5344CB8AC3E}">
        <p14:creationId xmlns:p14="http://schemas.microsoft.com/office/powerpoint/2010/main" val="21250677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3B0664-5FED-8D31-3CA2-4C279A5BF543}"/>
              </a:ext>
            </a:extLst>
          </p:cNvPr>
          <p:cNvSpPr>
            <a:spLocks noGrp="1"/>
          </p:cNvSpPr>
          <p:nvPr>
            <p:ph type="title"/>
          </p:nvPr>
        </p:nvSpPr>
        <p:spPr/>
        <p:txBody>
          <a:bodyPr/>
          <a:lstStyle/>
          <a:p>
            <a:r>
              <a:rPr lang="es-ES" dirty="0"/>
              <a:t>Regresión logística</a:t>
            </a:r>
            <a:endParaRPr lang="en-US" dirty="0"/>
          </a:p>
        </p:txBody>
      </p:sp>
      <p:sp>
        <p:nvSpPr>
          <p:cNvPr id="4" name="Marcador de contenido 3">
            <a:extLst>
              <a:ext uri="{FF2B5EF4-FFF2-40B4-BE49-F238E27FC236}">
                <a16:creationId xmlns:a16="http://schemas.microsoft.com/office/drawing/2014/main" id="{2886368A-BCD0-5CAD-C758-4096AFA2F560}"/>
              </a:ext>
            </a:extLst>
          </p:cNvPr>
          <p:cNvSpPr>
            <a:spLocks noGrp="1"/>
          </p:cNvSpPr>
          <p:nvPr>
            <p:ph sz="half" idx="2"/>
          </p:nvPr>
        </p:nvSpPr>
        <p:spPr/>
        <p:txBody>
          <a:bodyPr/>
          <a:lstStyle/>
          <a:p>
            <a:pPr marL="457200" lvl="0" indent="-314325" algn="l" rtl="0">
              <a:lnSpc>
                <a:spcPct val="115000"/>
              </a:lnSpc>
              <a:spcBef>
                <a:spcPts val="0"/>
              </a:spcBef>
              <a:spcAft>
                <a:spcPts val="0"/>
              </a:spcAft>
              <a:buClr>
                <a:srgbClr val="EA90FF"/>
              </a:buClr>
              <a:buSzPts val="1350"/>
              <a:buFont typeface="Helvetica Neue Light"/>
              <a:buChar char="✔"/>
            </a:pPr>
            <a:r>
              <a:rPr lang="es-ES" sz="2000" dirty="0">
                <a:solidFill>
                  <a:schemeClr val="dk1"/>
                </a:solidFill>
                <a:latin typeface="DM Sans"/>
                <a:ea typeface="DM Sans"/>
                <a:cs typeface="DM Sans"/>
                <a:sym typeface="DM Sans"/>
              </a:rPr>
              <a:t>Lleva el nombre de la función utilizada en el núcleo del método, </a:t>
            </a:r>
            <a:r>
              <a:rPr lang="es-ES" sz="2000" b="1" dirty="0">
                <a:solidFill>
                  <a:schemeClr val="dk1"/>
                </a:solidFill>
                <a:latin typeface="DM Sans"/>
                <a:ea typeface="DM Sans"/>
                <a:cs typeface="DM Sans"/>
                <a:sym typeface="DM Sans"/>
              </a:rPr>
              <a:t>la Función Logística es también llamada función Sigmoide</a:t>
            </a:r>
            <a:r>
              <a:rPr lang="es-ES" sz="2000" dirty="0">
                <a:solidFill>
                  <a:schemeClr val="dk1"/>
                </a:solidFill>
                <a:latin typeface="DM Sans"/>
                <a:ea typeface="DM Sans"/>
                <a:cs typeface="DM Sans"/>
                <a:sym typeface="DM Sans"/>
              </a:rPr>
              <a:t>. </a:t>
            </a:r>
          </a:p>
          <a:p>
            <a:pPr marL="457200" lvl="0" indent="-314325" algn="l" rtl="0">
              <a:lnSpc>
                <a:spcPct val="115000"/>
              </a:lnSpc>
              <a:spcBef>
                <a:spcPts val="0"/>
              </a:spcBef>
              <a:spcAft>
                <a:spcPts val="0"/>
              </a:spcAft>
              <a:buClr>
                <a:srgbClr val="EA90FF"/>
              </a:buClr>
              <a:buSzPts val="1350"/>
              <a:buFont typeface="DM Sans"/>
              <a:buChar char="✔"/>
            </a:pPr>
            <a:r>
              <a:rPr lang="es-ES" sz="2000" dirty="0">
                <a:solidFill>
                  <a:schemeClr val="dk1"/>
                </a:solidFill>
                <a:latin typeface="DM Sans"/>
                <a:ea typeface="DM Sans"/>
                <a:cs typeface="DM Sans"/>
                <a:sym typeface="DM Sans"/>
              </a:rPr>
              <a:t>Esta función es una curva en forma de S que puede tomar cualquier número de valor real y asignar a un valor entre 0 y 1. </a:t>
            </a:r>
          </a:p>
          <a:p>
            <a:pPr marL="457200" lvl="0" indent="-314325" algn="l" rtl="0">
              <a:lnSpc>
                <a:spcPct val="115000"/>
              </a:lnSpc>
              <a:spcBef>
                <a:spcPts val="0"/>
              </a:spcBef>
              <a:spcAft>
                <a:spcPts val="0"/>
              </a:spcAft>
              <a:buClr>
                <a:srgbClr val="EA90FF"/>
              </a:buClr>
              <a:buSzPts val="1350"/>
              <a:buFont typeface="DM Sans"/>
              <a:buChar char="✔"/>
            </a:pPr>
            <a:r>
              <a:rPr lang="es-ES" sz="2000" dirty="0">
                <a:solidFill>
                  <a:schemeClr val="dk1"/>
                </a:solidFill>
                <a:latin typeface="DM Sans"/>
                <a:ea typeface="DM Sans"/>
                <a:cs typeface="DM Sans"/>
                <a:sym typeface="DM Sans"/>
              </a:rPr>
              <a:t>La ecuación que define la función sigmoide es la siguiente:</a:t>
            </a:r>
          </a:p>
          <a:p>
            <a:endParaRPr lang="en-US" dirty="0"/>
          </a:p>
        </p:txBody>
      </p:sp>
      <p:pic>
        <p:nvPicPr>
          <p:cNvPr id="5" name="Google Shape;698;p98">
            <a:extLst>
              <a:ext uri="{FF2B5EF4-FFF2-40B4-BE49-F238E27FC236}">
                <a16:creationId xmlns:a16="http://schemas.microsoft.com/office/drawing/2014/main" id="{9BE221A8-55F1-2674-38F2-22149B449EA7}"/>
              </a:ext>
            </a:extLst>
          </p:cNvPr>
          <p:cNvPicPr preferRelativeResize="0"/>
          <p:nvPr/>
        </p:nvPicPr>
        <p:blipFill rotWithShape="1">
          <a:blip r:embed="rId2">
            <a:clrChange>
              <a:clrFrom>
                <a:srgbClr val="FFFFFF"/>
              </a:clrFrom>
              <a:clrTo>
                <a:srgbClr val="FFFFFF">
                  <a:alpha val="0"/>
                </a:srgbClr>
              </a:clrTo>
            </a:clrChange>
            <a:alphaModFix/>
          </a:blip>
          <a:srcRect/>
          <a:stretch/>
        </p:blipFill>
        <p:spPr>
          <a:xfrm>
            <a:off x="7704149" y="5197475"/>
            <a:ext cx="2362200" cy="1114425"/>
          </a:xfrm>
          <a:prstGeom prst="rect">
            <a:avLst/>
          </a:prstGeom>
          <a:noFill/>
          <a:ln>
            <a:noFill/>
          </a:ln>
        </p:spPr>
      </p:pic>
      <p:pic>
        <p:nvPicPr>
          <p:cNvPr id="6" name="Google Shape;699;p98">
            <a:extLst>
              <a:ext uri="{FF2B5EF4-FFF2-40B4-BE49-F238E27FC236}">
                <a16:creationId xmlns:a16="http://schemas.microsoft.com/office/drawing/2014/main" id="{45F2B8EE-A272-78CC-FAB8-D1DF0C1C69B5}"/>
              </a:ext>
            </a:extLst>
          </p:cNvPr>
          <p:cNvPicPr preferRelativeResize="0">
            <a:picLocks noGrp="1"/>
          </p:cNvPicPr>
          <p:nvPr>
            <p:ph sz="half" idx="1"/>
          </p:nvPr>
        </p:nvPicPr>
        <p:blipFill>
          <a:blip r:embed="rId3">
            <a:alphaModFix/>
          </a:blip>
          <a:stretch>
            <a:fillRect/>
          </a:stretch>
        </p:blipFill>
        <p:spPr>
          <a:xfrm>
            <a:off x="762699" y="1480252"/>
            <a:ext cx="5181600" cy="3246839"/>
          </a:xfrm>
          <a:prstGeom prst="rect">
            <a:avLst/>
          </a:prstGeom>
          <a:noFill/>
          <a:ln>
            <a:noFill/>
          </a:ln>
        </p:spPr>
      </p:pic>
      <p:sp>
        <p:nvSpPr>
          <p:cNvPr id="7" name="Título 1">
            <a:extLst>
              <a:ext uri="{FF2B5EF4-FFF2-40B4-BE49-F238E27FC236}">
                <a16:creationId xmlns:a16="http://schemas.microsoft.com/office/drawing/2014/main" id="{F2731192-1B99-387B-69A3-3C2F1F4C644E}"/>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a:solidFill>
                  <a:schemeClr val="accent1"/>
                </a:solidFill>
              </a:rPr>
              <a:t>Regresión Logística</a:t>
            </a:r>
          </a:p>
        </p:txBody>
      </p:sp>
    </p:spTree>
    <p:extLst>
      <p:ext uri="{BB962C8B-B14F-4D97-AF65-F5344CB8AC3E}">
        <p14:creationId xmlns:p14="http://schemas.microsoft.com/office/powerpoint/2010/main" val="15491844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3B0664-5FED-8D31-3CA2-4C279A5BF543}"/>
              </a:ext>
            </a:extLst>
          </p:cNvPr>
          <p:cNvSpPr>
            <a:spLocks noGrp="1"/>
          </p:cNvSpPr>
          <p:nvPr>
            <p:ph type="title"/>
          </p:nvPr>
        </p:nvSpPr>
        <p:spPr/>
        <p:txBody>
          <a:bodyPr/>
          <a:lstStyle/>
          <a:p>
            <a:endParaRPr lang="en-US" dirty="0"/>
          </a:p>
        </p:txBody>
      </p:sp>
      <p:pic>
        <p:nvPicPr>
          <p:cNvPr id="7" name="Google Shape;706;p99">
            <a:extLst>
              <a:ext uri="{FF2B5EF4-FFF2-40B4-BE49-F238E27FC236}">
                <a16:creationId xmlns:a16="http://schemas.microsoft.com/office/drawing/2014/main" id="{1ED66C9B-5C4A-ACE7-E6F7-4DEC00945FEC}"/>
              </a:ext>
            </a:extLst>
          </p:cNvPr>
          <p:cNvPicPr preferRelativeResize="0"/>
          <p:nvPr/>
        </p:nvPicPr>
        <p:blipFill rotWithShape="1">
          <a:blip r:embed="rId2">
            <a:alphaModFix/>
          </a:blip>
          <a:srcRect/>
          <a:stretch/>
        </p:blipFill>
        <p:spPr>
          <a:xfrm>
            <a:off x="1655787" y="2833455"/>
            <a:ext cx="8880425" cy="3338745"/>
          </a:xfrm>
          <a:prstGeom prst="rect">
            <a:avLst/>
          </a:prstGeom>
          <a:noFill/>
          <a:ln>
            <a:noFill/>
          </a:ln>
        </p:spPr>
      </p:pic>
      <p:sp>
        <p:nvSpPr>
          <p:cNvPr id="12" name="CuadroTexto 11">
            <a:extLst>
              <a:ext uri="{FF2B5EF4-FFF2-40B4-BE49-F238E27FC236}">
                <a16:creationId xmlns:a16="http://schemas.microsoft.com/office/drawing/2014/main" id="{274095C1-48EB-4C5F-C76E-73C5546142E5}"/>
              </a:ext>
            </a:extLst>
          </p:cNvPr>
          <p:cNvSpPr txBox="1"/>
          <p:nvPr/>
        </p:nvSpPr>
        <p:spPr>
          <a:xfrm>
            <a:off x="1301993" y="1996581"/>
            <a:ext cx="9721141" cy="1034322"/>
          </a:xfrm>
          <a:prstGeom prst="rect">
            <a:avLst/>
          </a:prstGeom>
          <a:noFill/>
        </p:spPr>
        <p:txBody>
          <a:bodyPr wrap="square">
            <a:spAutoFit/>
          </a:bodyPr>
          <a:lstStyle/>
          <a:p>
            <a:pPr marL="457200" lvl="0" indent="-314325" algn="l" rtl="0">
              <a:lnSpc>
                <a:spcPct val="115000"/>
              </a:lnSpc>
              <a:spcBef>
                <a:spcPts val="0"/>
              </a:spcBef>
              <a:spcAft>
                <a:spcPts val="0"/>
              </a:spcAft>
              <a:buClr>
                <a:srgbClr val="EA90FF"/>
              </a:buClr>
              <a:buSzPts val="1350"/>
              <a:buFont typeface="DM Sans"/>
              <a:buChar char="✔"/>
            </a:pPr>
            <a:r>
              <a:rPr lang="es-ES" sz="1800" dirty="0">
                <a:solidFill>
                  <a:schemeClr val="dk1"/>
                </a:solidFill>
                <a:latin typeface="DM Sans"/>
                <a:ea typeface="DM Sans"/>
                <a:cs typeface="DM Sans"/>
                <a:sym typeface="DM Sans"/>
              </a:rPr>
              <a:t>Si la salida de la función Sigmoide es mayor que 0.5, podemos clasificar el resultado como 1 o SI, y si es menor que 0.5 podemos clasificarlo como 0 o NO. </a:t>
            </a:r>
          </a:p>
          <a:p>
            <a:pPr marL="914400" lvl="0" indent="0" algn="l" rtl="0">
              <a:lnSpc>
                <a:spcPct val="115000"/>
              </a:lnSpc>
              <a:spcBef>
                <a:spcPts val="0"/>
              </a:spcBef>
              <a:spcAft>
                <a:spcPts val="0"/>
              </a:spcAft>
              <a:buNone/>
            </a:pPr>
            <a:endParaRPr lang="es-ES" sz="1800" dirty="0">
              <a:solidFill>
                <a:schemeClr val="dk1"/>
              </a:solidFill>
              <a:latin typeface="DM Sans"/>
              <a:ea typeface="DM Sans"/>
              <a:cs typeface="DM Sans"/>
              <a:sym typeface="DM Sans"/>
            </a:endParaRPr>
          </a:p>
        </p:txBody>
      </p:sp>
      <p:sp>
        <p:nvSpPr>
          <p:cNvPr id="3" name="Título 1">
            <a:extLst>
              <a:ext uri="{FF2B5EF4-FFF2-40B4-BE49-F238E27FC236}">
                <a16:creationId xmlns:a16="http://schemas.microsoft.com/office/drawing/2014/main" id="{AC4B7B5E-A55F-07C9-DDAD-834EC635706D}"/>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a:solidFill>
                  <a:schemeClr val="accent1"/>
                </a:solidFill>
              </a:rPr>
              <a:t>Regresión Logística</a:t>
            </a:r>
          </a:p>
        </p:txBody>
      </p:sp>
    </p:spTree>
    <p:extLst>
      <p:ext uri="{BB962C8B-B14F-4D97-AF65-F5344CB8AC3E}">
        <p14:creationId xmlns:p14="http://schemas.microsoft.com/office/powerpoint/2010/main" val="2783729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76D08B-9672-3489-0BB8-FDE6B2A6B894}"/>
              </a:ext>
            </a:extLst>
          </p:cNvPr>
          <p:cNvSpPr>
            <a:spLocks noGrp="1"/>
          </p:cNvSpPr>
          <p:nvPr>
            <p:ph type="title"/>
          </p:nvPr>
        </p:nvSpPr>
        <p:spPr/>
        <p:txBody>
          <a:bodyPr/>
          <a:lstStyle/>
          <a:p>
            <a:r>
              <a:rPr lang="es-419" dirty="0"/>
              <a:t>Matriz de confusión</a:t>
            </a:r>
            <a:endParaRPr lang="en-US" dirty="0"/>
          </a:p>
        </p:txBody>
      </p:sp>
      <p:sp>
        <p:nvSpPr>
          <p:cNvPr id="4" name="Marcador de contenido 3">
            <a:extLst>
              <a:ext uri="{FF2B5EF4-FFF2-40B4-BE49-F238E27FC236}">
                <a16:creationId xmlns:a16="http://schemas.microsoft.com/office/drawing/2014/main" id="{B8E29A4C-EABD-C351-7F4E-1AF0AD22A8EC}"/>
              </a:ext>
            </a:extLst>
          </p:cNvPr>
          <p:cNvSpPr>
            <a:spLocks noGrp="1"/>
          </p:cNvSpPr>
          <p:nvPr>
            <p:ph sz="half" idx="2"/>
          </p:nvPr>
        </p:nvSpPr>
        <p:spPr>
          <a:xfrm>
            <a:off x="7486650" y="2320290"/>
            <a:ext cx="4151630" cy="2830671"/>
          </a:xfrm>
        </p:spPr>
        <p:txBody>
          <a:bodyPr>
            <a:normAutofit fontScale="92500"/>
          </a:bodyPr>
          <a:lstStyle/>
          <a:p>
            <a:pPr marL="0" indent="0" algn="ctr">
              <a:buNone/>
            </a:pPr>
            <a:r>
              <a:rPr lang="es-419" sz="3600" dirty="0"/>
              <a:t>Evaluación del desempeño del modelo comparando las predicciones con los valores observados </a:t>
            </a:r>
            <a:endParaRPr lang="en-US" sz="3600" dirty="0"/>
          </a:p>
        </p:txBody>
      </p:sp>
      <p:pic>
        <p:nvPicPr>
          <p:cNvPr id="7170" name="Picture 2" descr="What is a confusion matrix?. Everything you Should Know about… | by  Anuganti Suresh | Analytics Vidhya | Medium">
            <a:extLst>
              <a:ext uri="{FF2B5EF4-FFF2-40B4-BE49-F238E27FC236}">
                <a16:creationId xmlns:a16="http://schemas.microsoft.com/office/drawing/2014/main" id="{F7B4B474-29F7-DF52-284C-B91A553B3202}"/>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553720" y="1825625"/>
            <a:ext cx="7024370" cy="4351338"/>
          </a:xfrm>
          <a:prstGeom prst="rect">
            <a:avLst/>
          </a:prstGeom>
          <a:noFill/>
          <a:extLst>
            <a:ext uri="{909E8E84-426E-40DD-AFC4-6F175D3DCCD1}">
              <a14:hiddenFill xmlns:a14="http://schemas.microsoft.com/office/drawing/2010/main">
                <a:solidFill>
                  <a:srgbClr val="FFFFFF"/>
                </a:solidFill>
              </a14:hiddenFill>
            </a:ext>
          </a:extLst>
        </p:spPr>
      </p:pic>
      <p:sp>
        <p:nvSpPr>
          <p:cNvPr id="3" name="Título 1">
            <a:extLst>
              <a:ext uri="{FF2B5EF4-FFF2-40B4-BE49-F238E27FC236}">
                <a16:creationId xmlns:a16="http://schemas.microsoft.com/office/drawing/2014/main" id="{27549F35-69E8-BA70-6790-8E774F7C58E0}"/>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a:solidFill>
                  <a:schemeClr val="accent1"/>
                </a:solidFill>
              </a:rPr>
              <a:t>Matriz de confusión</a:t>
            </a:r>
          </a:p>
        </p:txBody>
      </p:sp>
    </p:spTree>
    <p:extLst>
      <p:ext uri="{BB962C8B-B14F-4D97-AF65-F5344CB8AC3E}">
        <p14:creationId xmlns:p14="http://schemas.microsoft.com/office/powerpoint/2010/main" val="29431006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76D08B-9672-3489-0BB8-FDE6B2A6B894}"/>
              </a:ext>
            </a:extLst>
          </p:cNvPr>
          <p:cNvSpPr>
            <a:spLocks noGrp="1"/>
          </p:cNvSpPr>
          <p:nvPr>
            <p:ph type="title"/>
          </p:nvPr>
        </p:nvSpPr>
        <p:spPr/>
        <p:txBody>
          <a:bodyPr/>
          <a:lstStyle/>
          <a:p>
            <a:r>
              <a:rPr lang="es-419" dirty="0" err="1"/>
              <a:t>Accuracy</a:t>
            </a:r>
            <a:endParaRPr lang="en-US" dirty="0"/>
          </a:p>
        </p:txBody>
      </p:sp>
      <p:sp>
        <p:nvSpPr>
          <p:cNvPr id="4" name="Marcador de contenido 3">
            <a:extLst>
              <a:ext uri="{FF2B5EF4-FFF2-40B4-BE49-F238E27FC236}">
                <a16:creationId xmlns:a16="http://schemas.microsoft.com/office/drawing/2014/main" id="{B8E29A4C-EABD-C351-7F4E-1AF0AD22A8EC}"/>
              </a:ext>
            </a:extLst>
          </p:cNvPr>
          <p:cNvSpPr>
            <a:spLocks noGrp="1"/>
          </p:cNvSpPr>
          <p:nvPr>
            <p:ph sz="half" idx="2"/>
          </p:nvPr>
        </p:nvSpPr>
        <p:spPr>
          <a:xfrm>
            <a:off x="6456680" y="2851626"/>
            <a:ext cx="5181600" cy="2299335"/>
          </a:xfrm>
        </p:spPr>
        <p:txBody>
          <a:bodyPr>
            <a:normAutofit/>
          </a:bodyPr>
          <a:lstStyle/>
          <a:p>
            <a:r>
              <a:rPr lang="es-ES" sz="3200" dirty="0"/>
              <a:t>métrica para evaluar modelos de clasificación evaluando las</a:t>
            </a:r>
            <a:r>
              <a:rPr lang="es-ES" sz="2800" b="0" i="0" dirty="0">
                <a:solidFill>
                  <a:srgbClr val="202124"/>
                </a:solidFill>
                <a:effectLst/>
                <a:latin typeface="Roboto" panose="02000000000000000000" pitchFamily="2" charset="0"/>
              </a:rPr>
              <a:t> predicciones que el modelo realizó correctamente</a:t>
            </a:r>
            <a:endParaRPr lang="en-US" sz="3200" dirty="0"/>
          </a:p>
        </p:txBody>
      </p:sp>
      <p:pic>
        <p:nvPicPr>
          <p:cNvPr id="6" name="Imagen 5">
            <a:extLst>
              <a:ext uri="{FF2B5EF4-FFF2-40B4-BE49-F238E27FC236}">
                <a16:creationId xmlns:a16="http://schemas.microsoft.com/office/drawing/2014/main" id="{8B644922-DDCA-AA2D-2D8A-8B0D34C7EC7B}"/>
              </a:ext>
            </a:extLst>
          </p:cNvPr>
          <p:cNvPicPr>
            <a:picLocks noChangeAspect="1"/>
          </p:cNvPicPr>
          <p:nvPr/>
        </p:nvPicPr>
        <p:blipFill>
          <a:blip r:embed="rId2"/>
          <a:stretch>
            <a:fillRect/>
          </a:stretch>
        </p:blipFill>
        <p:spPr>
          <a:xfrm>
            <a:off x="1112409" y="2851626"/>
            <a:ext cx="5344271" cy="905001"/>
          </a:xfrm>
          <a:prstGeom prst="rect">
            <a:avLst/>
          </a:prstGeom>
        </p:spPr>
      </p:pic>
      <p:pic>
        <p:nvPicPr>
          <p:cNvPr id="8" name="Imagen 7">
            <a:extLst>
              <a:ext uri="{FF2B5EF4-FFF2-40B4-BE49-F238E27FC236}">
                <a16:creationId xmlns:a16="http://schemas.microsoft.com/office/drawing/2014/main" id="{7812003B-C798-FED0-E0C7-D3905F10D873}"/>
              </a:ext>
            </a:extLst>
          </p:cNvPr>
          <p:cNvPicPr>
            <a:picLocks noChangeAspect="1"/>
          </p:cNvPicPr>
          <p:nvPr/>
        </p:nvPicPr>
        <p:blipFill>
          <a:blip r:embed="rId3"/>
          <a:stretch>
            <a:fillRect/>
          </a:stretch>
        </p:blipFill>
        <p:spPr>
          <a:xfrm>
            <a:off x="1162813" y="4001293"/>
            <a:ext cx="4715533" cy="1019317"/>
          </a:xfrm>
          <a:prstGeom prst="rect">
            <a:avLst/>
          </a:prstGeom>
        </p:spPr>
      </p:pic>
      <p:sp>
        <p:nvSpPr>
          <p:cNvPr id="3" name="Título 1">
            <a:extLst>
              <a:ext uri="{FF2B5EF4-FFF2-40B4-BE49-F238E27FC236}">
                <a16:creationId xmlns:a16="http://schemas.microsoft.com/office/drawing/2014/main" id="{A4B35282-0513-3517-648C-661B827AB5F6}"/>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err="1">
                <a:solidFill>
                  <a:schemeClr val="accent1"/>
                </a:solidFill>
              </a:rPr>
              <a:t>Accuracy</a:t>
            </a:r>
            <a:endParaRPr lang="es-ES" dirty="0">
              <a:solidFill>
                <a:schemeClr val="accent1"/>
              </a:solidFill>
            </a:endParaRPr>
          </a:p>
        </p:txBody>
      </p:sp>
    </p:spTree>
    <p:extLst>
      <p:ext uri="{BB962C8B-B14F-4D97-AF65-F5344CB8AC3E}">
        <p14:creationId xmlns:p14="http://schemas.microsoft.com/office/powerpoint/2010/main" val="20884004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54681F-57A1-032A-CB6F-92B3E46E8C09}"/>
              </a:ext>
            </a:extLst>
          </p:cNvPr>
          <p:cNvSpPr>
            <a:spLocks noGrp="1"/>
          </p:cNvSpPr>
          <p:nvPr>
            <p:ph type="title"/>
          </p:nvPr>
        </p:nvSpPr>
        <p:spPr/>
        <p:txBody>
          <a:bodyPr/>
          <a:lstStyle/>
          <a:p>
            <a:pPr algn="ctr"/>
            <a:r>
              <a:rPr lang="en-US" dirty="0" err="1"/>
              <a:t>Desafíos</a:t>
            </a:r>
            <a:endParaRPr lang="en-US" dirty="0"/>
          </a:p>
        </p:txBody>
      </p:sp>
      <p:pic>
        <p:nvPicPr>
          <p:cNvPr id="1026" name="Picture 2" descr="Los desafíos de la transformación digital | TAKTIC">
            <a:extLst>
              <a:ext uri="{FF2B5EF4-FFF2-40B4-BE49-F238E27FC236}">
                <a16:creationId xmlns:a16="http://schemas.microsoft.com/office/drawing/2014/main" id="{AFA097DE-26AC-45F9-D58C-9D212BC3C3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4043" y="2537803"/>
            <a:ext cx="5270319" cy="3009938"/>
          </a:xfrm>
          <a:prstGeom prst="rect">
            <a:avLst/>
          </a:prstGeom>
          <a:noFill/>
          <a:extLst>
            <a:ext uri="{909E8E84-426E-40DD-AFC4-6F175D3DCCD1}">
              <a14:hiddenFill xmlns:a14="http://schemas.microsoft.com/office/drawing/2010/main">
                <a:solidFill>
                  <a:srgbClr val="FFFFFF"/>
                </a:solidFill>
              </a14:hiddenFill>
            </a:ext>
          </a:extLst>
        </p:spPr>
      </p:pic>
      <p:sp>
        <p:nvSpPr>
          <p:cNvPr id="3" name="Título 1">
            <a:extLst>
              <a:ext uri="{FF2B5EF4-FFF2-40B4-BE49-F238E27FC236}">
                <a16:creationId xmlns:a16="http://schemas.microsoft.com/office/drawing/2014/main" id="{F0EF316C-FA61-23AB-5A66-E6B771FFAFA8}"/>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a:solidFill>
                  <a:schemeClr val="accent1"/>
                </a:solidFill>
              </a:rPr>
              <a:t>Desafíos</a:t>
            </a:r>
          </a:p>
        </p:txBody>
      </p:sp>
    </p:spTree>
    <p:extLst>
      <p:ext uri="{BB962C8B-B14F-4D97-AF65-F5344CB8AC3E}">
        <p14:creationId xmlns:p14="http://schemas.microsoft.com/office/powerpoint/2010/main" val="9762158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03A45A-B6B8-FD91-95AB-DDE79D487DBB}"/>
              </a:ext>
            </a:extLst>
          </p:cNvPr>
          <p:cNvSpPr>
            <a:spLocks noGrp="1"/>
          </p:cNvSpPr>
          <p:nvPr>
            <p:ph type="title"/>
          </p:nvPr>
        </p:nvSpPr>
        <p:spPr/>
        <p:txBody>
          <a:bodyPr/>
          <a:lstStyle/>
          <a:p>
            <a:endParaRPr lang="en-US" dirty="0"/>
          </a:p>
        </p:txBody>
      </p:sp>
      <p:sp>
        <p:nvSpPr>
          <p:cNvPr id="3" name="Marcador de contenido 2">
            <a:extLst>
              <a:ext uri="{FF2B5EF4-FFF2-40B4-BE49-F238E27FC236}">
                <a16:creationId xmlns:a16="http://schemas.microsoft.com/office/drawing/2014/main" id="{B71D9B97-0236-B751-FFB7-323EB88F72D8}"/>
              </a:ext>
            </a:extLst>
          </p:cNvPr>
          <p:cNvSpPr>
            <a:spLocks noGrp="1"/>
          </p:cNvSpPr>
          <p:nvPr>
            <p:ph sz="half" idx="1"/>
          </p:nvPr>
        </p:nvSpPr>
        <p:spPr>
          <a:xfrm>
            <a:off x="571500" y="1825625"/>
            <a:ext cx="5103159" cy="4351338"/>
          </a:xfrm>
        </p:spPr>
        <p:txBody>
          <a:bodyPr>
            <a:normAutofit fontScale="85000" lnSpcReduction="10000"/>
          </a:bodyPr>
          <a:lstStyle/>
          <a:p>
            <a:r>
              <a:rPr lang="es-US" sz="2400" dirty="0"/>
              <a:t>Equilibrio entre la complejidad del modelo (cantidad de parámetros) y su simplicidad para evitar tanto el </a:t>
            </a:r>
            <a:r>
              <a:rPr lang="es-US" sz="2400" b="1" dirty="0"/>
              <a:t>sobreajuste</a:t>
            </a:r>
            <a:r>
              <a:rPr lang="es-US" sz="2400" dirty="0"/>
              <a:t> como el </a:t>
            </a:r>
            <a:r>
              <a:rPr lang="es-US" sz="2400" b="1" dirty="0" err="1"/>
              <a:t>subajuste</a:t>
            </a:r>
            <a:r>
              <a:rPr lang="es-US" sz="2400" b="1" dirty="0"/>
              <a:t>.</a:t>
            </a:r>
          </a:p>
          <a:p>
            <a:r>
              <a:rPr lang="es-US" sz="2400" dirty="0"/>
              <a:t>Modelos excesivamente complejos se ajustan demasiado a los datos de entrenamiento, perdiendo </a:t>
            </a:r>
            <a:r>
              <a:rPr lang="es-US" sz="2400" b="1" dirty="0"/>
              <a:t>capacidad de generalización</a:t>
            </a:r>
            <a:r>
              <a:rPr lang="es-US" sz="2400" dirty="0"/>
              <a:t> en nuevos datos, mientras que modelos demasiado simples no capturan adecuadamente las relaciones importantes. </a:t>
            </a:r>
          </a:p>
          <a:p>
            <a:r>
              <a:rPr lang="es-US" sz="2400" dirty="0"/>
              <a:t>El costo-complejidad permite seleccionar un modelo con la complejidad adecuada para </a:t>
            </a:r>
            <a:r>
              <a:rPr lang="es-US" sz="2400" b="1" dirty="0"/>
              <a:t>maximizar el rendimiento sin comprometer su capacidad predictiva</a:t>
            </a:r>
            <a:r>
              <a:rPr lang="es-US" sz="2400" dirty="0"/>
              <a:t>.</a:t>
            </a:r>
            <a:endParaRPr lang="en-US" sz="2400" dirty="0"/>
          </a:p>
        </p:txBody>
      </p:sp>
      <p:pic>
        <p:nvPicPr>
          <p:cNvPr id="2050" name="Picture 2" descr="Optimization and Complexity: The Cost of Complexity [Systems ...">
            <a:extLst>
              <a:ext uri="{FF2B5EF4-FFF2-40B4-BE49-F238E27FC236}">
                <a16:creationId xmlns:a16="http://schemas.microsoft.com/office/drawing/2014/main" id="{BCF4DD08-43D7-4667-A70D-378412BB7574}"/>
              </a:ext>
            </a:extLst>
          </p:cNvPr>
          <p:cNvPicPr>
            <a:picLocks noGrp="1" noChangeAspect="1" noChangeArrowheads="1"/>
          </p:cNvPicPr>
          <p:nvPr>
            <p:ph sz="half" idx="2"/>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73067" y="1949822"/>
            <a:ext cx="5439763" cy="3550025"/>
          </a:xfrm>
          <a:prstGeom prst="rect">
            <a:avLst/>
          </a:prstGeom>
          <a:noFill/>
          <a:extLst>
            <a:ext uri="{909E8E84-426E-40DD-AFC4-6F175D3DCCD1}">
              <a14:hiddenFill xmlns:a14="http://schemas.microsoft.com/office/drawing/2010/main">
                <a:solidFill>
                  <a:srgbClr val="FFFFFF"/>
                </a:solidFill>
              </a14:hiddenFill>
            </a:ext>
          </a:extLst>
        </p:spPr>
      </p:pic>
      <p:sp>
        <p:nvSpPr>
          <p:cNvPr id="4" name="Título 1">
            <a:extLst>
              <a:ext uri="{FF2B5EF4-FFF2-40B4-BE49-F238E27FC236}">
                <a16:creationId xmlns:a16="http://schemas.microsoft.com/office/drawing/2014/main" id="{35EF52DF-FE49-79D0-F450-06732E733F61}"/>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a:solidFill>
                  <a:schemeClr val="accent1"/>
                </a:solidFill>
              </a:rPr>
              <a:t>Costo-complejidad</a:t>
            </a:r>
          </a:p>
        </p:txBody>
      </p:sp>
    </p:spTree>
    <p:extLst>
      <p:ext uri="{BB962C8B-B14F-4D97-AF65-F5344CB8AC3E}">
        <p14:creationId xmlns:p14="http://schemas.microsoft.com/office/powerpoint/2010/main" val="6910462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C7111B-C7C2-A714-2581-6F679099F674}"/>
              </a:ext>
            </a:extLst>
          </p:cNvPr>
          <p:cNvSpPr>
            <a:spLocks noGrp="1"/>
          </p:cNvSpPr>
          <p:nvPr>
            <p:ph type="title"/>
          </p:nvPr>
        </p:nvSpPr>
        <p:spPr/>
        <p:txBody>
          <a:bodyPr/>
          <a:lstStyle/>
          <a:p>
            <a:endParaRPr lang="en-US" dirty="0"/>
          </a:p>
        </p:txBody>
      </p:sp>
      <p:sp>
        <p:nvSpPr>
          <p:cNvPr id="3" name="Marcador de contenido 2">
            <a:extLst>
              <a:ext uri="{FF2B5EF4-FFF2-40B4-BE49-F238E27FC236}">
                <a16:creationId xmlns:a16="http://schemas.microsoft.com/office/drawing/2014/main" id="{B9898667-1417-66B9-1A4E-DC93E134822D}"/>
              </a:ext>
            </a:extLst>
          </p:cNvPr>
          <p:cNvSpPr>
            <a:spLocks noGrp="1"/>
          </p:cNvSpPr>
          <p:nvPr>
            <p:ph sz="half" idx="1"/>
          </p:nvPr>
        </p:nvSpPr>
        <p:spPr>
          <a:xfrm>
            <a:off x="838200" y="1825625"/>
            <a:ext cx="10515600" cy="4351338"/>
          </a:xfrm>
        </p:spPr>
        <p:txBody>
          <a:bodyPr/>
          <a:lstStyle/>
          <a:p>
            <a:r>
              <a:rPr lang="es-ES" sz="2000" dirty="0"/>
              <a:t>El sobreajuste se produce cuando el modelo se ajusta demasiado a los datos de entrenamiento</a:t>
            </a:r>
          </a:p>
          <a:p>
            <a:r>
              <a:rPr lang="es-ES" sz="2000" dirty="0"/>
              <a:t>El modelo puede capturar el ruido en los datos en lugar de las relaciones subyacentes</a:t>
            </a:r>
          </a:p>
          <a:p>
            <a:r>
              <a:rPr lang="es-ES" sz="2000" dirty="0"/>
              <a:t>El sobreajuste puede llevar a una falta de generalización y a un rendimiento deficiente en los datos de prueba</a:t>
            </a:r>
            <a:endParaRPr lang="en-US" sz="2000" dirty="0"/>
          </a:p>
        </p:txBody>
      </p:sp>
      <p:pic>
        <p:nvPicPr>
          <p:cNvPr id="3074" name="Picture 2" descr="Overfitting | DataRobot Artificial Intelligence Wiki">
            <a:extLst>
              <a:ext uri="{FF2B5EF4-FFF2-40B4-BE49-F238E27FC236}">
                <a16:creationId xmlns:a16="http://schemas.microsoft.com/office/drawing/2014/main" id="{F73ECCE1-5729-9A9E-BE68-203A740F55E3}"/>
              </a:ext>
            </a:extLst>
          </p:cNvPr>
          <p:cNvPicPr>
            <a:picLocks noGrp="1" noChangeAspect="1" noChangeArrowheads="1"/>
          </p:cNvPicPr>
          <p:nvPr>
            <p:ph sz="half" idx="2"/>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75687" y="3194113"/>
            <a:ext cx="8573879" cy="3148076"/>
          </a:xfrm>
          <a:prstGeom prst="rect">
            <a:avLst/>
          </a:prstGeom>
          <a:noFill/>
          <a:extLst>
            <a:ext uri="{909E8E84-426E-40DD-AFC4-6F175D3DCCD1}">
              <a14:hiddenFill xmlns:a14="http://schemas.microsoft.com/office/drawing/2010/main">
                <a:solidFill>
                  <a:srgbClr val="FFFFFF"/>
                </a:solidFill>
              </a14:hiddenFill>
            </a:ext>
          </a:extLst>
        </p:spPr>
      </p:pic>
      <p:sp>
        <p:nvSpPr>
          <p:cNvPr id="4" name="Título 1">
            <a:extLst>
              <a:ext uri="{FF2B5EF4-FFF2-40B4-BE49-F238E27FC236}">
                <a16:creationId xmlns:a16="http://schemas.microsoft.com/office/drawing/2014/main" id="{4C424C67-F32B-0DFC-D820-0E21B0C92EB9}"/>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a:solidFill>
                  <a:schemeClr val="accent1"/>
                </a:solidFill>
              </a:rPr>
              <a:t>Sobreajuste</a:t>
            </a:r>
          </a:p>
        </p:txBody>
      </p:sp>
    </p:spTree>
    <p:extLst>
      <p:ext uri="{BB962C8B-B14F-4D97-AF65-F5344CB8AC3E}">
        <p14:creationId xmlns:p14="http://schemas.microsoft.com/office/powerpoint/2010/main" val="23401238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80C6FE-9553-87FC-FC89-0506E13A0177}"/>
              </a:ext>
            </a:extLst>
          </p:cNvPr>
          <p:cNvSpPr>
            <a:spLocks noGrp="1"/>
          </p:cNvSpPr>
          <p:nvPr>
            <p:ph type="title"/>
          </p:nvPr>
        </p:nvSpPr>
        <p:spPr/>
        <p:txBody>
          <a:bodyPr/>
          <a:lstStyle/>
          <a:p>
            <a:r>
              <a:rPr lang="es-ES" dirty="0"/>
              <a:t>Conjuntos de Entrenamiento y Prueba</a:t>
            </a:r>
            <a:endParaRPr lang="en-US" dirty="0"/>
          </a:p>
        </p:txBody>
      </p:sp>
      <p:pic>
        <p:nvPicPr>
          <p:cNvPr id="5122" name="Picture 2" descr="How to Train and Test Data Like a Pro - SDS Club">
            <a:extLst>
              <a:ext uri="{FF2B5EF4-FFF2-40B4-BE49-F238E27FC236}">
                <a16:creationId xmlns:a16="http://schemas.microsoft.com/office/drawing/2014/main" id="{24F19FFF-4C0C-B64F-8AC0-514DD43A9630}"/>
              </a:ext>
            </a:extLst>
          </p:cNvPr>
          <p:cNvPicPr>
            <a:picLocks noGrp="1" noChangeAspect="1" noChangeArrowheads="1"/>
          </p:cNvPicPr>
          <p:nvPr>
            <p:ph sz="half" idx="2"/>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289086" y="1923655"/>
            <a:ext cx="5064714" cy="3697434"/>
          </a:xfrm>
          <a:prstGeom prst="rect">
            <a:avLst/>
          </a:prstGeom>
          <a:noFill/>
          <a:extLst>
            <a:ext uri="{909E8E84-426E-40DD-AFC4-6F175D3DCCD1}">
              <a14:hiddenFill xmlns:a14="http://schemas.microsoft.com/office/drawing/2010/main">
                <a:solidFill>
                  <a:srgbClr val="FFFFFF"/>
                </a:solidFill>
              </a14:hiddenFill>
            </a:ext>
          </a:extLst>
        </p:spPr>
      </p:pic>
      <p:sp>
        <p:nvSpPr>
          <p:cNvPr id="5" name="Marcador de contenido 4">
            <a:extLst>
              <a:ext uri="{FF2B5EF4-FFF2-40B4-BE49-F238E27FC236}">
                <a16:creationId xmlns:a16="http://schemas.microsoft.com/office/drawing/2014/main" id="{AF817C33-0603-6458-BDC2-926744F2566F}"/>
              </a:ext>
            </a:extLst>
          </p:cNvPr>
          <p:cNvSpPr>
            <a:spLocks noGrp="1"/>
          </p:cNvSpPr>
          <p:nvPr>
            <p:ph sz="half" idx="1"/>
          </p:nvPr>
        </p:nvSpPr>
        <p:spPr/>
        <p:txBody>
          <a:bodyPr>
            <a:normAutofit fontScale="92500"/>
          </a:bodyPr>
          <a:lstStyle/>
          <a:p>
            <a:r>
              <a:rPr lang="es-ES" sz="2800" dirty="0"/>
              <a:t>El conjunto de entrenamiento se utiliza para entrenar el modelo</a:t>
            </a:r>
          </a:p>
          <a:p>
            <a:r>
              <a:rPr lang="es-ES" sz="2800" dirty="0"/>
              <a:t>El conjunto de prueba se utiliza para evaluar el rendimiento del modelo en datos no vistos</a:t>
            </a:r>
          </a:p>
          <a:p>
            <a:r>
              <a:rPr lang="es-ES" sz="2800" dirty="0"/>
              <a:t>Es importante que los conjuntos de entrenamiento y prueba sean representativos de la población de datos para evitar el sesgo de selección de datos</a:t>
            </a:r>
            <a:endParaRPr lang="en-US" sz="2800" dirty="0"/>
          </a:p>
        </p:txBody>
      </p:sp>
      <p:sp>
        <p:nvSpPr>
          <p:cNvPr id="3" name="Título 1">
            <a:extLst>
              <a:ext uri="{FF2B5EF4-FFF2-40B4-BE49-F238E27FC236}">
                <a16:creationId xmlns:a16="http://schemas.microsoft.com/office/drawing/2014/main" id="{901B8525-6825-65EE-65F6-B5FE9D04A897}"/>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a:solidFill>
                  <a:schemeClr val="accent1"/>
                </a:solidFill>
              </a:rPr>
              <a:t>Conjuntos de entrenamiento y prueba</a:t>
            </a:r>
          </a:p>
        </p:txBody>
      </p:sp>
    </p:spTree>
    <p:extLst>
      <p:ext uri="{BB962C8B-B14F-4D97-AF65-F5344CB8AC3E}">
        <p14:creationId xmlns:p14="http://schemas.microsoft.com/office/powerpoint/2010/main" val="19206324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21D216-A52C-754D-2E16-70AAE6E9A825}"/>
              </a:ext>
            </a:extLst>
          </p:cNvPr>
          <p:cNvSpPr>
            <a:spLocks noGrp="1"/>
          </p:cNvSpPr>
          <p:nvPr>
            <p:ph type="title"/>
          </p:nvPr>
        </p:nvSpPr>
        <p:spPr/>
        <p:txBody>
          <a:bodyPr/>
          <a:lstStyle/>
          <a:p>
            <a:endParaRPr lang="en-US" dirty="0"/>
          </a:p>
        </p:txBody>
      </p:sp>
      <p:sp>
        <p:nvSpPr>
          <p:cNvPr id="4" name="Marcador de contenido 3">
            <a:extLst>
              <a:ext uri="{FF2B5EF4-FFF2-40B4-BE49-F238E27FC236}">
                <a16:creationId xmlns:a16="http://schemas.microsoft.com/office/drawing/2014/main" id="{4C95597E-6B41-DE0C-721C-2ADA8B1C8C26}"/>
              </a:ext>
            </a:extLst>
          </p:cNvPr>
          <p:cNvSpPr>
            <a:spLocks noGrp="1"/>
          </p:cNvSpPr>
          <p:nvPr>
            <p:ph sz="half" idx="2"/>
          </p:nvPr>
        </p:nvSpPr>
        <p:spPr/>
        <p:txBody>
          <a:bodyPr>
            <a:normAutofit/>
          </a:bodyPr>
          <a:lstStyle/>
          <a:p>
            <a:r>
              <a:rPr lang="es-ES" sz="2400" dirty="0"/>
              <a:t>La división tradicional de los datos en conjuntos de entrenamiento y prueba es del 70% para entrenamiento y el 30% para prueba</a:t>
            </a:r>
          </a:p>
          <a:p>
            <a:r>
              <a:rPr lang="es-ES" sz="2400" dirty="0"/>
              <a:t>La división puede variar dependiendo del tamaño del conjunto de datos y de la complejidad del modelo</a:t>
            </a:r>
          </a:p>
          <a:p>
            <a:r>
              <a:rPr lang="es-ES" sz="2400" dirty="0"/>
              <a:t>Otras técnicas, como la validación cruzada, pueden ser utilizadas para mejorar la evaluación del rendimiento del modelo</a:t>
            </a:r>
            <a:endParaRPr lang="en-US" sz="2400" dirty="0"/>
          </a:p>
        </p:txBody>
      </p:sp>
      <p:pic>
        <p:nvPicPr>
          <p:cNvPr id="7170" name="Picture 2" descr="Machine Learning &amp; Training Data: Sources, Methods, Things to Keep in Mind">
            <a:extLst>
              <a:ext uri="{FF2B5EF4-FFF2-40B4-BE49-F238E27FC236}">
                <a16:creationId xmlns:a16="http://schemas.microsoft.com/office/drawing/2014/main" id="{00A3FD2F-6DF5-97CA-91C7-A1C7CC729C69}"/>
              </a:ext>
            </a:extLst>
          </p:cNvPr>
          <p:cNvPicPr>
            <a:picLocks noGrp="1" noChangeAspect="1" noChangeArrowheads="1"/>
          </p:cNvPicPr>
          <p:nvPr>
            <p:ph sz="half" idx="1"/>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38200" y="2641124"/>
            <a:ext cx="5181600" cy="2720340"/>
          </a:xfrm>
          <a:prstGeom prst="rect">
            <a:avLst/>
          </a:prstGeom>
          <a:noFill/>
          <a:extLst>
            <a:ext uri="{909E8E84-426E-40DD-AFC4-6F175D3DCCD1}">
              <a14:hiddenFill xmlns:a14="http://schemas.microsoft.com/office/drawing/2010/main">
                <a:solidFill>
                  <a:srgbClr val="FFFFFF"/>
                </a:solidFill>
              </a14:hiddenFill>
            </a:ext>
          </a:extLst>
        </p:spPr>
      </p:pic>
      <p:sp>
        <p:nvSpPr>
          <p:cNvPr id="3" name="Título 1">
            <a:extLst>
              <a:ext uri="{FF2B5EF4-FFF2-40B4-BE49-F238E27FC236}">
                <a16:creationId xmlns:a16="http://schemas.microsoft.com/office/drawing/2014/main" id="{7015B1AA-9A0A-B885-76D1-B314499F7995}"/>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a:solidFill>
                  <a:schemeClr val="accent1"/>
                </a:solidFill>
              </a:rPr>
              <a:t>Conjuntos de entrenamiento y prueba</a:t>
            </a:r>
          </a:p>
        </p:txBody>
      </p:sp>
    </p:spTree>
    <p:extLst>
      <p:ext uri="{BB962C8B-B14F-4D97-AF65-F5344CB8AC3E}">
        <p14:creationId xmlns:p14="http://schemas.microsoft.com/office/powerpoint/2010/main" val="23434680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21D216-A52C-754D-2E16-70AAE6E9A825}"/>
              </a:ext>
            </a:extLst>
          </p:cNvPr>
          <p:cNvSpPr>
            <a:spLocks noGrp="1"/>
          </p:cNvSpPr>
          <p:nvPr>
            <p:ph type="title"/>
          </p:nvPr>
        </p:nvSpPr>
        <p:spPr/>
        <p:txBody>
          <a:bodyPr/>
          <a:lstStyle/>
          <a:p>
            <a:endParaRPr lang="en-US" dirty="0"/>
          </a:p>
        </p:txBody>
      </p:sp>
      <p:sp>
        <p:nvSpPr>
          <p:cNvPr id="4" name="Marcador de contenido 3">
            <a:extLst>
              <a:ext uri="{FF2B5EF4-FFF2-40B4-BE49-F238E27FC236}">
                <a16:creationId xmlns:a16="http://schemas.microsoft.com/office/drawing/2014/main" id="{4C95597E-6B41-DE0C-721C-2ADA8B1C8C26}"/>
              </a:ext>
            </a:extLst>
          </p:cNvPr>
          <p:cNvSpPr>
            <a:spLocks noGrp="1"/>
          </p:cNvSpPr>
          <p:nvPr>
            <p:ph sz="half" idx="2"/>
          </p:nvPr>
        </p:nvSpPr>
        <p:spPr/>
        <p:txBody>
          <a:bodyPr>
            <a:normAutofit lnSpcReduction="10000"/>
          </a:bodyPr>
          <a:lstStyle/>
          <a:p>
            <a:r>
              <a:rPr lang="es-ES" sz="2400" dirty="0"/>
              <a:t>La división de los datos debe ser aleatoria para evitar el sesgo de selección de datos</a:t>
            </a:r>
          </a:p>
          <a:p>
            <a:r>
              <a:rPr lang="es-ES" sz="2400" dirty="0"/>
              <a:t>La distribución de las variables debe ser similar en ambos conjuntos</a:t>
            </a:r>
          </a:p>
          <a:p>
            <a:r>
              <a:rPr lang="es-ES" sz="2400" dirty="0"/>
              <a:t>Si el conjunto de datos es desequilibrado, la estratificación debe ser considerada para garantizar que los conjuntos de entrenamiento y prueba reflejen la misma proporción de la variable objetivo</a:t>
            </a:r>
            <a:endParaRPr lang="en-US" sz="2400" dirty="0"/>
          </a:p>
        </p:txBody>
      </p:sp>
      <p:pic>
        <p:nvPicPr>
          <p:cNvPr id="8196" name="Picture 4" descr="Video 1.4: Muestreo estadístico y fuentes de error. - YouTube">
            <a:extLst>
              <a:ext uri="{FF2B5EF4-FFF2-40B4-BE49-F238E27FC236}">
                <a16:creationId xmlns:a16="http://schemas.microsoft.com/office/drawing/2014/main" id="{4B38F501-3E80-F7A6-F249-C9F9068AA8F6}"/>
              </a:ext>
            </a:extLst>
          </p:cNvPr>
          <p:cNvPicPr>
            <a:picLocks noChangeAspect="1" noChangeArrowheads="1"/>
          </p:cNvPicPr>
          <p:nvPr/>
        </p:nvPicPr>
        <p:blipFill>
          <a:blip r:embed="rId2">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627888" y="1967483"/>
            <a:ext cx="5468112" cy="4067621"/>
          </a:xfrm>
          <a:prstGeom prst="rect">
            <a:avLst/>
          </a:prstGeom>
          <a:noFill/>
          <a:extLst>
            <a:ext uri="{909E8E84-426E-40DD-AFC4-6F175D3DCCD1}">
              <a14:hiddenFill xmlns:a14="http://schemas.microsoft.com/office/drawing/2010/main">
                <a:solidFill>
                  <a:srgbClr val="FFFFFF"/>
                </a:solidFill>
              </a14:hiddenFill>
            </a:ext>
          </a:extLst>
        </p:spPr>
      </p:pic>
      <p:sp>
        <p:nvSpPr>
          <p:cNvPr id="3" name="Título 1">
            <a:extLst>
              <a:ext uri="{FF2B5EF4-FFF2-40B4-BE49-F238E27FC236}">
                <a16:creationId xmlns:a16="http://schemas.microsoft.com/office/drawing/2014/main" id="{F690C5F0-6412-8D2A-92D6-CFA9CC17B7AB}"/>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a:solidFill>
                  <a:schemeClr val="accent1"/>
                </a:solidFill>
              </a:rPr>
              <a:t>Conjuntos de entrenamiento y prueba</a:t>
            </a:r>
          </a:p>
        </p:txBody>
      </p:sp>
    </p:spTree>
    <p:extLst>
      <p:ext uri="{BB962C8B-B14F-4D97-AF65-F5344CB8AC3E}">
        <p14:creationId xmlns:p14="http://schemas.microsoft.com/office/powerpoint/2010/main" val="41083725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21D216-A52C-754D-2E16-70AAE6E9A825}"/>
              </a:ext>
            </a:extLst>
          </p:cNvPr>
          <p:cNvSpPr>
            <a:spLocks noGrp="1"/>
          </p:cNvSpPr>
          <p:nvPr>
            <p:ph type="title"/>
          </p:nvPr>
        </p:nvSpPr>
        <p:spPr/>
        <p:txBody>
          <a:bodyPr/>
          <a:lstStyle/>
          <a:p>
            <a:endParaRPr lang="en-US" dirty="0"/>
          </a:p>
        </p:txBody>
      </p:sp>
      <p:pic>
        <p:nvPicPr>
          <p:cNvPr id="5" name="Picture 4" descr="training and validation accuracy">
            <a:extLst>
              <a:ext uri="{FF2B5EF4-FFF2-40B4-BE49-F238E27FC236}">
                <a16:creationId xmlns:a16="http://schemas.microsoft.com/office/drawing/2014/main" id="{3BAE76D4-34A4-625A-52FF-246A4E475E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445" y="1825064"/>
            <a:ext cx="10291354" cy="4563307"/>
          </a:xfrm>
          <a:prstGeom prst="rect">
            <a:avLst/>
          </a:prstGeom>
          <a:noFill/>
          <a:extLst>
            <a:ext uri="{909E8E84-426E-40DD-AFC4-6F175D3DCCD1}">
              <a14:hiddenFill xmlns:a14="http://schemas.microsoft.com/office/drawing/2010/main">
                <a:solidFill>
                  <a:srgbClr val="FFFFFF"/>
                </a:solidFill>
              </a14:hiddenFill>
            </a:ext>
          </a:extLst>
        </p:spPr>
      </p:pic>
      <p:sp>
        <p:nvSpPr>
          <p:cNvPr id="3" name="Título 1">
            <a:extLst>
              <a:ext uri="{FF2B5EF4-FFF2-40B4-BE49-F238E27FC236}">
                <a16:creationId xmlns:a16="http://schemas.microsoft.com/office/drawing/2014/main" id="{17E67111-39B3-C7B0-FC73-B1CC90FAD2E7}"/>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a:solidFill>
                  <a:schemeClr val="accent1"/>
                </a:solidFill>
              </a:rPr>
              <a:t>Conjuntos de entrenamiento y prueba</a:t>
            </a:r>
          </a:p>
        </p:txBody>
      </p:sp>
    </p:spTree>
    <p:extLst>
      <p:ext uri="{BB962C8B-B14F-4D97-AF65-F5344CB8AC3E}">
        <p14:creationId xmlns:p14="http://schemas.microsoft.com/office/powerpoint/2010/main" val="19495666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064CF2-B801-730C-A83B-8154470EA152}"/>
              </a:ext>
            </a:extLst>
          </p:cNvPr>
          <p:cNvSpPr>
            <a:spLocks noGrp="1"/>
          </p:cNvSpPr>
          <p:nvPr>
            <p:ph type="title"/>
          </p:nvPr>
        </p:nvSpPr>
        <p:spPr/>
        <p:txBody>
          <a:bodyPr/>
          <a:lstStyle/>
          <a:p>
            <a:r>
              <a:rPr lang="en-US" dirty="0" err="1"/>
              <a:t>Validación</a:t>
            </a:r>
            <a:r>
              <a:rPr lang="en-US" dirty="0"/>
              <a:t> </a:t>
            </a:r>
            <a:r>
              <a:rPr lang="en-US" dirty="0" err="1"/>
              <a:t>Cruzada</a:t>
            </a:r>
            <a:r>
              <a:rPr lang="en-US" dirty="0"/>
              <a:t> </a:t>
            </a:r>
          </a:p>
        </p:txBody>
      </p:sp>
      <p:sp>
        <p:nvSpPr>
          <p:cNvPr id="3" name="Marcador de contenido 2">
            <a:extLst>
              <a:ext uri="{FF2B5EF4-FFF2-40B4-BE49-F238E27FC236}">
                <a16:creationId xmlns:a16="http://schemas.microsoft.com/office/drawing/2014/main" id="{7550EEC5-2183-0AF2-E53F-F850449942FF}"/>
              </a:ext>
            </a:extLst>
          </p:cNvPr>
          <p:cNvSpPr>
            <a:spLocks noGrp="1"/>
          </p:cNvSpPr>
          <p:nvPr>
            <p:ph sz="half" idx="1"/>
          </p:nvPr>
        </p:nvSpPr>
        <p:spPr/>
        <p:txBody>
          <a:bodyPr/>
          <a:lstStyle/>
          <a:p>
            <a:r>
              <a:rPr lang="es-ES" dirty="0"/>
              <a:t>La validación cruzada es una técnica utilizada para evaluar el rendimiento de un modelo y seleccionar el modelo óptimo</a:t>
            </a:r>
          </a:p>
          <a:p>
            <a:r>
              <a:rPr lang="es-ES" dirty="0"/>
              <a:t>El conjunto de datos se divide en conjuntos de entrenamiento y prueba para evaluar el rendimiento del modelo</a:t>
            </a:r>
          </a:p>
          <a:p>
            <a:r>
              <a:rPr lang="es-ES" dirty="0"/>
              <a:t>La validación cruzada k-</a:t>
            </a:r>
            <a:r>
              <a:rPr lang="es-ES" dirty="0" err="1"/>
              <a:t>fold</a:t>
            </a:r>
            <a:r>
              <a:rPr lang="es-ES" dirty="0"/>
              <a:t> implica dividir los datos en k pliegues y realizar k iteraciones, utilizando cada pliegue como conjunto de prueba una vez</a:t>
            </a:r>
            <a:endParaRPr lang="en-US" dirty="0"/>
          </a:p>
        </p:txBody>
      </p:sp>
      <p:pic>
        <p:nvPicPr>
          <p:cNvPr id="4098" name="Picture 2" descr="3.1. Cross-validation: evaluating estimator performance — scikit-learn  1.2.2 documentation">
            <a:extLst>
              <a:ext uri="{FF2B5EF4-FFF2-40B4-BE49-F238E27FC236}">
                <a16:creationId xmlns:a16="http://schemas.microsoft.com/office/drawing/2014/main" id="{A32C6B3D-91F1-B425-8F9B-B7F6C07213DA}"/>
              </a:ext>
            </a:extLst>
          </p:cNvPr>
          <p:cNvPicPr>
            <a:picLocks noGrp="1" noChangeAspect="1" noChangeArrowheads="1"/>
          </p:cNvPicPr>
          <p:nvPr>
            <p:ph sz="half" idx="2"/>
          </p:nvPr>
        </p:nvPicPr>
        <p:blipFill>
          <a:blip r:embed="rId2">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5943360" y="2048255"/>
            <a:ext cx="5651232" cy="3914357"/>
          </a:xfrm>
          <a:prstGeom prst="rect">
            <a:avLst/>
          </a:prstGeom>
          <a:noFill/>
          <a:extLst>
            <a:ext uri="{909E8E84-426E-40DD-AFC4-6F175D3DCCD1}">
              <a14:hiddenFill xmlns:a14="http://schemas.microsoft.com/office/drawing/2010/main">
                <a:solidFill>
                  <a:srgbClr val="FFFFFF"/>
                </a:solidFill>
              </a14:hiddenFill>
            </a:ext>
          </a:extLst>
        </p:spPr>
      </p:pic>
      <p:sp>
        <p:nvSpPr>
          <p:cNvPr id="4" name="Título 1">
            <a:extLst>
              <a:ext uri="{FF2B5EF4-FFF2-40B4-BE49-F238E27FC236}">
                <a16:creationId xmlns:a16="http://schemas.microsoft.com/office/drawing/2014/main" id="{E731AE87-EC81-72CE-A94A-C788A36C7254}"/>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dirty="0" err="1">
                <a:solidFill>
                  <a:schemeClr val="accent1"/>
                </a:solidFill>
              </a:rPr>
              <a:t>Validacion</a:t>
            </a:r>
            <a:r>
              <a:rPr lang="es-ES" dirty="0">
                <a:solidFill>
                  <a:schemeClr val="accent1"/>
                </a:solidFill>
              </a:rPr>
              <a:t> cruzada</a:t>
            </a:r>
          </a:p>
        </p:txBody>
      </p:sp>
    </p:spTree>
    <p:extLst>
      <p:ext uri="{BB962C8B-B14F-4D97-AF65-F5344CB8AC3E}">
        <p14:creationId xmlns:p14="http://schemas.microsoft.com/office/powerpoint/2010/main" val="38494613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54681F-57A1-032A-CB6F-92B3E46E8C09}"/>
              </a:ext>
            </a:extLst>
          </p:cNvPr>
          <p:cNvSpPr>
            <a:spLocks noGrp="1"/>
          </p:cNvSpPr>
          <p:nvPr>
            <p:ph type="title"/>
          </p:nvPr>
        </p:nvSpPr>
        <p:spPr/>
        <p:txBody>
          <a:bodyPr/>
          <a:lstStyle/>
          <a:p>
            <a:pPr algn="ctr"/>
            <a:endParaRPr lang="en-US" dirty="0"/>
          </a:p>
        </p:txBody>
      </p:sp>
      <p:pic>
        <p:nvPicPr>
          <p:cNvPr id="4098" name="Picture 2" descr="Athena Analytics on Twitter: &quot;The difference between supervised and unsupervised  learning, illustrated by @Ciaraioch #supervisedlearning  #unsupervisedlearning #machinelearning #dataanalytics #BigData #Analytics  #DataScience #Statistics #DataScientists ...">
            <a:extLst>
              <a:ext uri="{FF2B5EF4-FFF2-40B4-BE49-F238E27FC236}">
                <a16:creationId xmlns:a16="http://schemas.microsoft.com/office/drawing/2014/main" id="{6F8200A5-8372-DEC9-55C5-529E8C8007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1841507"/>
            <a:ext cx="11353800" cy="4216281"/>
          </a:xfrm>
          <a:prstGeom prst="rect">
            <a:avLst/>
          </a:prstGeom>
          <a:noFill/>
          <a:extLst>
            <a:ext uri="{909E8E84-426E-40DD-AFC4-6F175D3DCCD1}">
              <a14:hiddenFill xmlns:a14="http://schemas.microsoft.com/office/drawing/2010/main">
                <a:solidFill>
                  <a:srgbClr val="FFFFFF"/>
                </a:solidFill>
              </a14:hiddenFill>
            </a:ext>
          </a:extLst>
        </p:spPr>
      </p:pic>
      <p:sp>
        <p:nvSpPr>
          <p:cNvPr id="3" name="Título 1">
            <a:extLst>
              <a:ext uri="{FF2B5EF4-FFF2-40B4-BE49-F238E27FC236}">
                <a16:creationId xmlns:a16="http://schemas.microsoft.com/office/drawing/2014/main" id="{BAB6C707-037F-5C49-984A-3984FFB92204}"/>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sz="4400" b="1" dirty="0">
                <a:solidFill>
                  <a:schemeClr val="accent1"/>
                </a:solidFill>
              </a:rPr>
              <a:t>Aprendizaje NO supervisado</a:t>
            </a:r>
            <a:endParaRPr lang="es-ES" dirty="0">
              <a:solidFill>
                <a:schemeClr val="accent1"/>
              </a:solidFill>
            </a:endParaRPr>
          </a:p>
        </p:txBody>
      </p:sp>
    </p:spTree>
    <p:extLst>
      <p:ext uri="{BB962C8B-B14F-4D97-AF65-F5344CB8AC3E}">
        <p14:creationId xmlns:p14="http://schemas.microsoft.com/office/powerpoint/2010/main" val="13895556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485644-BAF4-20DD-80B3-B0B119CEBDA3}"/>
              </a:ext>
            </a:extLst>
          </p:cNvPr>
          <p:cNvSpPr>
            <a:spLocks noGrp="1"/>
          </p:cNvSpPr>
          <p:nvPr>
            <p:ph type="title"/>
          </p:nvPr>
        </p:nvSpPr>
        <p:spPr/>
        <p:txBody>
          <a:bodyPr/>
          <a:lstStyle/>
          <a:p>
            <a:endParaRPr lang="en-US" dirty="0"/>
          </a:p>
        </p:txBody>
      </p:sp>
      <p:pic>
        <p:nvPicPr>
          <p:cNvPr id="5" name="Google Shape;154;p34">
            <a:extLst>
              <a:ext uri="{FF2B5EF4-FFF2-40B4-BE49-F238E27FC236}">
                <a16:creationId xmlns:a16="http://schemas.microsoft.com/office/drawing/2014/main" id="{79E6F77A-DA36-23E8-3231-22A76E3AB68A}"/>
              </a:ext>
            </a:extLst>
          </p:cNvPr>
          <p:cNvPicPr preferRelativeResize="0"/>
          <p:nvPr/>
        </p:nvPicPr>
        <p:blipFill>
          <a:blip r:embed="rId2">
            <a:alphaModFix/>
          </a:blip>
          <a:stretch>
            <a:fillRect/>
          </a:stretch>
        </p:blipFill>
        <p:spPr>
          <a:xfrm>
            <a:off x="2607825" y="1871221"/>
            <a:ext cx="6976349" cy="3991574"/>
          </a:xfrm>
          <a:prstGeom prst="rect">
            <a:avLst/>
          </a:prstGeom>
          <a:noFill/>
          <a:ln>
            <a:noFill/>
          </a:ln>
        </p:spPr>
      </p:pic>
      <p:sp>
        <p:nvSpPr>
          <p:cNvPr id="3" name="Título 1">
            <a:extLst>
              <a:ext uri="{FF2B5EF4-FFF2-40B4-BE49-F238E27FC236}">
                <a16:creationId xmlns:a16="http://schemas.microsoft.com/office/drawing/2014/main" id="{2B2E3687-FB86-C7DB-2F8D-87B108F63E7D}"/>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sz="4400" b="1" dirty="0">
                <a:solidFill>
                  <a:schemeClr val="accent1"/>
                </a:solidFill>
              </a:rPr>
              <a:t>Aprendizaje NO supervisado</a:t>
            </a:r>
            <a:endParaRPr lang="es-ES" dirty="0">
              <a:solidFill>
                <a:schemeClr val="accent1"/>
              </a:solidFill>
            </a:endParaRPr>
          </a:p>
        </p:txBody>
      </p:sp>
    </p:spTree>
    <p:extLst>
      <p:ext uri="{BB962C8B-B14F-4D97-AF65-F5344CB8AC3E}">
        <p14:creationId xmlns:p14="http://schemas.microsoft.com/office/powerpoint/2010/main" val="23640843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485644-BAF4-20DD-80B3-B0B119CEBDA3}"/>
              </a:ext>
            </a:extLst>
          </p:cNvPr>
          <p:cNvSpPr>
            <a:spLocks noGrp="1"/>
          </p:cNvSpPr>
          <p:nvPr>
            <p:ph type="title"/>
          </p:nvPr>
        </p:nvSpPr>
        <p:spPr/>
        <p:txBody>
          <a:bodyPr/>
          <a:lstStyle/>
          <a:p>
            <a:endParaRPr lang="en-US" dirty="0"/>
          </a:p>
        </p:txBody>
      </p:sp>
      <p:sp>
        <p:nvSpPr>
          <p:cNvPr id="4" name="CuadroTexto 3">
            <a:extLst>
              <a:ext uri="{FF2B5EF4-FFF2-40B4-BE49-F238E27FC236}">
                <a16:creationId xmlns:a16="http://schemas.microsoft.com/office/drawing/2014/main" id="{23A7E6BD-15C5-C4BD-440C-3FEB361CB716}"/>
              </a:ext>
            </a:extLst>
          </p:cNvPr>
          <p:cNvSpPr txBox="1"/>
          <p:nvPr/>
        </p:nvSpPr>
        <p:spPr>
          <a:xfrm>
            <a:off x="838200" y="2016070"/>
            <a:ext cx="6096000" cy="4154984"/>
          </a:xfrm>
          <a:prstGeom prst="rect">
            <a:avLst/>
          </a:prstGeom>
          <a:noFill/>
        </p:spPr>
        <p:txBody>
          <a:bodyPr wrap="square">
            <a:spAutoFit/>
          </a:bodyPr>
          <a:lstStyle/>
          <a:p>
            <a:r>
              <a:rPr lang="es" sz="2400" dirty="0">
                <a:latin typeface="DM Sans"/>
                <a:ea typeface="DM Sans"/>
                <a:cs typeface="DM Sans"/>
                <a:sym typeface="DM Sans"/>
              </a:rPr>
              <a:t>Se define por el uso de </a:t>
            </a:r>
            <a:r>
              <a:rPr lang="es" sz="2400" b="1" dirty="0">
                <a:latin typeface="DM Sans"/>
                <a:ea typeface="DM Sans"/>
                <a:cs typeface="DM Sans"/>
                <a:sym typeface="DM Sans"/>
              </a:rPr>
              <a:t>conjuntos de datos no etiquetados</a:t>
            </a:r>
            <a:r>
              <a:rPr lang="es" sz="2400" dirty="0">
                <a:latin typeface="DM Sans"/>
                <a:ea typeface="DM Sans"/>
                <a:cs typeface="DM Sans"/>
                <a:sym typeface="DM Sans"/>
              </a:rPr>
              <a:t> para entrenar algoritmos que encuentren patrones y relaciones ocultos. Por lo tanto, la </a:t>
            </a:r>
            <a:r>
              <a:rPr lang="es" sz="2400" b="1" dirty="0">
                <a:latin typeface="DM Sans"/>
                <a:ea typeface="DM Sans"/>
                <a:cs typeface="DM Sans"/>
                <a:sym typeface="DM Sans"/>
              </a:rPr>
              <a:t>variable que se quiere predecir es desconocida </a:t>
            </a:r>
            <a:r>
              <a:rPr lang="es" sz="2400" dirty="0">
                <a:latin typeface="DM Sans"/>
                <a:ea typeface="DM Sans"/>
                <a:cs typeface="DM Sans"/>
                <a:sym typeface="DM Sans"/>
              </a:rPr>
              <a:t>para realizar el análisis. </a:t>
            </a:r>
          </a:p>
          <a:p>
            <a:r>
              <a:rPr lang="es" sz="2400" dirty="0">
                <a:latin typeface="DM Sans"/>
                <a:sym typeface="DM Sans"/>
              </a:rPr>
              <a:t>Es un metodo más relacionado con fase de </a:t>
            </a:r>
            <a:r>
              <a:rPr lang="es" sz="2400" b="1" dirty="0">
                <a:latin typeface="DM Sans"/>
                <a:sym typeface="DM Sans"/>
              </a:rPr>
              <a:t>exploración </a:t>
            </a:r>
            <a:r>
              <a:rPr lang="es" sz="2400" dirty="0">
                <a:latin typeface="DM Sans"/>
                <a:sym typeface="DM Sans"/>
              </a:rPr>
              <a:t>y donde</a:t>
            </a:r>
            <a:r>
              <a:rPr lang="es" sz="2400" b="1" dirty="0">
                <a:latin typeface="DM Sans"/>
                <a:sym typeface="DM Sans"/>
              </a:rPr>
              <a:t> los resultados suelen irse definiendo y redefiniendo </a:t>
            </a:r>
            <a:r>
              <a:rPr lang="es" sz="2400" dirty="0">
                <a:latin typeface="DM Sans"/>
                <a:sym typeface="DM Sans"/>
              </a:rPr>
              <a:t>durante los cambios en el ciclo del proyecto analítico.</a:t>
            </a:r>
            <a:endParaRPr lang="en-US" sz="2400" dirty="0"/>
          </a:p>
        </p:txBody>
      </p:sp>
      <p:pic>
        <p:nvPicPr>
          <p:cNvPr id="6" name="Google Shape;186;p39">
            <a:extLst>
              <a:ext uri="{FF2B5EF4-FFF2-40B4-BE49-F238E27FC236}">
                <a16:creationId xmlns:a16="http://schemas.microsoft.com/office/drawing/2014/main" id="{C3E6E8F8-1EED-9F70-CE4A-CEA44FE3703D}"/>
              </a:ext>
            </a:extLst>
          </p:cNvPr>
          <p:cNvPicPr preferRelativeResize="0"/>
          <p:nvPr/>
        </p:nvPicPr>
        <p:blipFill>
          <a:blip r:embed="rId2">
            <a:alphaModFix/>
          </a:blip>
          <a:stretch>
            <a:fillRect/>
          </a:stretch>
        </p:blipFill>
        <p:spPr>
          <a:xfrm>
            <a:off x="7032308" y="4768662"/>
            <a:ext cx="4516119" cy="1465369"/>
          </a:xfrm>
          <a:prstGeom prst="rect">
            <a:avLst/>
          </a:prstGeom>
          <a:noFill/>
          <a:ln>
            <a:noFill/>
          </a:ln>
        </p:spPr>
      </p:pic>
      <p:pic>
        <p:nvPicPr>
          <p:cNvPr id="3" name="Google Shape;199;p41">
            <a:extLst>
              <a:ext uri="{FF2B5EF4-FFF2-40B4-BE49-F238E27FC236}">
                <a16:creationId xmlns:a16="http://schemas.microsoft.com/office/drawing/2014/main" id="{0FDBDE3D-D5E8-5FAD-F30D-CA5F657CA159}"/>
              </a:ext>
            </a:extLst>
          </p:cNvPr>
          <p:cNvPicPr preferRelativeResize="0"/>
          <p:nvPr/>
        </p:nvPicPr>
        <p:blipFill>
          <a:blip r:embed="rId3">
            <a:clrChange>
              <a:clrFrom>
                <a:srgbClr val="FFFFFF"/>
              </a:clrFrom>
              <a:clrTo>
                <a:srgbClr val="FFFFFF">
                  <a:alpha val="0"/>
                </a:srgbClr>
              </a:clrTo>
            </a:clrChange>
            <a:alphaModFix/>
          </a:blip>
          <a:stretch>
            <a:fillRect/>
          </a:stretch>
        </p:blipFill>
        <p:spPr>
          <a:xfrm>
            <a:off x="6837681" y="1890116"/>
            <a:ext cx="4905375" cy="2941523"/>
          </a:xfrm>
          <a:prstGeom prst="rect">
            <a:avLst/>
          </a:prstGeom>
          <a:noFill/>
          <a:ln>
            <a:noFill/>
          </a:ln>
        </p:spPr>
      </p:pic>
      <p:sp>
        <p:nvSpPr>
          <p:cNvPr id="5" name="Título 1">
            <a:extLst>
              <a:ext uri="{FF2B5EF4-FFF2-40B4-BE49-F238E27FC236}">
                <a16:creationId xmlns:a16="http://schemas.microsoft.com/office/drawing/2014/main" id="{8EA84669-0FFB-013F-918D-8EBB21150EBA}"/>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sz="4400" b="1" dirty="0">
                <a:solidFill>
                  <a:schemeClr val="accent1"/>
                </a:solidFill>
              </a:rPr>
              <a:t>Aprendizaje NO supervisado</a:t>
            </a:r>
            <a:endParaRPr lang="es-ES" dirty="0">
              <a:solidFill>
                <a:schemeClr val="accent1"/>
              </a:solidFill>
            </a:endParaRPr>
          </a:p>
        </p:txBody>
      </p:sp>
    </p:spTree>
    <p:extLst>
      <p:ext uri="{BB962C8B-B14F-4D97-AF65-F5344CB8AC3E}">
        <p14:creationId xmlns:p14="http://schemas.microsoft.com/office/powerpoint/2010/main" val="28793678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485644-BAF4-20DD-80B3-B0B119CEBDA3}"/>
              </a:ext>
            </a:extLst>
          </p:cNvPr>
          <p:cNvSpPr>
            <a:spLocks noGrp="1"/>
          </p:cNvSpPr>
          <p:nvPr>
            <p:ph type="title"/>
          </p:nvPr>
        </p:nvSpPr>
        <p:spPr/>
        <p:txBody>
          <a:bodyPr/>
          <a:lstStyle/>
          <a:p>
            <a:endParaRPr lang="en-US" dirty="0"/>
          </a:p>
        </p:txBody>
      </p:sp>
      <p:sp>
        <p:nvSpPr>
          <p:cNvPr id="8" name="Google Shape;206;p42">
            <a:extLst>
              <a:ext uri="{FF2B5EF4-FFF2-40B4-BE49-F238E27FC236}">
                <a16:creationId xmlns:a16="http://schemas.microsoft.com/office/drawing/2014/main" id="{24F06B7E-4571-C67D-54EF-F4E6A836DA2F}"/>
              </a:ext>
            </a:extLst>
          </p:cNvPr>
          <p:cNvSpPr/>
          <p:nvPr/>
        </p:nvSpPr>
        <p:spPr>
          <a:xfrm>
            <a:off x="275728" y="2410011"/>
            <a:ext cx="2487214" cy="274162"/>
          </a:xfrm>
          <a:prstGeom prst="parallelogram">
            <a:avLst>
              <a:gd name="adj" fmla="val 0"/>
            </a:avLst>
          </a:prstGeom>
          <a:solidFill>
            <a:srgbClr val="569CD6"/>
          </a:solidFill>
          <a:ln w="9525" cap="flat" cmpd="sng">
            <a:solidFill>
              <a:srgbClr val="569CD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 b="1">
                <a:solidFill>
                  <a:schemeClr val="dk1"/>
                </a:solidFill>
                <a:latin typeface="DM Sans"/>
                <a:ea typeface="DM Sans"/>
                <a:cs typeface="DM Sans"/>
                <a:sym typeface="DM Sans"/>
              </a:rPr>
              <a:t>Entrenamiento</a:t>
            </a:r>
            <a:endParaRPr b="1">
              <a:latin typeface="DM Sans"/>
              <a:ea typeface="DM Sans"/>
              <a:cs typeface="DM Sans"/>
              <a:sym typeface="DM Sans"/>
            </a:endParaRPr>
          </a:p>
        </p:txBody>
      </p:sp>
      <p:graphicFrame>
        <p:nvGraphicFramePr>
          <p:cNvPr id="9" name="Google Shape;207;p42">
            <a:extLst>
              <a:ext uri="{FF2B5EF4-FFF2-40B4-BE49-F238E27FC236}">
                <a16:creationId xmlns:a16="http://schemas.microsoft.com/office/drawing/2014/main" id="{78ADF96E-7DEF-2BFC-2EEF-6932E63EA63E}"/>
              </a:ext>
            </a:extLst>
          </p:cNvPr>
          <p:cNvGraphicFramePr/>
          <p:nvPr/>
        </p:nvGraphicFramePr>
        <p:xfrm>
          <a:off x="2201958" y="2343049"/>
          <a:ext cx="9151842" cy="3735476"/>
        </p:xfrm>
        <a:graphic>
          <a:graphicData uri="http://schemas.openxmlformats.org/drawingml/2006/table">
            <a:tbl>
              <a:tblPr>
                <a:noFill/>
              </a:tblPr>
              <a:tblGrid>
                <a:gridCol w="4797355">
                  <a:extLst>
                    <a:ext uri="{9D8B030D-6E8A-4147-A177-3AD203B41FA5}">
                      <a16:colId xmlns:a16="http://schemas.microsoft.com/office/drawing/2014/main" val="20000"/>
                    </a:ext>
                  </a:extLst>
                </a:gridCol>
                <a:gridCol w="4354487">
                  <a:extLst>
                    <a:ext uri="{9D8B030D-6E8A-4147-A177-3AD203B41FA5}">
                      <a16:colId xmlns:a16="http://schemas.microsoft.com/office/drawing/2014/main" val="20001"/>
                    </a:ext>
                  </a:extLst>
                </a:gridCol>
              </a:tblGrid>
              <a:tr h="388570">
                <a:tc>
                  <a:txBody>
                    <a:bodyPr/>
                    <a:lstStyle/>
                    <a:p>
                      <a:pPr marL="0" lvl="0" indent="0" algn="ctr" rtl="0">
                        <a:spcBef>
                          <a:spcPts val="0"/>
                        </a:spcBef>
                        <a:spcAft>
                          <a:spcPts val="0"/>
                        </a:spcAft>
                        <a:buNone/>
                      </a:pPr>
                      <a:r>
                        <a:rPr lang="es" sz="1300">
                          <a:latin typeface="DM Sans"/>
                          <a:ea typeface="DM Sans"/>
                          <a:cs typeface="DM Sans"/>
                          <a:sym typeface="DM Sans"/>
                        </a:rPr>
                        <a:t>Utiliza datos etiquetados</a:t>
                      </a:r>
                      <a:endParaRPr sz="1300">
                        <a:latin typeface="DM Sans"/>
                        <a:ea typeface="DM Sans"/>
                        <a:cs typeface="DM Sans"/>
                        <a:sym typeface="DM Sans"/>
                      </a:endParaRPr>
                    </a:p>
                  </a:txBody>
                  <a:tcPr marL="91425" marR="91425" marT="91425" marB="91425">
                    <a:lnL w="19050" cap="flat" cmpd="sng">
                      <a:solidFill>
                        <a:srgbClr val="569CD6"/>
                      </a:solidFill>
                      <a:prstDash val="solid"/>
                      <a:round/>
                      <a:headEnd type="none" w="sm" len="sm"/>
                      <a:tailEnd type="none" w="sm" len="sm"/>
                    </a:lnL>
                    <a:lnR w="19050" cap="flat" cmpd="sng">
                      <a:solidFill>
                        <a:srgbClr val="569CD6"/>
                      </a:solidFill>
                      <a:prstDash val="solid"/>
                      <a:round/>
                      <a:headEnd type="none" w="sm" len="sm"/>
                      <a:tailEnd type="none" w="sm" len="sm"/>
                    </a:lnR>
                    <a:lnT w="19050" cap="flat" cmpd="sng">
                      <a:solidFill>
                        <a:srgbClr val="569CD6"/>
                      </a:solidFill>
                      <a:prstDash val="solid"/>
                      <a:round/>
                      <a:headEnd type="none" w="sm" len="sm"/>
                      <a:tailEnd type="none" w="sm" len="sm"/>
                    </a:lnT>
                    <a:lnB w="19050" cap="flat" cmpd="sng">
                      <a:solidFill>
                        <a:srgbClr val="569CD6"/>
                      </a:solidFill>
                      <a:prstDash val="solid"/>
                      <a:round/>
                      <a:headEnd type="none" w="sm" len="sm"/>
                      <a:tailEnd type="none" w="sm" len="sm"/>
                    </a:lnB>
                  </a:tcPr>
                </a:tc>
                <a:tc>
                  <a:txBody>
                    <a:bodyPr/>
                    <a:lstStyle/>
                    <a:p>
                      <a:pPr marL="0" lvl="0" indent="0" algn="ctr" rtl="0">
                        <a:spcBef>
                          <a:spcPts val="0"/>
                        </a:spcBef>
                        <a:spcAft>
                          <a:spcPts val="0"/>
                        </a:spcAft>
                        <a:buNone/>
                      </a:pPr>
                      <a:r>
                        <a:rPr lang="es" sz="1300">
                          <a:latin typeface="DM Sans"/>
                          <a:ea typeface="DM Sans"/>
                          <a:cs typeface="DM Sans"/>
                          <a:sym typeface="DM Sans"/>
                        </a:rPr>
                        <a:t>Utiliza datos no etiquetados</a:t>
                      </a:r>
                      <a:endParaRPr sz="1300">
                        <a:latin typeface="DM Sans"/>
                        <a:ea typeface="DM Sans"/>
                        <a:cs typeface="DM Sans"/>
                        <a:sym typeface="DM Sans"/>
                      </a:endParaRPr>
                    </a:p>
                  </a:txBody>
                  <a:tcPr marL="91425" marR="91425" marT="91425" marB="91425">
                    <a:lnL w="19050" cap="flat" cmpd="sng">
                      <a:solidFill>
                        <a:srgbClr val="569CD6"/>
                      </a:solidFill>
                      <a:prstDash val="solid"/>
                      <a:round/>
                      <a:headEnd type="none" w="sm" len="sm"/>
                      <a:tailEnd type="none" w="sm" len="sm"/>
                    </a:lnL>
                    <a:lnR w="19050" cap="flat" cmpd="sng">
                      <a:solidFill>
                        <a:srgbClr val="569CD6"/>
                      </a:solidFill>
                      <a:prstDash val="solid"/>
                      <a:round/>
                      <a:headEnd type="none" w="sm" len="sm"/>
                      <a:tailEnd type="none" w="sm" len="sm"/>
                    </a:lnR>
                    <a:lnT w="19050" cap="flat" cmpd="sng">
                      <a:solidFill>
                        <a:srgbClr val="569CD6"/>
                      </a:solidFill>
                      <a:prstDash val="solid"/>
                      <a:round/>
                      <a:headEnd type="none" w="sm" len="sm"/>
                      <a:tailEnd type="none" w="sm" len="sm"/>
                    </a:lnT>
                    <a:lnB w="19050" cap="flat" cmpd="sng">
                      <a:solidFill>
                        <a:srgbClr val="569CD6"/>
                      </a:solidFill>
                      <a:prstDash val="solid"/>
                      <a:round/>
                      <a:headEnd type="none" w="sm" len="sm"/>
                      <a:tailEnd type="none" w="sm" len="sm"/>
                    </a:lnB>
                  </a:tcPr>
                </a:tc>
                <a:extLst>
                  <a:ext uri="{0D108BD9-81ED-4DB2-BD59-A6C34878D82A}">
                    <a16:rowId xmlns:a16="http://schemas.microsoft.com/office/drawing/2014/main" val="10000"/>
                  </a:ext>
                </a:extLst>
              </a:tr>
              <a:tr h="397474">
                <a:tc>
                  <a:txBody>
                    <a:bodyPr/>
                    <a:lstStyle/>
                    <a:p>
                      <a:pPr marL="0" lvl="0" indent="0" algn="ctr" rtl="0">
                        <a:spcBef>
                          <a:spcPts val="0"/>
                        </a:spcBef>
                        <a:spcAft>
                          <a:spcPts val="0"/>
                        </a:spcAft>
                        <a:buNone/>
                      </a:pPr>
                      <a:r>
                        <a:rPr lang="es" sz="1300">
                          <a:latin typeface="DM Sans"/>
                          <a:ea typeface="DM Sans"/>
                          <a:cs typeface="DM Sans"/>
                          <a:sym typeface="DM Sans"/>
                        </a:rPr>
                        <a:t>Retroalimentación directa</a:t>
                      </a:r>
                      <a:endParaRPr sz="1300">
                        <a:latin typeface="DM Sans"/>
                        <a:ea typeface="DM Sans"/>
                        <a:cs typeface="DM Sans"/>
                        <a:sym typeface="DM Sans"/>
                      </a:endParaRPr>
                    </a:p>
                  </a:txBody>
                  <a:tcPr marL="91425" marR="91425" marT="91425" marB="91425">
                    <a:lnL w="19050" cap="flat" cmpd="sng">
                      <a:solidFill>
                        <a:srgbClr val="569CD6"/>
                      </a:solidFill>
                      <a:prstDash val="solid"/>
                      <a:round/>
                      <a:headEnd type="none" w="sm" len="sm"/>
                      <a:tailEnd type="none" w="sm" len="sm"/>
                    </a:lnL>
                    <a:lnR w="19050" cap="flat" cmpd="sng">
                      <a:solidFill>
                        <a:srgbClr val="569CD6"/>
                      </a:solidFill>
                      <a:prstDash val="solid"/>
                      <a:round/>
                      <a:headEnd type="none" w="sm" len="sm"/>
                      <a:tailEnd type="none" w="sm" len="sm"/>
                    </a:lnR>
                    <a:lnT w="19050" cap="flat" cmpd="sng">
                      <a:solidFill>
                        <a:srgbClr val="569CD6"/>
                      </a:solidFill>
                      <a:prstDash val="solid"/>
                      <a:round/>
                      <a:headEnd type="none" w="sm" len="sm"/>
                      <a:tailEnd type="none" w="sm" len="sm"/>
                    </a:lnT>
                    <a:lnB w="19050" cap="flat" cmpd="sng">
                      <a:solidFill>
                        <a:srgbClr val="569CD6"/>
                      </a:solidFill>
                      <a:prstDash val="solid"/>
                      <a:round/>
                      <a:headEnd type="none" w="sm" len="sm"/>
                      <a:tailEnd type="none" w="sm" len="sm"/>
                    </a:lnB>
                  </a:tcPr>
                </a:tc>
                <a:tc>
                  <a:txBody>
                    <a:bodyPr/>
                    <a:lstStyle/>
                    <a:p>
                      <a:pPr marL="0" lvl="0" indent="0" algn="ctr" rtl="0">
                        <a:spcBef>
                          <a:spcPts val="0"/>
                        </a:spcBef>
                        <a:spcAft>
                          <a:spcPts val="0"/>
                        </a:spcAft>
                        <a:buNone/>
                      </a:pPr>
                      <a:r>
                        <a:rPr lang="es" sz="1300">
                          <a:latin typeface="DM Sans"/>
                          <a:ea typeface="DM Sans"/>
                          <a:cs typeface="DM Sans"/>
                          <a:sym typeface="DM Sans"/>
                        </a:rPr>
                        <a:t>No tiene retroalimentación directa</a:t>
                      </a:r>
                      <a:endParaRPr sz="1300">
                        <a:latin typeface="DM Sans"/>
                        <a:ea typeface="DM Sans"/>
                        <a:cs typeface="DM Sans"/>
                        <a:sym typeface="DM Sans"/>
                      </a:endParaRPr>
                    </a:p>
                  </a:txBody>
                  <a:tcPr marL="91425" marR="91425" marT="91425" marB="91425">
                    <a:lnL w="19050" cap="flat" cmpd="sng">
                      <a:solidFill>
                        <a:srgbClr val="569CD6"/>
                      </a:solidFill>
                      <a:prstDash val="solid"/>
                      <a:round/>
                      <a:headEnd type="none" w="sm" len="sm"/>
                      <a:tailEnd type="none" w="sm" len="sm"/>
                    </a:lnL>
                    <a:lnR w="19050" cap="flat" cmpd="sng">
                      <a:solidFill>
                        <a:srgbClr val="569CD6"/>
                      </a:solidFill>
                      <a:prstDash val="solid"/>
                      <a:round/>
                      <a:headEnd type="none" w="sm" len="sm"/>
                      <a:tailEnd type="none" w="sm" len="sm"/>
                    </a:lnR>
                    <a:lnT w="19050" cap="flat" cmpd="sng">
                      <a:solidFill>
                        <a:srgbClr val="569CD6"/>
                      </a:solidFill>
                      <a:prstDash val="solid"/>
                      <a:round/>
                      <a:headEnd type="none" w="sm" len="sm"/>
                      <a:tailEnd type="none" w="sm" len="sm"/>
                    </a:lnT>
                    <a:lnB w="19050" cap="flat" cmpd="sng">
                      <a:solidFill>
                        <a:srgbClr val="569CD6"/>
                      </a:solidFill>
                      <a:prstDash val="solid"/>
                      <a:round/>
                      <a:headEnd type="none" w="sm" len="sm"/>
                      <a:tailEnd type="none" w="sm" len="sm"/>
                    </a:lnB>
                  </a:tcPr>
                </a:tc>
                <a:extLst>
                  <a:ext uri="{0D108BD9-81ED-4DB2-BD59-A6C34878D82A}">
                    <a16:rowId xmlns:a16="http://schemas.microsoft.com/office/drawing/2014/main" val="10001"/>
                  </a:ext>
                </a:extLst>
              </a:tr>
              <a:tr h="388570">
                <a:tc>
                  <a:txBody>
                    <a:bodyPr/>
                    <a:lstStyle/>
                    <a:p>
                      <a:pPr marL="0" lvl="0" indent="0" algn="ctr" rtl="0">
                        <a:spcBef>
                          <a:spcPts val="0"/>
                        </a:spcBef>
                        <a:spcAft>
                          <a:spcPts val="0"/>
                        </a:spcAft>
                        <a:buNone/>
                      </a:pPr>
                      <a:r>
                        <a:rPr lang="es" sz="1300">
                          <a:latin typeface="DM Sans"/>
                          <a:ea typeface="DM Sans"/>
                          <a:cs typeface="DM Sans"/>
                          <a:sym typeface="DM Sans"/>
                        </a:rPr>
                        <a:t>Se proporcionan de entrada y salida</a:t>
                      </a:r>
                      <a:endParaRPr sz="1300">
                        <a:latin typeface="DM Sans"/>
                        <a:ea typeface="DM Sans"/>
                        <a:cs typeface="DM Sans"/>
                        <a:sym typeface="DM Sans"/>
                      </a:endParaRPr>
                    </a:p>
                  </a:txBody>
                  <a:tcPr marL="91425" marR="91425" marT="91425" marB="91425">
                    <a:lnL w="19050" cap="flat" cmpd="sng">
                      <a:solidFill>
                        <a:srgbClr val="569CD6"/>
                      </a:solidFill>
                      <a:prstDash val="solid"/>
                      <a:round/>
                      <a:headEnd type="none" w="sm" len="sm"/>
                      <a:tailEnd type="none" w="sm" len="sm"/>
                    </a:lnL>
                    <a:lnR w="19050" cap="flat" cmpd="sng">
                      <a:solidFill>
                        <a:srgbClr val="569CD6"/>
                      </a:solidFill>
                      <a:prstDash val="solid"/>
                      <a:round/>
                      <a:headEnd type="none" w="sm" len="sm"/>
                      <a:tailEnd type="none" w="sm" len="sm"/>
                    </a:lnR>
                    <a:lnT w="19050" cap="flat" cmpd="sng">
                      <a:solidFill>
                        <a:srgbClr val="569CD6"/>
                      </a:solidFill>
                      <a:prstDash val="solid"/>
                      <a:round/>
                      <a:headEnd type="none" w="sm" len="sm"/>
                      <a:tailEnd type="none" w="sm" len="sm"/>
                    </a:lnT>
                    <a:lnB w="19050" cap="flat" cmpd="sng">
                      <a:solidFill>
                        <a:srgbClr val="569CD6"/>
                      </a:solidFill>
                      <a:prstDash val="solid"/>
                      <a:round/>
                      <a:headEnd type="none" w="sm" len="sm"/>
                      <a:tailEnd type="none" w="sm" len="sm"/>
                    </a:lnB>
                  </a:tcPr>
                </a:tc>
                <a:tc>
                  <a:txBody>
                    <a:bodyPr/>
                    <a:lstStyle/>
                    <a:p>
                      <a:pPr marL="0" lvl="0" indent="0" algn="ctr" rtl="0">
                        <a:spcBef>
                          <a:spcPts val="0"/>
                        </a:spcBef>
                        <a:spcAft>
                          <a:spcPts val="0"/>
                        </a:spcAft>
                        <a:buNone/>
                      </a:pPr>
                      <a:r>
                        <a:rPr lang="es" sz="1300">
                          <a:latin typeface="DM Sans"/>
                          <a:ea typeface="DM Sans"/>
                          <a:cs typeface="DM Sans"/>
                          <a:sym typeface="DM Sans"/>
                        </a:rPr>
                        <a:t>Se proporcionan sólo de entrada</a:t>
                      </a:r>
                      <a:endParaRPr sz="1300">
                        <a:latin typeface="DM Sans"/>
                        <a:ea typeface="DM Sans"/>
                        <a:cs typeface="DM Sans"/>
                        <a:sym typeface="DM Sans"/>
                      </a:endParaRPr>
                    </a:p>
                  </a:txBody>
                  <a:tcPr marL="91425" marR="91425" marT="91425" marB="91425">
                    <a:lnL w="19050" cap="flat" cmpd="sng">
                      <a:solidFill>
                        <a:srgbClr val="569CD6"/>
                      </a:solidFill>
                      <a:prstDash val="solid"/>
                      <a:round/>
                      <a:headEnd type="none" w="sm" len="sm"/>
                      <a:tailEnd type="none" w="sm" len="sm"/>
                    </a:lnL>
                    <a:lnR w="19050" cap="flat" cmpd="sng">
                      <a:solidFill>
                        <a:srgbClr val="569CD6"/>
                      </a:solidFill>
                      <a:prstDash val="solid"/>
                      <a:round/>
                      <a:headEnd type="none" w="sm" len="sm"/>
                      <a:tailEnd type="none" w="sm" len="sm"/>
                    </a:lnR>
                    <a:lnT w="19050" cap="flat" cmpd="sng">
                      <a:solidFill>
                        <a:srgbClr val="569CD6"/>
                      </a:solidFill>
                      <a:prstDash val="solid"/>
                      <a:round/>
                      <a:headEnd type="none" w="sm" len="sm"/>
                      <a:tailEnd type="none" w="sm" len="sm"/>
                    </a:lnT>
                    <a:lnB w="19050" cap="flat" cmpd="sng">
                      <a:solidFill>
                        <a:srgbClr val="569CD6"/>
                      </a:solidFill>
                      <a:prstDash val="solid"/>
                      <a:round/>
                      <a:headEnd type="none" w="sm" len="sm"/>
                      <a:tailEnd type="none" w="sm" len="sm"/>
                    </a:lnB>
                  </a:tcPr>
                </a:tc>
                <a:extLst>
                  <a:ext uri="{0D108BD9-81ED-4DB2-BD59-A6C34878D82A}">
                    <a16:rowId xmlns:a16="http://schemas.microsoft.com/office/drawing/2014/main" val="10002"/>
                  </a:ext>
                </a:extLst>
              </a:tr>
              <a:tr h="388570">
                <a:tc>
                  <a:txBody>
                    <a:bodyPr/>
                    <a:lstStyle/>
                    <a:p>
                      <a:pPr marL="0" lvl="0" indent="0" algn="ctr" rtl="0">
                        <a:spcBef>
                          <a:spcPts val="0"/>
                        </a:spcBef>
                        <a:spcAft>
                          <a:spcPts val="0"/>
                        </a:spcAft>
                        <a:buNone/>
                      </a:pPr>
                      <a:r>
                        <a:rPr lang="es" sz="1300">
                          <a:latin typeface="DM Sans"/>
                          <a:ea typeface="DM Sans"/>
                          <a:cs typeface="DM Sans"/>
                          <a:sym typeface="DM Sans"/>
                        </a:rPr>
                        <a:t>Predecir con nuevos datos</a:t>
                      </a:r>
                      <a:endParaRPr sz="1300">
                        <a:latin typeface="DM Sans"/>
                        <a:ea typeface="DM Sans"/>
                        <a:cs typeface="DM Sans"/>
                        <a:sym typeface="DM Sans"/>
                      </a:endParaRPr>
                    </a:p>
                  </a:txBody>
                  <a:tcPr marL="91425" marR="91425" marT="91425" marB="91425">
                    <a:lnL w="19050" cap="flat" cmpd="sng">
                      <a:solidFill>
                        <a:srgbClr val="569CD6"/>
                      </a:solidFill>
                      <a:prstDash val="solid"/>
                      <a:round/>
                      <a:headEnd type="none" w="sm" len="sm"/>
                      <a:tailEnd type="none" w="sm" len="sm"/>
                    </a:lnL>
                    <a:lnR w="19050" cap="flat" cmpd="sng">
                      <a:solidFill>
                        <a:srgbClr val="569CD6"/>
                      </a:solidFill>
                      <a:prstDash val="solid"/>
                      <a:round/>
                      <a:headEnd type="none" w="sm" len="sm"/>
                      <a:tailEnd type="none" w="sm" len="sm"/>
                    </a:lnR>
                    <a:lnT w="19050" cap="flat" cmpd="sng">
                      <a:solidFill>
                        <a:srgbClr val="569CD6"/>
                      </a:solidFill>
                      <a:prstDash val="solid"/>
                      <a:round/>
                      <a:headEnd type="none" w="sm" len="sm"/>
                      <a:tailEnd type="none" w="sm" len="sm"/>
                    </a:lnT>
                    <a:lnB w="19050" cap="flat" cmpd="sng">
                      <a:solidFill>
                        <a:srgbClr val="569CD6"/>
                      </a:solidFill>
                      <a:prstDash val="solid"/>
                      <a:round/>
                      <a:headEnd type="none" w="sm" len="sm"/>
                      <a:tailEnd type="none" w="sm" len="sm"/>
                    </a:lnB>
                  </a:tcPr>
                </a:tc>
                <a:tc>
                  <a:txBody>
                    <a:bodyPr/>
                    <a:lstStyle/>
                    <a:p>
                      <a:pPr marL="0" lvl="0" indent="0" algn="ctr" rtl="0">
                        <a:spcBef>
                          <a:spcPts val="0"/>
                        </a:spcBef>
                        <a:spcAft>
                          <a:spcPts val="0"/>
                        </a:spcAft>
                        <a:buNone/>
                      </a:pPr>
                      <a:r>
                        <a:rPr lang="es" sz="1300">
                          <a:latin typeface="DM Sans"/>
                          <a:ea typeface="DM Sans"/>
                          <a:cs typeface="DM Sans"/>
                          <a:sym typeface="DM Sans"/>
                        </a:rPr>
                        <a:t>Encontrar patrones ocultos de los datos</a:t>
                      </a:r>
                      <a:endParaRPr sz="1300">
                        <a:latin typeface="DM Sans"/>
                        <a:ea typeface="DM Sans"/>
                        <a:cs typeface="DM Sans"/>
                        <a:sym typeface="DM Sans"/>
                      </a:endParaRPr>
                    </a:p>
                  </a:txBody>
                  <a:tcPr marL="91425" marR="91425" marT="91425" marB="91425">
                    <a:lnL w="19050" cap="flat" cmpd="sng">
                      <a:solidFill>
                        <a:srgbClr val="569CD6"/>
                      </a:solidFill>
                      <a:prstDash val="solid"/>
                      <a:round/>
                      <a:headEnd type="none" w="sm" len="sm"/>
                      <a:tailEnd type="none" w="sm" len="sm"/>
                    </a:lnL>
                    <a:lnR w="19050" cap="flat" cmpd="sng">
                      <a:solidFill>
                        <a:srgbClr val="569CD6"/>
                      </a:solidFill>
                      <a:prstDash val="solid"/>
                      <a:round/>
                      <a:headEnd type="none" w="sm" len="sm"/>
                      <a:tailEnd type="none" w="sm" len="sm"/>
                    </a:lnR>
                    <a:lnT w="19050" cap="flat" cmpd="sng">
                      <a:solidFill>
                        <a:srgbClr val="569CD6"/>
                      </a:solidFill>
                      <a:prstDash val="solid"/>
                      <a:round/>
                      <a:headEnd type="none" w="sm" len="sm"/>
                      <a:tailEnd type="none" w="sm" len="sm"/>
                    </a:lnT>
                    <a:lnB w="19050" cap="flat" cmpd="sng">
                      <a:solidFill>
                        <a:srgbClr val="569CD6"/>
                      </a:solidFill>
                      <a:prstDash val="solid"/>
                      <a:round/>
                      <a:headEnd type="none" w="sm" len="sm"/>
                      <a:tailEnd type="none" w="sm" len="sm"/>
                    </a:lnB>
                  </a:tcPr>
                </a:tc>
                <a:extLst>
                  <a:ext uri="{0D108BD9-81ED-4DB2-BD59-A6C34878D82A}">
                    <a16:rowId xmlns:a16="http://schemas.microsoft.com/office/drawing/2014/main" val="10003"/>
                  </a:ext>
                </a:extLst>
              </a:tr>
              <a:tr h="407954">
                <a:tc>
                  <a:txBody>
                    <a:bodyPr/>
                    <a:lstStyle/>
                    <a:p>
                      <a:pPr marL="0" lvl="0" indent="0" algn="ctr" rtl="0">
                        <a:spcBef>
                          <a:spcPts val="0"/>
                        </a:spcBef>
                        <a:spcAft>
                          <a:spcPts val="0"/>
                        </a:spcAft>
                        <a:buNone/>
                      </a:pPr>
                      <a:r>
                        <a:rPr lang="es" sz="1300">
                          <a:latin typeface="DM Sans"/>
                          <a:ea typeface="DM Sans"/>
                          <a:cs typeface="DM Sans"/>
                          <a:sym typeface="DM Sans"/>
                        </a:rPr>
                        <a:t>Necesita ser supervisado</a:t>
                      </a:r>
                      <a:endParaRPr sz="1300">
                        <a:latin typeface="DM Sans"/>
                        <a:ea typeface="DM Sans"/>
                        <a:cs typeface="DM Sans"/>
                        <a:sym typeface="DM Sans"/>
                      </a:endParaRPr>
                    </a:p>
                  </a:txBody>
                  <a:tcPr marL="91425" marR="91425" marT="91425" marB="91425">
                    <a:lnL w="19050" cap="flat" cmpd="sng">
                      <a:solidFill>
                        <a:srgbClr val="569CD6"/>
                      </a:solidFill>
                      <a:prstDash val="solid"/>
                      <a:round/>
                      <a:headEnd type="none" w="sm" len="sm"/>
                      <a:tailEnd type="none" w="sm" len="sm"/>
                    </a:lnL>
                    <a:lnR w="19050" cap="flat" cmpd="sng">
                      <a:solidFill>
                        <a:srgbClr val="569CD6"/>
                      </a:solidFill>
                      <a:prstDash val="solid"/>
                      <a:round/>
                      <a:headEnd type="none" w="sm" len="sm"/>
                      <a:tailEnd type="none" w="sm" len="sm"/>
                    </a:lnR>
                    <a:lnT w="19050" cap="flat" cmpd="sng">
                      <a:solidFill>
                        <a:srgbClr val="569CD6"/>
                      </a:solidFill>
                      <a:prstDash val="solid"/>
                      <a:round/>
                      <a:headEnd type="none" w="sm" len="sm"/>
                      <a:tailEnd type="none" w="sm" len="sm"/>
                    </a:lnT>
                    <a:lnB w="19050" cap="flat" cmpd="sng">
                      <a:solidFill>
                        <a:srgbClr val="569CD6"/>
                      </a:solidFill>
                      <a:prstDash val="solid"/>
                      <a:round/>
                      <a:headEnd type="none" w="sm" len="sm"/>
                      <a:tailEnd type="none" w="sm" len="sm"/>
                    </a:lnB>
                  </a:tcPr>
                </a:tc>
                <a:tc>
                  <a:txBody>
                    <a:bodyPr/>
                    <a:lstStyle/>
                    <a:p>
                      <a:pPr marL="0" lvl="0" indent="0" algn="ctr" rtl="0">
                        <a:spcBef>
                          <a:spcPts val="0"/>
                        </a:spcBef>
                        <a:spcAft>
                          <a:spcPts val="0"/>
                        </a:spcAft>
                        <a:buNone/>
                      </a:pPr>
                      <a:r>
                        <a:rPr lang="es" sz="1300">
                          <a:latin typeface="DM Sans"/>
                          <a:ea typeface="DM Sans"/>
                          <a:cs typeface="DM Sans"/>
                          <a:sym typeface="DM Sans"/>
                        </a:rPr>
                        <a:t>No necesita supervisión</a:t>
                      </a:r>
                      <a:endParaRPr sz="1300">
                        <a:latin typeface="DM Sans"/>
                        <a:ea typeface="DM Sans"/>
                        <a:cs typeface="DM Sans"/>
                        <a:sym typeface="DM Sans"/>
                      </a:endParaRPr>
                    </a:p>
                  </a:txBody>
                  <a:tcPr marL="91425" marR="91425" marT="91425" marB="91425">
                    <a:lnL w="19050" cap="flat" cmpd="sng">
                      <a:solidFill>
                        <a:srgbClr val="569CD6"/>
                      </a:solidFill>
                      <a:prstDash val="solid"/>
                      <a:round/>
                      <a:headEnd type="none" w="sm" len="sm"/>
                      <a:tailEnd type="none" w="sm" len="sm"/>
                    </a:lnL>
                    <a:lnR w="19050" cap="flat" cmpd="sng">
                      <a:solidFill>
                        <a:srgbClr val="569CD6"/>
                      </a:solidFill>
                      <a:prstDash val="solid"/>
                      <a:round/>
                      <a:headEnd type="none" w="sm" len="sm"/>
                      <a:tailEnd type="none" w="sm" len="sm"/>
                    </a:lnR>
                    <a:lnT w="19050" cap="flat" cmpd="sng">
                      <a:solidFill>
                        <a:srgbClr val="569CD6"/>
                      </a:solidFill>
                      <a:prstDash val="solid"/>
                      <a:round/>
                      <a:headEnd type="none" w="sm" len="sm"/>
                      <a:tailEnd type="none" w="sm" len="sm"/>
                    </a:lnT>
                    <a:lnB w="19050" cap="flat" cmpd="sng">
                      <a:solidFill>
                        <a:srgbClr val="569CD6"/>
                      </a:solidFill>
                      <a:prstDash val="solid"/>
                      <a:round/>
                      <a:headEnd type="none" w="sm" len="sm"/>
                      <a:tailEnd type="none" w="sm" len="sm"/>
                    </a:lnB>
                  </a:tcPr>
                </a:tc>
                <a:extLst>
                  <a:ext uri="{0D108BD9-81ED-4DB2-BD59-A6C34878D82A}">
                    <a16:rowId xmlns:a16="http://schemas.microsoft.com/office/drawing/2014/main" val="10004"/>
                  </a:ext>
                </a:extLst>
              </a:tr>
              <a:tr h="396556">
                <a:tc>
                  <a:txBody>
                    <a:bodyPr/>
                    <a:lstStyle/>
                    <a:p>
                      <a:pPr marL="0" lvl="0" indent="0" algn="ctr" rtl="0">
                        <a:spcBef>
                          <a:spcPts val="0"/>
                        </a:spcBef>
                        <a:spcAft>
                          <a:spcPts val="0"/>
                        </a:spcAft>
                        <a:buNone/>
                      </a:pPr>
                      <a:r>
                        <a:rPr lang="es" sz="1300">
                          <a:latin typeface="DM Sans"/>
                          <a:ea typeface="DM Sans"/>
                          <a:cs typeface="DM Sans"/>
                          <a:sym typeface="DM Sans"/>
                        </a:rPr>
                        <a:t>Problemas de Clasificación y Regresión</a:t>
                      </a:r>
                      <a:endParaRPr sz="1300">
                        <a:latin typeface="DM Sans"/>
                        <a:ea typeface="DM Sans"/>
                        <a:cs typeface="DM Sans"/>
                        <a:sym typeface="DM Sans"/>
                      </a:endParaRPr>
                    </a:p>
                  </a:txBody>
                  <a:tcPr marL="91425" marR="91425" marT="91425" marB="91425">
                    <a:lnL w="19050" cap="flat" cmpd="sng">
                      <a:solidFill>
                        <a:srgbClr val="569CD6"/>
                      </a:solidFill>
                      <a:prstDash val="solid"/>
                      <a:round/>
                      <a:headEnd type="none" w="sm" len="sm"/>
                      <a:tailEnd type="none" w="sm" len="sm"/>
                    </a:lnL>
                    <a:lnR w="19050" cap="flat" cmpd="sng">
                      <a:solidFill>
                        <a:srgbClr val="569CD6"/>
                      </a:solidFill>
                      <a:prstDash val="solid"/>
                      <a:round/>
                      <a:headEnd type="none" w="sm" len="sm"/>
                      <a:tailEnd type="none" w="sm" len="sm"/>
                    </a:lnR>
                    <a:lnT w="19050" cap="flat" cmpd="sng">
                      <a:solidFill>
                        <a:srgbClr val="569CD6"/>
                      </a:solidFill>
                      <a:prstDash val="solid"/>
                      <a:round/>
                      <a:headEnd type="none" w="sm" len="sm"/>
                      <a:tailEnd type="none" w="sm" len="sm"/>
                    </a:lnT>
                    <a:lnB w="19050" cap="flat" cmpd="sng">
                      <a:solidFill>
                        <a:srgbClr val="569CD6"/>
                      </a:solidFill>
                      <a:prstDash val="solid"/>
                      <a:round/>
                      <a:headEnd type="none" w="sm" len="sm"/>
                      <a:tailEnd type="none" w="sm" len="sm"/>
                    </a:lnB>
                  </a:tcPr>
                </a:tc>
                <a:tc>
                  <a:txBody>
                    <a:bodyPr/>
                    <a:lstStyle/>
                    <a:p>
                      <a:pPr marL="0" lvl="0" indent="0" algn="ctr" rtl="0">
                        <a:spcBef>
                          <a:spcPts val="0"/>
                        </a:spcBef>
                        <a:spcAft>
                          <a:spcPts val="0"/>
                        </a:spcAft>
                        <a:buNone/>
                      </a:pPr>
                      <a:r>
                        <a:rPr lang="es" sz="1300">
                          <a:latin typeface="DM Sans"/>
                          <a:ea typeface="DM Sans"/>
                          <a:cs typeface="DM Sans"/>
                          <a:sym typeface="DM Sans"/>
                        </a:rPr>
                        <a:t>Problemas de Clustering y Asociaciones</a:t>
                      </a:r>
                      <a:endParaRPr sz="1300">
                        <a:latin typeface="DM Sans"/>
                        <a:ea typeface="DM Sans"/>
                        <a:cs typeface="DM Sans"/>
                        <a:sym typeface="DM Sans"/>
                      </a:endParaRPr>
                    </a:p>
                  </a:txBody>
                  <a:tcPr marL="91425" marR="91425" marT="91425" marB="91425">
                    <a:lnL w="19050" cap="flat" cmpd="sng">
                      <a:solidFill>
                        <a:srgbClr val="569CD6"/>
                      </a:solidFill>
                      <a:prstDash val="solid"/>
                      <a:round/>
                      <a:headEnd type="none" w="sm" len="sm"/>
                      <a:tailEnd type="none" w="sm" len="sm"/>
                    </a:lnL>
                    <a:lnR w="19050" cap="flat" cmpd="sng">
                      <a:solidFill>
                        <a:srgbClr val="569CD6"/>
                      </a:solidFill>
                      <a:prstDash val="solid"/>
                      <a:round/>
                      <a:headEnd type="none" w="sm" len="sm"/>
                      <a:tailEnd type="none" w="sm" len="sm"/>
                    </a:lnR>
                    <a:lnT w="19050" cap="flat" cmpd="sng">
                      <a:solidFill>
                        <a:srgbClr val="569CD6"/>
                      </a:solidFill>
                      <a:prstDash val="solid"/>
                      <a:round/>
                      <a:headEnd type="none" w="sm" len="sm"/>
                      <a:tailEnd type="none" w="sm" len="sm"/>
                    </a:lnT>
                    <a:lnB w="19050" cap="flat" cmpd="sng">
                      <a:solidFill>
                        <a:srgbClr val="569CD6"/>
                      </a:solidFill>
                      <a:prstDash val="solid"/>
                      <a:round/>
                      <a:headEnd type="none" w="sm" len="sm"/>
                      <a:tailEnd type="none" w="sm" len="sm"/>
                    </a:lnB>
                  </a:tcPr>
                </a:tc>
                <a:extLst>
                  <a:ext uri="{0D108BD9-81ED-4DB2-BD59-A6C34878D82A}">
                    <a16:rowId xmlns:a16="http://schemas.microsoft.com/office/drawing/2014/main" val="10005"/>
                  </a:ext>
                </a:extLst>
              </a:tr>
              <a:tr h="388570">
                <a:tc>
                  <a:txBody>
                    <a:bodyPr/>
                    <a:lstStyle/>
                    <a:p>
                      <a:pPr marL="0" lvl="0" indent="0" algn="ctr" rtl="0">
                        <a:spcBef>
                          <a:spcPts val="0"/>
                        </a:spcBef>
                        <a:spcAft>
                          <a:spcPts val="0"/>
                        </a:spcAft>
                        <a:buNone/>
                      </a:pPr>
                      <a:r>
                        <a:rPr lang="es" sz="1300">
                          <a:latin typeface="DM Sans"/>
                          <a:ea typeface="DM Sans"/>
                          <a:cs typeface="DM Sans"/>
                          <a:sym typeface="DM Sans"/>
                        </a:rPr>
                        <a:t>Cuando conocemos la entrada y las salidas</a:t>
                      </a:r>
                      <a:endParaRPr sz="1300">
                        <a:latin typeface="DM Sans"/>
                        <a:ea typeface="DM Sans"/>
                        <a:cs typeface="DM Sans"/>
                        <a:sym typeface="DM Sans"/>
                      </a:endParaRPr>
                    </a:p>
                  </a:txBody>
                  <a:tcPr marL="91425" marR="91425" marT="91425" marB="91425">
                    <a:lnL w="19050" cap="flat" cmpd="sng">
                      <a:solidFill>
                        <a:srgbClr val="569CD6"/>
                      </a:solidFill>
                      <a:prstDash val="solid"/>
                      <a:round/>
                      <a:headEnd type="none" w="sm" len="sm"/>
                      <a:tailEnd type="none" w="sm" len="sm"/>
                    </a:lnL>
                    <a:lnR w="19050" cap="flat" cmpd="sng">
                      <a:solidFill>
                        <a:srgbClr val="569CD6"/>
                      </a:solidFill>
                      <a:prstDash val="solid"/>
                      <a:round/>
                      <a:headEnd type="none" w="sm" len="sm"/>
                      <a:tailEnd type="none" w="sm" len="sm"/>
                    </a:lnR>
                    <a:lnT w="19050" cap="flat" cmpd="sng">
                      <a:solidFill>
                        <a:srgbClr val="569CD6"/>
                      </a:solidFill>
                      <a:prstDash val="solid"/>
                      <a:round/>
                      <a:headEnd type="none" w="sm" len="sm"/>
                      <a:tailEnd type="none" w="sm" len="sm"/>
                    </a:lnT>
                    <a:lnB w="19050" cap="flat" cmpd="sng">
                      <a:solidFill>
                        <a:srgbClr val="569CD6"/>
                      </a:solidFill>
                      <a:prstDash val="solid"/>
                      <a:round/>
                      <a:headEnd type="none" w="sm" len="sm"/>
                      <a:tailEnd type="none" w="sm" len="sm"/>
                    </a:lnB>
                  </a:tcPr>
                </a:tc>
                <a:tc>
                  <a:txBody>
                    <a:bodyPr/>
                    <a:lstStyle/>
                    <a:p>
                      <a:pPr marL="0" lvl="0" indent="0" algn="ctr" rtl="0">
                        <a:spcBef>
                          <a:spcPts val="0"/>
                        </a:spcBef>
                        <a:spcAft>
                          <a:spcPts val="0"/>
                        </a:spcAft>
                        <a:buNone/>
                      </a:pPr>
                      <a:r>
                        <a:rPr lang="es" sz="1300">
                          <a:latin typeface="DM Sans"/>
                          <a:ea typeface="DM Sans"/>
                          <a:cs typeface="DM Sans"/>
                          <a:sym typeface="DM Sans"/>
                        </a:rPr>
                        <a:t>Cuando solo tenemos datos de entrada</a:t>
                      </a:r>
                      <a:endParaRPr sz="1300">
                        <a:latin typeface="DM Sans"/>
                        <a:ea typeface="DM Sans"/>
                        <a:cs typeface="DM Sans"/>
                        <a:sym typeface="DM Sans"/>
                      </a:endParaRPr>
                    </a:p>
                  </a:txBody>
                  <a:tcPr marL="91425" marR="91425" marT="91425" marB="91425">
                    <a:lnL w="19050" cap="flat" cmpd="sng">
                      <a:solidFill>
                        <a:srgbClr val="569CD6"/>
                      </a:solidFill>
                      <a:prstDash val="solid"/>
                      <a:round/>
                      <a:headEnd type="none" w="sm" len="sm"/>
                      <a:tailEnd type="none" w="sm" len="sm"/>
                    </a:lnL>
                    <a:lnR w="19050" cap="flat" cmpd="sng">
                      <a:solidFill>
                        <a:srgbClr val="569CD6"/>
                      </a:solidFill>
                      <a:prstDash val="solid"/>
                      <a:round/>
                      <a:headEnd type="none" w="sm" len="sm"/>
                      <a:tailEnd type="none" w="sm" len="sm"/>
                    </a:lnR>
                    <a:lnT w="19050" cap="flat" cmpd="sng">
                      <a:solidFill>
                        <a:srgbClr val="569CD6"/>
                      </a:solidFill>
                      <a:prstDash val="solid"/>
                      <a:round/>
                      <a:headEnd type="none" w="sm" len="sm"/>
                      <a:tailEnd type="none" w="sm" len="sm"/>
                    </a:lnT>
                    <a:lnB w="19050" cap="flat" cmpd="sng">
                      <a:solidFill>
                        <a:srgbClr val="569CD6"/>
                      </a:solidFill>
                      <a:prstDash val="solid"/>
                      <a:round/>
                      <a:headEnd type="none" w="sm" len="sm"/>
                      <a:tailEnd type="none" w="sm" len="sm"/>
                    </a:lnB>
                  </a:tcPr>
                </a:tc>
                <a:extLst>
                  <a:ext uri="{0D108BD9-81ED-4DB2-BD59-A6C34878D82A}">
                    <a16:rowId xmlns:a16="http://schemas.microsoft.com/office/drawing/2014/main" val="10006"/>
                  </a:ext>
                </a:extLst>
              </a:tr>
              <a:tr h="388570">
                <a:tc>
                  <a:txBody>
                    <a:bodyPr/>
                    <a:lstStyle/>
                    <a:p>
                      <a:pPr marL="0" lvl="0" indent="0" algn="ctr" rtl="0">
                        <a:spcBef>
                          <a:spcPts val="0"/>
                        </a:spcBef>
                        <a:spcAft>
                          <a:spcPts val="0"/>
                        </a:spcAft>
                        <a:buNone/>
                      </a:pPr>
                      <a:r>
                        <a:rPr lang="es" sz="1300">
                          <a:latin typeface="DM Sans"/>
                          <a:ea typeface="DM Sans"/>
                          <a:cs typeface="DM Sans"/>
                          <a:sym typeface="DM Sans"/>
                        </a:rPr>
                        <a:t>Resultado preciso</a:t>
                      </a:r>
                      <a:endParaRPr sz="1300">
                        <a:latin typeface="DM Sans"/>
                        <a:ea typeface="DM Sans"/>
                        <a:cs typeface="DM Sans"/>
                        <a:sym typeface="DM Sans"/>
                      </a:endParaRPr>
                    </a:p>
                  </a:txBody>
                  <a:tcPr marL="91425" marR="91425" marT="91425" marB="91425">
                    <a:lnL w="19050" cap="flat" cmpd="sng">
                      <a:solidFill>
                        <a:srgbClr val="569CD6"/>
                      </a:solidFill>
                      <a:prstDash val="solid"/>
                      <a:round/>
                      <a:headEnd type="none" w="sm" len="sm"/>
                      <a:tailEnd type="none" w="sm" len="sm"/>
                    </a:lnL>
                    <a:lnR w="19050" cap="flat" cmpd="sng">
                      <a:solidFill>
                        <a:srgbClr val="569CD6"/>
                      </a:solidFill>
                      <a:prstDash val="solid"/>
                      <a:round/>
                      <a:headEnd type="none" w="sm" len="sm"/>
                      <a:tailEnd type="none" w="sm" len="sm"/>
                    </a:lnR>
                    <a:lnT w="19050" cap="flat" cmpd="sng">
                      <a:solidFill>
                        <a:srgbClr val="569CD6"/>
                      </a:solidFill>
                      <a:prstDash val="solid"/>
                      <a:round/>
                      <a:headEnd type="none" w="sm" len="sm"/>
                      <a:tailEnd type="none" w="sm" len="sm"/>
                    </a:lnT>
                    <a:lnB w="19050" cap="flat" cmpd="sng">
                      <a:solidFill>
                        <a:srgbClr val="569CD6"/>
                      </a:solidFill>
                      <a:prstDash val="solid"/>
                      <a:round/>
                      <a:headEnd type="none" w="sm" len="sm"/>
                      <a:tailEnd type="none" w="sm" len="sm"/>
                    </a:lnB>
                  </a:tcPr>
                </a:tc>
                <a:tc>
                  <a:txBody>
                    <a:bodyPr/>
                    <a:lstStyle/>
                    <a:p>
                      <a:pPr marL="0" lvl="0" indent="0" algn="ctr" rtl="0">
                        <a:spcBef>
                          <a:spcPts val="0"/>
                        </a:spcBef>
                        <a:spcAft>
                          <a:spcPts val="0"/>
                        </a:spcAft>
                        <a:buNone/>
                      </a:pPr>
                      <a:r>
                        <a:rPr lang="es" sz="1300">
                          <a:latin typeface="DM Sans"/>
                          <a:ea typeface="DM Sans"/>
                          <a:cs typeface="DM Sans"/>
                          <a:sym typeface="DM Sans"/>
                        </a:rPr>
                        <a:t>Menos preciso</a:t>
                      </a:r>
                      <a:endParaRPr sz="1300">
                        <a:latin typeface="DM Sans"/>
                        <a:ea typeface="DM Sans"/>
                        <a:cs typeface="DM Sans"/>
                        <a:sym typeface="DM Sans"/>
                      </a:endParaRPr>
                    </a:p>
                  </a:txBody>
                  <a:tcPr marL="91425" marR="91425" marT="91425" marB="91425">
                    <a:lnL w="19050" cap="flat" cmpd="sng">
                      <a:solidFill>
                        <a:srgbClr val="569CD6"/>
                      </a:solidFill>
                      <a:prstDash val="solid"/>
                      <a:round/>
                      <a:headEnd type="none" w="sm" len="sm"/>
                      <a:tailEnd type="none" w="sm" len="sm"/>
                    </a:lnL>
                    <a:lnR w="19050" cap="flat" cmpd="sng">
                      <a:solidFill>
                        <a:srgbClr val="569CD6"/>
                      </a:solidFill>
                      <a:prstDash val="solid"/>
                      <a:round/>
                      <a:headEnd type="none" w="sm" len="sm"/>
                      <a:tailEnd type="none" w="sm" len="sm"/>
                    </a:lnR>
                    <a:lnT w="19050" cap="flat" cmpd="sng">
                      <a:solidFill>
                        <a:srgbClr val="569CD6"/>
                      </a:solidFill>
                      <a:prstDash val="solid"/>
                      <a:round/>
                      <a:headEnd type="none" w="sm" len="sm"/>
                      <a:tailEnd type="none" w="sm" len="sm"/>
                    </a:lnT>
                    <a:lnB w="19050" cap="flat" cmpd="sng">
                      <a:solidFill>
                        <a:srgbClr val="569CD6"/>
                      </a:solidFill>
                      <a:prstDash val="solid"/>
                      <a:round/>
                      <a:headEnd type="none" w="sm" len="sm"/>
                      <a:tailEnd type="none" w="sm" len="sm"/>
                    </a:lnB>
                  </a:tcPr>
                </a:tc>
                <a:extLst>
                  <a:ext uri="{0D108BD9-81ED-4DB2-BD59-A6C34878D82A}">
                    <a16:rowId xmlns:a16="http://schemas.microsoft.com/office/drawing/2014/main" val="10007"/>
                  </a:ext>
                </a:extLst>
              </a:tr>
              <a:tr h="590642">
                <a:tc>
                  <a:txBody>
                    <a:bodyPr/>
                    <a:lstStyle/>
                    <a:p>
                      <a:pPr marL="0" lvl="0" indent="0" algn="ctr" rtl="0">
                        <a:spcBef>
                          <a:spcPts val="0"/>
                        </a:spcBef>
                        <a:spcAft>
                          <a:spcPts val="0"/>
                        </a:spcAft>
                        <a:buNone/>
                      </a:pPr>
                      <a:r>
                        <a:rPr lang="es" sz="1300">
                          <a:latin typeface="DM Sans"/>
                          <a:ea typeface="DM Sans"/>
                          <a:cs typeface="DM Sans"/>
                          <a:sym typeface="DM Sans"/>
                        </a:rPr>
                        <a:t>No está cerca de la verdadera IA</a:t>
                      </a:r>
                      <a:endParaRPr sz="1300">
                        <a:latin typeface="DM Sans"/>
                        <a:ea typeface="DM Sans"/>
                        <a:cs typeface="DM Sans"/>
                        <a:sym typeface="DM Sans"/>
                      </a:endParaRPr>
                    </a:p>
                  </a:txBody>
                  <a:tcPr marL="91425" marR="91425" marT="91425" marB="91425">
                    <a:lnL w="19050" cap="flat" cmpd="sng">
                      <a:solidFill>
                        <a:srgbClr val="569CD6"/>
                      </a:solidFill>
                      <a:prstDash val="solid"/>
                      <a:round/>
                      <a:headEnd type="none" w="sm" len="sm"/>
                      <a:tailEnd type="none" w="sm" len="sm"/>
                    </a:lnL>
                    <a:lnR w="19050" cap="flat" cmpd="sng">
                      <a:solidFill>
                        <a:srgbClr val="569CD6"/>
                      </a:solidFill>
                      <a:prstDash val="solid"/>
                      <a:round/>
                      <a:headEnd type="none" w="sm" len="sm"/>
                      <a:tailEnd type="none" w="sm" len="sm"/>
                    </a:lnR>
                    <a:lnT w="19050" cap="flat" cmpd="sng">
                      <a:solidFill>
                        <a:srgbClr val="569CD6"/>
                      </a:solidFill>
                      <a:prstDash val="solid"/>
                      <a:round/>
                      <a:headEnd type="none" w="sm" len="sm"/>
                      <a:tailEnd type="none" w="sm" len="sm"/>
                    </a:lnT>
                    <a:lnB w="19050" cap="flat" cmpd="sng">
                      <a:solidFill>
                        <a:srgbClr val="569CD6"/>
                      </a:solidFill>
                      <a:prstDash val="solid"/>
                      <a:round/>
                      <a:headEnd type="none" w="sm" len="sm"/>
                      <a:tailEnd type="none" w="sm" len="sm"/>
                    </a:lnB>
                  </a:tcPr>
                </a:tc>
                <a:tc>
                  <a:txBody>
                    <a:bodyPr/>
                    <a:lstStyle/>
                    <a:p>
                      <a:pPr marL="0" lvl="0" indent="0" algn="ctr" rtl="0">
                        <a:spcBef>
                          <a:spcPts val="0"/>
                        </a:spcBef>
                        <a:spcAft>
                          <a:spcPts val="0"/>
                        </a:spcAft>
                        <a:buNone/>
                      </a:pPr>
                      <a:r>
                        <a:rPr lang="es" sz="1300">
                          <a:latin typeface="DM Sans"/>
                          <a:ea typeface="DM Sans"/>
                          <a:cs typeface="DM Sans"/>
                          <a:sym typeface="DM Sans"/>
                        </a:rPr>
                        <a:t>Está más cerca de la verdadera IA, ya que aprende de manera similar a como un niño</a:t>
                      </a:r>
                      <a:endParaRPr sz="1300">
                        <a:latin typeface="DM Sans"/>
                        <a:ea typeface="DM Sans"/>
                        <a:cs typeface="DM Sans"/>
                        <a:sym typeface="DM Sans"/>
                      </a:endParaRPr>
                    </a:p>
                  </a:txBody>
                  <a:tcPr marL="91425" marR="91425" marT="91425" marB="91425">
                    <a:lnL w="19050" cap="flat" cmpd="sng">
                      <a:solidFill>
                        <a:srgbClr val="569CD6"/>
                      </a:solidFill>
                      <a:prstDash val="solid"/>
                      <a:round/>
                      <a:headEnd type="none" w="sm" len="sm"/>
                      <a:tailEnd type="none" w="sm" len="sm"/>
                    </a:lnL>
                    <a:lnR w="19050" cap="flat" cmpd="sng">
                      <a:solidFill>
                        <a:srgbClr val="569CD6"/>
                      </a:solidFill>
                      <a:prstDash val="solid"/>
                      <a:round/>
                      <a:headEnd type="none" w="sm" len="sm"/>
                      <a:tailEnd type="none" w="sm" len="sm"/>
                    </a:lnR>
                    <a:lnT w="19050" cap="flat" cmpd="sng">
                      <a:solidFill>
                        <a:srgbClr val="569CD6"/>
                      </a:solidFill>
                      <a:prstDash val="solid"/>
                      <a:round/>
                      <a:headEnd type="none" w="sm" len="sm"/>
                      <a:tailEnd type="none" w="sm" len="sm"/>
                    </a:lnT>
                    <a:lnB w="19050" cap="flat" cmpd="sng">
                      <a:solidFill>
                        <a:srgbClr val="569CD6"/>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10" name="Google Shape;208;p42">
            <a:extLst>
              <a:ext uri="{FF2B5EF4-FFF2-40B4-BE49-F238E27FC236}">
                <a16:creationId xmlns:a16="http://schemas.microsoft.com/office/drawing/2014/main" id="{83D75FF0-29D3-953E-E7C3-237D27902C75}"/>
              </a:ext>
            </a:extLst>
          </p:cNvPr>
          <p:cNvSpPr/>
          <p:nvPr/>
        </p:nvSpPr>
        <p:spPr>
          <a:xfrm>
            <a:off x="269565" y="2780386"/>
            <a:ext cx="2487214" cy="274162"/>
          </a:xfrm>
          <a:prstGeom prst="parallelogram">
            <a:avLst>
              <a:gd name="adj" fmla="val 0"/>
            </a:avLst>
          </a:prstGeom>
          <a:solidFill>
            <a:srgbClr val="569CD6"/>
          </a:solidFill>
          <a:ln w="9525" cap="flat" cmpd="sng">
            <a:solidFill>
              <a:srgbClr val="569CD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 sz="1300" b="1">
                <a:latin typeface="DM Sans"/>
                <a:ea typeface="DM Sans"/>
                <a:cs typeface="DM Sans"/>
                <a:sym typeface="DM Sans"/>
              </a:rPr>
              <a:t>Retroalimentación</a:t>
            </a:r>
            <a:endParaRPr sz="1300" b="1">
              <a:latin typeface="DM Sans"/>
              <a:ea typeface="DM Sans"/>
              <a:cs typeface="DM Sans"/>
              <a:sym typeface="DM Sans"/>
            </a:endParaRPr>
          </a:p>
        </p:txBody>
      </p:sp>
      <p:sp>
        <p:nvSpPr>
          <p:cNvPr id="11" name="Google Shape;209;p42">
            <a:extLst>
              <a:ext uri="{FF2B5EF4-FFF2-40B4-BE49-F238E27FC236}">
                <a16:creationId xmlns:a16="http://schemas.microsoft.com/office/drawing/2014/main" id="{6D523F45-FB22-AEA6-1B67-35FDC90A9ABB}"/>
              </a:ext>
            </a:extLst>
          </p:cNvPr>
          <p:cNvSpPr/>
          <p:nvPr/>
        </p:nvSpPr>
        <p:spPr>
          <a:xfrm>
            <a:off x="275729" y="3151299"/>
            <a:ext cx="2487214" cy="274162"/>
          </a:xfrm>
          <a:prstGeom prst="parallelogram">
            <a:avLst>
              <a:gd name="adj" fmla="val 0"/>
            </a:avLst>
          </a:prstGeom>
          <a:solidFill>
            <a:srgbClr val="569CD6"/>
          </a:solidFill>
          <a:ln w="9525" cap="flat" cmpd="sng">
            <a:solidFill>
              <a:srgbClr val="569CD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s" b="1">
                <a:latin typeface="DM Sans"/>
                <a:ea typeface="DM Sans"/>
                <a:cs typeface="DM Sans"/>
                <a:sym typeface="DM Sans"/>
              </a:rPr>
              <a:t>Datos</a:t>
            </a:r>
            <a:endParaRPr b="1">
              <a:latin typeface="DM Sans"/>
              <a:ea typeface="DM Sans"/>
              <a:cs typeface="DM Sans"/>
              <a:sym typeface="DM Sans"/>
            </a:endParaRPr>
          </a:p>
        </p:txBody>
      </p:sp>
      <p:sp>
        <p:nvSpPr>
          <p:cNvPr id="12" name="Google Shape;210;p42">
            <a:extLst>
              <a:ext uri="{FF2B5EF4-FFF2-40B4-BE49-F238E27FC236}">
                <a16:creationId xmlns:a16="http://schemas.microsoft.com/office/drawing/2014/main" id="{2344BB61-15D7-02E8-DABE-365DA12DE3CE}"/>
              </a:ext>
            </a:extLst>
          </p:cNvPr>
          <p:cNvSpPr/>
          <p:nvPr/>
        </p:nvSpPr>
        <p:spPr>
          <a:xfrm>
            <a:off x="269578" y="3555674"/>
            <a:ext cx="2487214" cy="274162"/>
          </a:xfrm>
          <a:prstGeom prst="parallelogram">
            <a:avLst>
              <a:gd name="adj" fmla="val 0"/>
            </a:avLst>
          </a:prstGeom>
          <a:solidFill>
            <a:srgbClr val="569CD6"/>
          </a:solidFill>
          <a:ln w="9525" cap="flat" cmpd="sng">
            <a:solidFill>
              <a:srgbClr val="569CD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 b="1">
                <a:latin typeface="DM Sans"/>
                <a:ea typeface="DM Sans"/>
                <a:cs typeface="DM Sans"/>
                <a:sym typeface="DM Sans"/>
              </a:rPr>
              <a:t>Objetivo</a:t>
            </a:r>
            <a:endParaRPr b="1">
              <a:latin typeface="DM Sans"/>
              <a:ea typeface="DM Sans"/>
              <a:cs typeface="DM Sans"/>
              <a:sym typeface="DM Sans"/>
            </a:endParaRPr>
          </a:p>
        </p:txBody>
      </p:sp>
      <p:sp>
        <p:nvSpPr>
          <p:cNvPr id="13" name="Google Shape;211;p42">
            <a:extLst>
              <a:ext uri="{FF2B5EF4-FFF2-40B4-BE49-F238E27FC236}">
                <a16:creationId xmlns:a16="http://schemas.microsoft.com/office/drawing/2014/main" id="{E1F7D2FA-4A63-5FD9-8B5E-7A50F52EC4D5}"/>
              </a:ext>
            </a:extLst>
          </p:cNvPr>
          <p:cNvSpPr/>
          <p:nvPr/>
        </p:nvSpPr>
        <p:spPr>
          <a:xfrm>
            <a:off x="269565" y="3951424"/>
            <a:ext cx="2487214" cy="274162"/>
          </a:xfrm>
          <a:prstGeom prst="parallelogram">
            <a:avLst>
              <a:gd name="adj" fmla="val 400"/>
            </a:avLst>
          </a:prstGeom>
          <a:solidFill>
            <a:srgbClr val="569CD6"/>
          </a:solidFill>
          <a:ln w="9525" cap="flat" cmpd="sng">
            <a:solidFill>
              <a:srgbClr val="569CD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s" b="1">
                <a:latin typeface="DM Sans"/>
                <a:ea typeface="DM Sans"/>
                <a:cs typeface="DM Sans"/>
                <a:sym typeface="DM Sans"/>
              </a:rPr>
              <a:t>Supervisión</a:t>
            </a:r>
            <a:endParaRPr b="1">
              <a:latin typeface="DM Sans"/>
              <a:ea typeface="DM Sans"/>
              <a:cs typeface="DM Sans"/>
              <a:sym typeface="DM Sans"/>
            </a:endParaRPr>
          </a:p>
        </p:txBody>
      </p:sp>
      <p:sp>
        <p:nvSpPr>
          <p:cNvPr id="14" name="Google Shape;212;p42">
            <a:extLst>
              <a:ext uri="{FF2B5EF4-FFF2-40B4-BE49-F238E27FC236}">
                <a16:creationId xmlns:a16="http://schemas.microsoft.com/office/drawing/2014/main" id="{462CFBD3-66F6-B2CA-61AF-53FC3BF098D2}"/>
              </a:ext>
            </a:extLst>
          </p:cNvPr>
          <p:cNvSpPr/>
          <p:nvPr/>
        </p:nvSpPr>
        <p:spPr>
          <a:xfrm>
            <a:off x="275728" y="4347161"/>
            <a:ext cx="2487214" cy="274162"/>
          </a:xfrm>
          <a:prstGeom prst="parallelogram">
            <a:avLst>
              <a:gd name="adj" fmla="val 0"/>
            </a:avLst>
          </a:prstGeom>
          <a:solidFill>
            <a:srgbClr val="569CD6"/>
          </a:solidFill>
          <a:ln w="9525" cap="flat" cmpd="sng">
            <a:solidFill>
              <a:srgbClr val="569CD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s" b="1">
                <a:latin typeface="DM Sans"/>
                <a:ea typeface="DM Sans"/>
                <a:cs typeface="DM Sans"/>
                <a:sym typeface="DM Sans"/>
              </a:rPr>
              <a:t>Clasificación</a:t>
            </a:r>
            <a:endParaRPr b="1">
              <a:latin typeface="DM Sans"/>
              <a:ea typeface="DM Sans"/>
              <a:cs typeface="DM Sans"/>
              <a:sym typeface="DM Sans"/>
            </a:endParaRPr>
          </a:p>
        </p:txBody>
      </p:sp>
      <p:sp>
        <p:nvSpPr>
          <p:cNvPr id="15" name="Google Shape;213;p42">
            <a:extLst>
              <a:ext uri="{FF2B5EF4-FFF2-40B4-BE49-F238E27FC236}">
                <a16:creationId xmlns:a16="http://schemas.microsoft.com/office/drawing/2014/main" id="{ED5795CB-6C7D-E598-6849-A88BF9564648}"/>
              </a:ext>
            </a:extLst>
          </p:cNvPr>
          <p:cNvSpPr/>
          <p:nvPr/>
        </p:nvSpPr>
        <p:spPr>
          <a:xfrm>
            <a:off x="275728" y="4701349"/>
            <a:ext cx="2487214" cy="274162"/>
          </a:xfrm>
          <a:prstGeom prst="parallelogram">
            <a:avLst>
              <a:gd name="adj" fmla="val 0"/>
            </a:avLst>
          </a:prstGeom>
          <a:solidFill>
            <a:srgbClr val="569CD6"/>
          </a:solidFill>
          <a:ln w="9525" cap="flat" cmpd="sng">
            <a:solidFill>
              <a:srgbClr val="569CD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s" b="1">
                <a:latin typeface="DM Sans"/>
                <a:ea typeface="DM Sans"/>
                <a:cs typeface="DM Sans"/>
                <a:sym typeface="DM Sans"/>
              </a:rPr>
              <a:t>Usabilidad</a:t>
            </a:r>
            <a:endParaRPr b="1">
              <a:latin typeface="DM Sans"/>
              <a:ea typeface="DM Sans"/>
              <a:cs typeface="DM Sans"/>
              <a:sym typeface="DM Sans"/>
            </a:endParaRPr>
          </a:p>
        </p:txBody>
      </p:sp>
      <p:sp>
        <p:nvSpPr>
          <p:cNvPr id="16" name="Google Shape;214;p42">
            <a:extLst>
              <a:ext uri="{FF2B5EF4-FFF2-40B4-BE49-F238E27FC236}">
                <a16:creationId xmlns:a16="http://schemas.microsoft.com/office/drawing/2014/main" id="{0725A7E5-49CF-336F-D6D7-01D909E54D90}"/>
              </a:ext>
            </a:extLst>
          </p:cNvPr>
          <p:cNvSpPr/>
          <p:nvPr/>
        </p:nvSpPr>
        <p:spPr>
          <a:xfrm>
            <a:off x="275729" y="5116711"/>
            <a:ext cx="2487214" cy="274162"/>
          </a:xfrm>
          <a:prstGeom prst="parallelogram">
            <a:avLst>
              <a:gd name="adj" fmla="val 0"/>
            </a:avLst>
          </a:prstGeom>
          <a:solidFill>
            <a:srgbClr val="569CD6"/>
          </a:solidFill>
          <a:ln w="9525" cap="flat" cmpd="sng">
            <a:solidFill>
              <a:srgbClr val="569CD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s" b="1">
                <a:latin typeface="DM Sans"/>
                <a:ea typeface="DM Sans"/>
                <a:cs typeface="DM Sans"/>
                <a:sym typeface="DM Sans"/>
              </a:rPr>
              <a:t>Resultado</a:t>
            </a:r>
            <a:endParaRPr b="1">
              <a:latin typeface="DM Sans"/>
              <a:ea typeface="DM Sans"/>
              <a:cs typeface="DM Sans"/>
              <a:sym typeface="DM Sans"/>
            </a:endParaRPr>
          </a:p>
        </p:txBody>
      </p:sp>
      <p:sp>
        <p:nvSpPr>
          <p:cNvPr id="17" name="Google Shape;215;p42">
            <a:extLst>
              <a:ext uri="{FF2B5EF4-FFF2-40B4-BE49-F238E27FC236}">
                <a16:creationId xmlns:a16="http://schemas.microsoft.com/office/drawing/2014/main" id="{96B54877-A663-90CD-80F5-C089A382CAAA}"/>
              </a:ext>
            </a:extLst>
          </p:cNvPr>
          <p:cNvSpPr/>
          <p:nvPr/>
        </p:nvSpPr>
        <p:spPr>
          <a:xfrm>
            <a:off x="269565" y="5568986"/>
            <a:ext cx="2487214" cy="274162"/>
          </a:xfrm>
          <a:prstGeom prst="parallelogram">
            <a:avLst>
              <a:gd name="adj" fmla="val 0"/>
            </a:avLst>
          </a:prstGeom>
          <a:solidFill>
            <a:srgbClr val="569CD6"/>
          </a:solidFill>
          <a:ln w="9525" cap="flat" cmpd="sng">
            <a:solidFill>
              <a:srgbClr val="569CD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s" b="1">
                <a:latin typeface="DM Sans"/>
                <a:ea typeface="DM Sans"/>
                <a:cs typeface="DM Sans"/>
                <a:sym typeface="DM Sans"/>
              </a:rPr>
              <a:t>Relación con AI</a:t>
            </a:r>
            <a:endParaRPr b="1">
              <a:latin typeface="DM Sans"/>
              <a:ea typeface="DM Sans"/>
              <a:cs typeface="DM Sans"/>
              <a:sym typeface="DM Sans"/>
            </a:endParaRPr>
          </a:p>
        </p:txBody>
      </p:sp>
      <p:sp>
        <p:nvSpPr>
          <p:cNvPr id="18" name="Google Shape;216;p42">
            <a:extLst>
              <a:ext uri="{FF2B5EF4-FFF2-40B4-BE49-F238E27FC236}">
                <a16:creationId xmlns:a16="http://schemas.microsoft.com/office/drawing/2014/main" id="{5508B44E-2AD5-943D-CE34-B8E653D15230}"/>
              </a:ext>
            </a:extLst>
          </p:cNvPr>
          <p:cNvSpPr/>
          <p:nvPr/>
        </p:nvSpPr>
        <p:spPr>
          <a:xfrm>
            <a:off x="2869795" y="1983361"/>
            <a:ext cx="4123376" cy="274162"/>
          </a:xfrm>
          <a:prstGeom prst="parallelogram">
            <a:avLst>
              <a:gd name="adj" fmla="val 131985"/>
            </a:avLst>
          </a:prstGeom>
          <a:solidFill>
            <a:srgbClr val="569CD6"/>
          </a:solidFill>
          <a:ln w="9525" cap="flat" cmpd="sng">
            <a:solidFill>
              <a:srgbClr val="569CD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s" sz="1200" b="1" dirty="0">
                <a:solidFill>
                  <a:schemeClr val="dk1"/>
                </a:solidFill>
                <a:latin typeface="DM Sans"/>
                <a:ea typeface="DM Sans"/>
                <a:cs typeface="DM Sans"/>
                <a:sym typeface="DM Sans"/>
              </a:rPr>
              <a:t>APRENDIZAJE SUPERVISADO</a:t>
            </a:r>
            <a:endParaRPr sz="1200" b="1" dirty="0">
              <a:solidFill>
                <a:schemeClr val="dk1"/>
              </a:solidFill>
              <a:latin typeface="DM Sans"/>
              <a:ea typeface="DM Sans"/>
              <a:cs typeface="DM Sans"/>
              <a:sym typeface="DM Sans"/>
            </a:endParaRPr>
          </a:p>
        </p:txBody>
      </p:sp>
      <p:sp>
        <p:nvSpPr>
          <p:cNvPr id="19" name="Google Shape;217;p42">
            <a:extLst>
              <a:ext uri="{FF2B5EF4-FFF2-40B4-BE49-F238E27FC236}">
                <a16:creationId xmlns:a16="http://schemas.microsoft.com/office/drawing/2014/main" id="{1F934169-1E42-B39F-08F0-3E351D2CB1AF}"/>
              </a:ext>
            </a:extLst>
          </p:cNvPr>
          <p:cNvSpPr/>
          <p:nvPr/>
        </p:nvSpPr>
        <p:spPr>
          <a:xfrm>
            <a:off x="6460964" y="1983361"/>
            <a:ext cx="4526005" cy="274162"/>
          </a:xfrm>
          <a:prstGeom prst="parallelogram">
            <a:avLst>
              <a:gd name="adj" fmla="val 125251"/>
            </a:avLst>
          </a:prstGeom>
          <a:solidFill>
            <a:srgbClr val="569CD6"/>
          </a:solidFill>
          <a:ln w="9525" cap="flat" cmpd="sng">
            <a:solidFill>
              <a:srgbClr val="569CD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s" sz="1200" b="1">
                <a:solidFill>
                  <a:schemeClr val="dk1"/>
                </a:solidFill>
                <a:latin typeface="DM Sans"/>
                <a:ea typeface="DM Sans"/>
                <a:cs typeface="DM Sans"/>
                <a:sym typeface="DM Sans"/>
              </a:rPr>
              <a:t>APRENDIZAJE NO SUPERVISADO</a:t>
            </a:r>
            <a:endParaRPr sz="1200" b="1">
              <a:solidFill>
                <a:schemeClr val="dk1"/>
              </a:solidFill>
              <a:latin typeface="DM Sans"/>
              <a:ea typeface="DM Sans"/>
              <a:cs typeface="DM Sans"/>
              <a:sym typeface="DM Sans"/>
            </a:endParaRPr>
          </a:p>
        </p:txBody>
      </p:sp>
      <p:grpSp>
        <p:nvGrpSpPr>
          <p:cNvPr id="20" name="Google Shape;218;p42">
            <a:extLst>
              <a:ext uri="{FF2B5EF4-FFF2-40B4-BE49-F238E27FC236}">
                <a16:creationId xmlns:a16="http://schemas.microsoft.com/office/drawing/2014/main" id="{8BF95816-E2B9-54F5-7586-21426DE46988}"/>
              </a:ext>
            </a:extLst>
          </p:cNvPr>
          <p:cNvGrpSpPr/>
          <p:nvPr/>
        </p:nvGrpSpPr>
        <p:grpSpPr>
          <a:xfrm>
            <a:off x="5892207" y="1856210"/>
            <a:ext cx="450424" cy="533535"/>
            <a:chOff x="5392412" y="134200"/>
            <a:chExt cx="368838" cy="523100"/>
          </a:xfrm>
        </p:grpSpPr>
        <p:cxnSp>
          <p:nvCxnSpPr>
            <p:cNvPr id="21" name="Google Shape;219;p42">
              <a:extLst>
                <a:ext uri="{FF2B5EF4-FFF2-40B4-BE49-F238E27FC236}">
                  <a16:creationId xmlns:a16="http://schemas.microsoft.com/office/drawing/2014/main" id="{82E662BB-F3CD-6F6E-A932-7EF070E0610D}"/>
                </a:ext>
              </a:extLst>
            </p:cNvPr>
            <p:cNvCxnSpPr/>
            <p:nvPr/>
          </p:nvCxnSpPr>
          <p:spPr>
            <a:xfrm>
              <a:off x="5497700" y="134200"/>
              <a:ext cx="255300" cy="188100"/>
            </a:xfrm>
            <a:prstGeom prst="straightConnector1">
              <a:avLst/>
            </a:prstGeom>
            <a:noFill/>
            <a:ln w="9525" cap="flat" cmpd="sng">
              <a:solidFill>
                <a:srgbClr val="569CD6"/>
              </a:solidFill>
              <a:prstDash val="solid"/>
              <a:round/>
              <a:headEnd type="none" w="sm" len="sm"/>
              <a:tailEnd type="none" w="sm" len="sm"/>
            </a:ln>
          </p:spPr>
        </p:cxnSp>
        <p:cxnSp>
          <p:nvCxnSpPr>
            <p:cNvPr id="22" name="Google Shape;220;p42">
              <a:extLst>
                <a:ext uri="{FF2B5EF4-FFF2-40B4-BE49-F238E27FC236}">
                  <a16:creationId xmlns:a16="http://schemas.microsoft.com/office/drawing/2014/main" id="{B73700D3-C243-22D9-F6D3-626B9751D481}"/>
                </a:ext>
              </a:extLst>
            </p:cNvPr>
            <p:cNvCxnSpPr/>
            <p:nvPr/>
          </p:nvCxnSpPr>
          <p:spPr>
            <a:xfrm flipH="1">
              <a:off x="5392550" y="322300"/>
              <a:ext cx="368700" cy="163200"/>
            </a:xfrm>
            <a:prstGeom prst="straightConnector1">
              <a:avLst/>
            </a:prstGeom>
            <a:noFill/>
            <a:ln w="9525" cap="flat" cmpd="sng">
              <a:solidFill>
                <a:srgbClr val="569CD6"/>
              </a:solidFill>
              <a:prstDash val="solid"/>
              <a:round/>
              <a:headEnd type="none" w="sm" len="sm"/>
              <a:tailEnd type="none" w="sm" len="sm"/>
            </a:ln>
          </p:spPr>
        </p:cxnSp>
        <p:cxnSp>
          <p:nvCxnSpPr>
            <p:cNvPr id="23" name="Google Shape;221;p42">
              <a:extLst>
                <a:ext uri="{FF2B5EF4-FFF2-40B4-BE49-F238E27FC236}">
                  <a16:creationId xmlns:a16="http://schemas.microsoft.com/office/drawing/2014/main" id="{538EE01C-363A-4BC7-9FF2-013B583070DE}"/>
                </a:ext>
              </a:extLst>
            </p:cNvPr>
            <p:cNvCxnSpPr/>
            <p:nvPr/>
          </p:nvCxnSpPr>
          <p:spPr>
            <a:xfrm>
              <a:off x="5392412" y="485400"/>
              <a:ext cx="255900" cy="171900"/>
            </a:xfrm>
            <a:prstGeom prst="straightConnector1">
              <a:avLst/>
            </a:prstGeom>
            <a:noFill/>
            <a:ln w="9525" cap="flat" cmpd="sng">
              <a:solidFill>
                <a:srgbClr val="569CD6"/>
              </a:solidFill>
              <a:prstDash val="solid"/>
              <a:round/>
              <a:headEnd type="none" w="sm" len="sm"/>
              <a:tailEnd type="none" w="sm" len="sm"/>
            </a:ln>
          </p:spPr>
        </p:cxnSp>
      </p:grpSp>
      <p:sp>
        <p:nvSpPr>
          <p:cNvPr id="3" name="Título 1">
            <a:extLst>
              <a:ext uri="{FF2B5EF4-FFF2-40B4-BE49-F238E27FC236}">
                <a16:creationId xmlns:a16="http://schemas.microsoft.com/office/drawing/2014/main" id="{58BF182E-98E7-54A2-767D-2AD6F88785B8}"/>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sz="4400" b="1" dirty="0">
                <a:solidFill>
                  <a:schemeClr val="accent1"/>
                </a:solidFill>
              </a:rPr>
              <a:t>Aprendizaje NO supervisado</a:t>
            </a:r>
            <a:endParaRPr lang="es-ES" dirty="0">
              <a:solidFill>
                <a:schemeClr val="accent1"/>
              </a:solidFill>
            </a:endParaRPr>
          </a:p>
        </p:txBody>
      </p:sp>
    </p:spTree>
    <p:extLst>
      <p:ext uri="{BB962C8B-B14F-4D97-AF65-F5344CB8AC3E}">
        <p14:creationId xmlns:p14="http://schemas.microsoft.com/office/powerpoint/2010/main" val="9300990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2E5569-6325-6E61-734E-00094710592E}"/>
              </a:ext>
            </a:extLst>
          </p:cNvPr>
          <p:cNvSpPr>
            <a:spLocks noGrp="1"/>
          </p:cNvSpPr>
          <p:nvPr>
            <p:ph type="title"/>
          </p:nvPr>
        </p:nvSpPr>
        <p:spPr/>
        <p:txBody>
          <a:bodyPr/>
          <a:lstStyle/>
          <a:p>
            <a:endParaRPr lang="en-US" dirty="0"/>
          </a:p>
        </p:txBody>
      </p:sp>
      <p:sp>
        <p:nvSpPr>
          <p:cNvPr id="3" name="Marcador de contenido 2">
            <a:extLst>
              <a:ext uri="{FF2B5EF4-FFF2-40B4-BE49-F238E27FC236}">
                <a16:creationId xmlns:a16="http://schemas.microsoft.com/office/drawing/2014/main" id="{0ACA5AA5-0925-FEBD-6745-E1778EFC59A9}"/>
              </a:ext>
            </a:extLst>
          </p:cNvPr>
          <p:cNvSpPr>
            <a:spLocks noGrp="1"/>
          </p:cNvSpPr>
          <p:nvPr>
            <p:ph sz="half" idx="1"/>
          </p:nvPr>
        </p:nvSpPr>
        <p:spPr/>
        <p:txBody>
          <a:bodyPr/>
          <a:lstStyle/>
          <a:p>
            <a:pPr marL="0" lvl="0" indent="0" algn="l" rtl="0">
              <a:spcBef>
                <a:spcPts val="0"/>
              </a:spcBef>
              <a:spcAft>
                <a:spcPts val="0"/>
              </a:spcAft>
              <a:buNone/>
            </a:pPr>
            <a:r>
              <a:rPr lang="es-ES" sz="2000" dirty="0">
                <a:solidFill>
                  <a:schemeClr val="dk1"/>
                </a:solidFill>
                <a:latin typeface="DM Sans"/>
                <a:ea typeface="DM Sans"/>
                <a:cs typeface="DM Sans"/>
                <a:sym typeface="DM Sans"/>
              </a:rPr>
              <a:t>Los problemas de aprendizaje no supervisado se clasifican principalmente en dos categorías: </a:t>
            </a:r>
          </a:p>
          <a:p>
            <a:pPr marL="457200" lvl="0" indent="-314325" algn="l" rtl="0">
              <a:spcBef>
                <a:spcPts val="0"/>
              </a:spcBef>
              <a:spcAft>
                <a:spcPts val="0"/>
              </a:spcAft>
              <a:buClr>
                <a:srgbClr val="EF89D2"/>
              </a:buClr>
              <a:buSzPts val="1350"/>
              <a:buFont typeface="DM Sans"/>
              <a:buChar char="✓"/>
            </a:pPr>
            <a:r>
              <a:rPr lang="es-ES" sz="2000" dirty="0" err="1">
                <a:solidFill>
                  <a:schemeClr val="dk1"/>
                </a:solidFill>
                <a:latin typeface="DM Sans"/>
                <a:ea typeface="DM Sans"/>
                <a:cs typeface="DM Sans"/>
                <a:sym typeface="DM Sans"/>
              </a:rPr>
              <a:t>Cluster</a:t>
            </a:r>
            <a:r>
              <a:rPr lang="es-ES" sz="2000" dirty="0">
                <a:solidFill>
                  <a:schemeClr val="dk1"/>
                </a:solidFill>
                <a:latin typeface="DM Sans"/>
                <a:ea typeface="DM Sans"/>
                <a:cs typeface="DM Sans"/>
                <a:sym typeface="DM Sans"/>
              </a:rPr>
              <a:t> (donde tenemos algoritmos como k-</a:t>
            </a:r>
            <a:r>
              <a:rPr lang="es-ES" sz="2000" dirty="0" err="1">
                <a:solidFill>
                  <a:schemeClr val="dk1"/>
                </a:solidFill>
                <a:latin typeface="DM Sans"/>
                <a:ea typeface="DM Sans"/>
                <a:cs typeface="DM Sans"/>
                <a:sym typeface="DM Sans"/>
              </a:rPr>
              <a:t>means</a:t>
            </a:r>
            <a:r>
              <a:rPr lang="es-ES" sz="2000" dirty="0">
                <a:solidFill>
                  <a:schemeClr val="dk1"/>
                </a:solidFill>
                <a:latin typeface="DM Sans"/>
                <a:ea typeface="DM Sans"/>
                <a:cs typeface="DM Sans"/>
                <a:sym typeface="DM Sans"/>
              </a:rPr>
              <a:t>. </a:t>
            </a:r>
            <a:r>
              <a:rPr lang="es-ES" sz="2000" dirty="0" err="1">
                <a:solidFill>
                  <a:schemeClr val="dk1"/>
                </a:solidFill>
                <a:latin typeface="DM Sans"/>
                <a:ea typeface="DM Sans"/>
                <a:cs typeface="DM Sans"/>
                <a:sym typeface="DM Sans"/>
              </a:rPr>
              <a:t>clustering</a:t>
            </a:r>
            <a:r>
              <a:rPr lang="es-ES" sz="2000" dirty="0">
                <a:solidFill>
                  <a:schemeClr val="dk1"/>
                </a:solidFill>
                <a:latin typeface="DM Sans"/>
                <a:ea typeface="DM Sans"/>
                <a:cs typeface="DM Sans"/>
                <a:sym typeface="DM Sans"/>
              </a:rPr>
              <a:t> jerárquico, modelos de mixturas gaussianas, o algoritmo basados en densidad como DBSCAN) </a:t>
            </a:r>
          </a:p>
          <a:p>
            <a:pPr marL="457200" lvl="0" indent="-314325" algn="l" rtl="0">
              <a:spcBef>
                <a:spcPts val="0"/>
              </a:spcBef>
              <a:spcAft>
                <a:spcPts val="0"/>
              </a:spcAft>
              <a:buClr>
                <a:srgbClr val="EF89D2"/>
              </a:buClr>
              <a:buSzPts val="1350"/>
              <a:buFont typeface="DM Sans"/>
              <a:buChar char="✓"/>
            </a:pPr>
            <a:r>
              <a:rPr lang="es-ES" sz="2000" dirty="0">
                <a:solidFill>
                  <a:schemeClr val="dk1"/>
                </a:solidFill>
                <a:latin typeface="DM Sans"/>
                <a:ea typeface="DM Sans"/>
                <a:cs typeface="DM Sans"/>
                <a:sym typeface="DM Sans"/>
              </a:rPr>
              <a:t>Reducción de dimensionalidad (como PCA, ICA, Análisis Factorial)</a:t>
            </a:r>
          </a:p>
          <a:p>
            <a:endParaRPr lang="en-US" dirty="0"/>
          </a:p>
        </p:txBody>
      </p:sp>
      <p:pic>
        <p:nvPicPr>
          <p:cNvPr id="5" name="Google Shape;231;p44">
            <a:extLst>
              <a:ext uri="{FF2B5EF4-FFF2-40B4-BE49-F238E27FC236}">
                <a16:creationId xmlns:a16="http://schemas.microsoft.com/office/drawing/2014/main" id="{5619D302-90A0-B963-AC6A-97B1390DD638}"/>
              </a:ext>
            </a:extLst>
          </p:cNvPr>
          <p:cNvPicPr preferRelativeResize="0">
            <a:picLocks noGrp="1"/>
          </p:cNvPicPr>
          <p:nvPr>
            <p:ph sz="half" idx="2"/>
          </p:nvPr>
        </p:nvPicPr>
        <p:blipFill>
          <a:blip r:embed="rId2">
            <a:alphaModFix/>
          </a:blip>
          <a:stretch>
            <a:fillRect/>
          </a:stretch>
        </p:blipFill>
        <p:spPr>
          <a:xfrm>
            <a:off x="6572250" y="1829594"/>
            <a:ext cx="4381500" cy="4343400"/>
          </a:xfrm>
          <a:prstGeom prst="rect">
            <a:avLst/>
          </a:prstGeom>
          <a:noFill/>
          <a:ln>
            <a:noFill/>
          </a:ln>
        </p:spPr>
      </p:pic>
      <p:sp>
        <p:nvSpPr>
          <p:cNvPr id="4" name="Título 1">
            <a:extLst>
              <a:ext uri="{FF2B5EF4-FFF2-40B4-BE49-F238E27FC236}">
                <a16:creationId xmlns:a16="http://schemas.microsoft.com/office/drawing/2014/main" id="{59F9F3FE-8496-089B-8342-97D7F93C19B0}"/>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sz="4400" b="1" dirty="0">
                <a:solidFill>
                  <a:schemeClr val="accent1"/>
                </a:solidFill>
              </a:rPr>
              <a:t>Aprendizaje NO supervisado</a:t>
            </a:r>
            <a:endParaRPr lang="es-ES" dirty="0">
              <a:solidFill>
                <a:schemeClr val="accent1"/>
              </a:solidFill>
            </a:endParaRPr>
          </a:p>
        </p:txBody>
      </p:sp>
    </p:spTree>
    <p:extLst>
      <p:ext uri="{BB962C8B-B14F-4D97-AF65-F5344CB8AC3E}">
        <p14:creationId xmlns:p14="http://schemas.microsoft.com/office/powerpoint/2010/main" val="8661654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172FF0-4399-5A2F-4274-B5376BF31709}"/>
              </a:ext>
            </a:extLst>
          </p:cNvPr>
          <p:cNvSpPr>
            <a:spLocks noGrp="1"/>
          </p:cNvSpPr>
          <p:nvPr>
            <p:ph type="title"/>
          </p:nvPr>
        </p:nvSpPr>
        <p:spPr/>
        <p:txBody>
          <a:bodyPr/>
          <a:lstStyle/>
          <a:p>
            <a:endParaRPr lang="en-US" dirty="0"/>
          </a:p>
        </p:txBody>
      </p:sp>
      <p:sp>
        <p:nvSpPr>
          <p:cNvPr id="3" name="Marcador de contenido 2">
            <a:extLst>
              <a:ext uri="{FF2B5EF4-FFF2-40B4-BE49-F238E27FC236}">
                <a16:creationId xmlns:a16="http://schemas.microsoft.com/office/drawing/2014/main" id="{0B242246-A5AF-F893-5F3C-C1F0C1DB0A82}"/>
              </a:ext>
            </a:extLst>
          </p:cNvPr>
          <p:cNvSpPr>
            <a:spLocks noGrp="1"/>
          </p:cNvSpPr>
          <p:nvPr>
            <p:ph sz="half" idx="1"/>
          </p:nvPr>
        </p:nvSpPr>
        <p:spPr/>
        <p:txBody>
          <a:bodyPr>
            <a:normAutofit/>
          </a:bodyPr>
          <a:lstStyle/>
          <a:p>
            <a:r>
              <a:rPr lang="en-US" sz="2400" b="1" dirty="0" err="1"/>
              <a:t>Problemas</a:t>
            </a:r>
            <a:r>
              <a:rPr lang="en-US" sz="2400" b="1" dirty="0"/>
              <a:t> de Clustering: </a:t>
            </a:r>
          </a:p>
          <a:p>
            <a:pPr marL="0" indent="0">
              <a:buNone/>
            </a:pPr>
            <a:r>
              <a:rPr lang="es-ES" sz="2400" dirty="0"/>
              <a:t>Asignación de </a:t>
            </a:r>
            <a:r>
              <a:rPr lang="es-ES" sz="2400" b="1" dirty="0"/>
              <a:t>individuos/objetos a grupos homogéneos</a:t>
            </a:r>
            <a:r>
              <a:rPr lang="es-ES" sz="2400" dirty="0"/>
              <a:t> asegurando mínima varianza </a:t>
            </a:r>
            <a:r>
              <a:rPr lang="es-ES" sz="2400" dirty="0" err="1"/>
              <a:t>intra-cluster</a:t>
            </a:r>
            <a:r>
              <a:rPr lang="es-ES" sz="2400" dirty="0"/>
              <a:t> y máxima varianza </a:t>
            </a:r>
            <a:r>
              <a:rPr lang="es-ES" sz="2400" dirty="0" err="1"/>
              <a:t>inter-cluster</a:t>
            </a:r>
            <a:r>
              <a:rPr lang="es-ES" sz="2400" dirty="0"/>
              <a:t> </a:t>
            </a:r>
            <a:r>
              <a:rPr lang="es-ES" sz="2400" b="1" dirty="0"/>
              <a:t>intentando descubrir la estructura oculta de los objetos</a:t>
            </a:r>
          </a:p>
          <a:p>
            <a:endParaRPr lang="en-US" sz="2400" dirty="0"/>
          </a:p>
        </p:txBody>
      </p:sp>
      <p:sp>
        <p:nvSpPr>
          <p:cNvPr id="4" name="Marcador de contenido 3">
            <a:extLst>
              <a:ext uri="{FF2B5EF4-FFF2-40B4-BE49-F238E27FC236}">
                <a16:creationId xmlns:a16="http://schemas.microsoft.com/office/drawing/2014/main" id="{07B1A678-301E-5496-EDED-B2FD1DC8CEE0}"/>
              </a:ext>
            </a:extLst>
          </p:cNvPr>
          <p:cNvSpPr>
            <a:spLocks noGrp="1"/>
          </p:cNvSpPr>
          <p:nvPr>
            <p:ph sz="half" idx="2"/>
          </p:nvPr>
        </p:nvSpPr>
        <p:spPr/>
        <p:txBody>
          <a:bodyPr>
            <a:normAutofit/>
          </a:bodyPr>
          <a:lstStyle/>
          <a:p>
            <a:r>
              <a:rPr lang="en-US" sz="2400" b="1" dirty="0" err="1"/>
              <a:t>Problemas</a:t>
            </a:r>
            <a:r>
              <a:rPr lang="en-US" sz="2400" b="1" dirty="0"/>
              <a:t> de </a:t>
            </a:r>
            <a:r>
              <a:rPr lang="en-US" sz="2400" b="1" dirty="0" err="1"/>
              <a:t>Reducción</a:t>
            </a:r>
            <a:r>
              <a:rPr lang="en-US" sz="2400" b="1" dirty="0"/>
              <a:t> </a:t>
            </a:r>
            <a:r>
              <a:rPr lang="en-US" sz="2400" b="1" dirty="0" err="1"/>
              <a:t>Dimensionalidad</a:t>
            </a:r>
            <a:r>
              <a:rPr lang="en-US" sz="2400" b="1" dirty="0"/>
              <a:t>: </a:t>
            </a:r>
          </a:p>
          <a:p>
            <a:pPr marL="0" indent="0">
              <a:buNone/>
            </a:pPr>
            <a:r>
              <a:rPr lang="es-ES" sz="2400" dirty="0"/>
              <a:t>Cuyo propósito es </a:t>
            </a:r>
            <a:r>
              <a:rPr lang="es-ES" sz="2400" b="1" dirty="0"/>
              <a:t>reducir el número de </a:t>
            </a:r>
            <a:r>
              <a:rPr lang="es-ES" sz="2400" b="1" dirty="0" err="1"/>
              <a:t>features</a:t>
            </a:r>
            <a:r>
              <a:rPr lang="es-ES" sz="2400" b="1" dirty="0"/>
              <a:t> (variables) </a:t>
            </a:r>
            <a:r>
              <a:rPr lang="es-ES" sz="2400" dirty="0"/>
              <a:t>por medio de </a:t>
            </a:r>
            <a:r>
              <a:rPr lang="es-ES" sz="2400" b="1" dirty="0" err="1"/>
              <a:t>feature</a:t>
            </a:r>
            <a:r>
              <a:rPr lang="es-ES" sz="2400" b="1" dirty="0"/>
              <a:t> </a:t>
            </a:r>
            <a:r>
              <a:rPr lang="es-ES" sz="2400" b="1" dirty="0" err="1"/>
              <a:t>selection</a:t>
            </a:r>
            <a:r>
              <a:rPr lang="es-ES" sz="2400" dirty="0"/>
              <a:t> (selección existente) o </a:t>
            </a:r>
            <a:r>
              <a:rPr lang="es-ES" sz="2400" b="1" dirty="0" err="1"/>
              <a:t>feature</a:t>
            </a:r>
            <a:r>
              <a:rPr lang="es-ES" sz="2400" b="1" dirty="0"/>
              <a:t> </a:t>
            </a:r>
            <a:r>
              <a:rPr lang="es-ES" sz="2400" b="1" dirty="0" err="1"/>
              <a:t>extraction</a:t>
            </a:r>
            <a:r>
              <a:rPr lang="es-ES" sz="2400" dirty="0"/>
              <a:t> (combinación de datos originales).</a:t>
            </a:r>
          </a:p>
          <a:p>
            <a:endParaRPr lang="en-US" sz="2400" dirty="0"/>
          </a:p>
        </p:txBody>
      </p:sp>
      <p:pic>
        <p:nvPicPr>
          <p:cNvPr id="5" name="Google Shape;249;p46">
            <a:extLst>
              <a:ext uri="{FF2B5EF4-FFF2-40B4-BE49-F238E27FC236}">
                <a16:creationId xmlns:a16="http://schemas.microsoft.com/office/drawing/2014/main" id="{D935F0B0-16FB-5285-7A3D-96E52CD7DC86}"/>
              </a:ext>
            </a:extLst>
          </p:cNvPr>
          <p:cNvPicPr preferRelativeResize="0"/>
          <p:nvPr/>
        </p:nvPicPr>
        <p:blipFill>
          <a:blip r:embed="rId2">
            <a:alphaModFix/>
          </a:blip>
          <a:stretch>
            <a:fillRect/>
          </a:stretch>
        </p:blipFill>
        <p:spPr>
          <a:xfrm>
            <a:off x="2534861" y="4470012"/>
            <a:ext cx="6969877" cy="1909000"/>
          </a:xfrm>
          <a:prstGeom prst="rect">
            <a:avLst/>
          </a:prstGeom>
          <a:noFill/>
          <a:ln>
            <a:noFill/>
          </a:ln>
        </p:spPr>
      </p:pic>
      <p:sp>
        <p:nvSpPr>
          <p:cNvPr id="6" name="Título 1">
            <a:extLst>
              <a:ext uri="{FF2B5EF4-FFF2-40B4-BE49-F238E27FC236}">
                <a16:creationId xmlns:a16="http://schemas.microsoft.com/office/drawing/2014/main" id="{E09CE92C-BCA9-C389-FAED-1C149612884E}"/>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sz="4400" b="1" dirty="0">
                <a:solidFill>
                  <a:schemeClr val="accent1"/>
                </a:solidFill>
              </a:rPr>
              <a:t>Qué tipos de problemas resuelve?</a:t>
            </a:r>
            <a:endParaRPr lang="es-ES" dirty="0">
              <a:solidFill>
                <a:schemeClr val="accent1"/>
              </a:solidFill>
            </a:endParaRPr>
          </a:p>
        </p:txBody>
      </p:sp>
    </p:spTree>
    <p:extLst>
      <p:ext uri="{BB962C8B-B14F-4D97-AF65-F5344CB8AC3E}">
        <p14:creationId xmlns:p14="http://schemas.microsoft.com/office/powerpoint/2010/main" val="29325310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87AEF4-609F-44CA-96CB-A826A9C87F2C}"/>
              </a:ext>
            </a:extLst>
          </p:cNvPr>
          <p:cNvSpPr>
            <a:spLocks noGrp="1"/>
          </p:cNvSpPr>
          <p:nvPr>
            <p:ph type="title"/>
          </p:nvPr>
        </p:nvSpPr>
        <p:spPr/>
        <p:txBody>
          <a:bodyPr/>
          <a:lstStyle/>
          <a:p>
            <a:endParaRPr lang="en-US" dirty="0"/>
          </a:p>
        </p:txBody>
      </p:sp>
      <p:sp>
        <p:nvSpPr>
          <p:cNvPr id="3" name="Marcador de contenido 2">
            <a:extLst>
              <a:ext uri="{FF2B5EF4-FFF2-40B4-BE49-F238E27FC236}">
                <a16:creationId xmlns:a16="http://schemas.microsoft.com/office/drawing/2014/main" id="{B25D06E3-D36D-546F-CA3A-FEA071C61606}"/>
              </a:ext>
            </a:extLst>
          </p:cNvPr>
          <p:cNvSpPr>
            <a:spLocks noGrp="1"/>
          </p:cNvSpPr>
          <p:nvPr>
            <p:ph sz="half" idx="1"/>
          </p:nvPr>
        </p:nvSpPr>
        <p:spPr>
          <a:xfrm>
            <a:off x="688583" y="1685756"/>
            <a:ext cx="10220960" cy="4351338"/>
          </a:xfrm>
        </p:spPr>
        <p:txBody>
          <a:bodyPr/>
          <a:lstStyle/>
          <a:p>
            <a:r>
              <a:rPr lang="es" sz="2000" dirty="0">
                <a:solidFill>
                  <a:schemeClr val="dk1"/>
                </a:solidFill>
                <a:latin typeface="DM Sans"/>
                <a:ea typeface="DM Sans"/>
                <a:cs typeface="DM Sans"/>
                <a:sym typeface="DM Sans"/>
              </a:rPr>
              <a:t>También conocidas como agrupamiento o segmentación tienen como principal función</a:t>
            </a:r>
            <a:r>
              <a:rPr lang="es" sz="2000" b="1" dirty="0">
                <a:solidFill>
                  <a:schemeClr val="dk1"/>
                </a:solidFill>
                <a:latin typeface="DM Sans"/>
                <a:ea typeface="DM Sans"/>
                <a:cs typeface="DM Sans"/>
                <a:sym typeface="DM Sans"/>
              </a:rPr>
              <a:t> encontrar una estructura o un patrón en una colección de datos no clasificados</a:t>
            </a:r>
            <a:endParaRPr lang="en-US" dirty="0"/>
          </a:p>
        </p:txBody>
      </p:sp>
      <p:pic>
        <p:nvPicPr>
          <p:cNvPr id="11" name="Google Shape;265;p48">
            <a:extLst>
              <a:ext uri="{FF2B5EF4-FFF2-40B4-BE49-F238E27FC236}">
                <a16:creationId xmlns:a16="http://schemas.microsoft.com/office/drawing/2014/main" id="{89E65BD3-FBEF-A689-AA68-F94C2A3E48B3}"/>
              </a:ext>
            </a:extLst>
          </p:cNvPr>
          <p:cNvPicPr preferRelativeResize="0"/>
          <p:nvPr/>
        </p:nvPicPr>
        <p:blipFill>
          <a:blip r:embed="rId2">
            <a:clrChange>
              <a:clrFrom>
                <a:srgbClr val="FFFFFF"/>
              </a:clrFrom>
              <a:clrTo>
                <a:srgbClr val="FFFFFF">
                  <a:alpha val="0"/>
                </a:srgbClr>
              </a:clrTo>
            </a:clrChange>
            <a:alphaModFix/>
          </a:blip>
          <a:stretch>
            <a:fillRect/>
          </a:stretch>
        </p:blipFill>
        <p:spPr>
          <a:xfrm>
            <a:off x="9796310" y="79901"/>
            <a:ext cx="2226465" cy="1536280"/>
          </a:xfrm>
          <a:prstGeom prst="rect">
            <a:avLst/>
          </a:prstGeom>
          <a:noFill/>
          <a:ln>
            <a:noFill/>
          </a:ln>
        </p:spPr>
      </p:pic>
      <p:sp>
        <p:nvSpPr>
          <p:cNvPr id="12" name="Google Shape;322;p56">
            <a:extLst>
              <a:ext uri="{FF2B5EF4-FFF2-40B4-BE49-F238E27FC236}">
                <a16:creationId xmlns:a16="http://schemas.microsoft.com/office/drawing/2014/main" id="{15A276D5-AF1F-CA34-E114-F9C76FA97140}"/>
              </a:ext>
            </a:extLst>
          </p:cNvPr>
          <p:cNvSpPr txBox="1"/>
          <p:nvPr/>
        </p:nvSpPr>
        <p:spPr>
          <a:xfrm>
            <a:off x="1282457" y="3070533"/>
            <a:ext cx="1510800" cy="392400"/>
          </a:xfrm>
          <a:prstGeom prst="rect">
            <a:avLst/>
          </a:prstGeom>
          <a:solidFill>
            <a:srgbClr val="EAFF6A"/>
          </a:solidFill>
          <a:ln w="9525" cap="flat" cmpd="sng">
            <a:solidFill>
              <a:srgbClr val="EAFF6A"/>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s" sz="1350" b="1">
                <a:latin typeface="DM Sans"/>
                <a:ea typeface="DM Sans"/>
                <a:cs typeface="DM Sans"/>
                <a:sym typeface="DM Sans"/>
              </a:rPr>
              <a:t>Particiones</a:t>
            </a:r>
            <a:endParaRPr sz="1350" b="1">
              <a:latin typeface="DM Sans"/>
              <a:ea typeface="DM Sans"/>
              <a:cs typeface="DM Sans"/>
              <a:sym typeface="DM Sans"/>
            </a:endParaRPr>
          </a:p>
        </p:txBody>
      </p:sp>
      <p:sp>
        <p:nvSpPr>
          <p:cNvPr id="13" name="Google Shape;323;p56">
            <a:extLst>
              <a:ext uri="{FF2B5EF4-FFF2-40B4-BE49-F238E27FC236}">
                <a16:creationId xmlns:a16="http://schemas.microsoft.com/office/drawing/2014/main" id="{EBDA9009-2D79-872E-AEDF-FFDF8B3B9875}"/>
              </a:ext>
            </a:extLst>
          </p:cNvPr>
          <p:cNvSpPr txBox="1"/>
          <p:nvPr/>
        </p:nvSpPr>
        <p:spPr>
          <a:xfrm>
            <a:off x="3073632" y="3070533"/>
            <a:ext cx="1510800" cy="400200"/>
          </a:xfrm>
          <a:prstGeom prst="rect">
            <a:avLst/>
          </a:prstGeom>
          <a:solidFill>
            <a:srgbClr val="EF89D2"/>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a:latin typeface="Helvetica Neue"/>
                <a:ea typeface="Helvetica Neue"/>
                <a:cs typeface="Helvetica Neue"/>
                <a:sym typeface="Helvetica Neue"/>
              </a:rPr>
              <a:t>Hierarchical</a:t>
            </a:r>
            <a:endParaRPr b="1">
              <a:latin typeface="Helvetica Neue"/>
              <a:ea typeface="Helvetica Neue"/>
              <a:cs typeface="Helvetica Neue"/>
              <a:sym typeface="Helvetica Neue"/>
            </a:endParaRPr>
          </a:p>
        </p:txBody>
      </p:sp>
      <p:sp>
        <p:nvSpPr>
          <p:cNvPr id="14" name="Google Shape;324;p56">
            <a:extLst>
              <a:ext uri="{FF2B5EF4-FFF2-40B4-BE49-F238E27FC236}">
                <a16:creationId xmlns:a16="http://schemas.microsoft.com/office/drawing/2014/main" id="{F3BF0E56-E521-9AD4-AD7F-86B52DC25599}"/>
              </a:ext>
            </a:extLst>
          </p:cNvPr>
          <p:cNvSpPr txBox="1"/>
          <p:nvPr/>
        </p:nvSpPr>
        <p:spPr>
          <a:xfrm>
            <a:off x="5010007" y="3070533"/>
            <a:ext cx="1510800" cy="392400"/>
          </a:xfrm>
          <a:prstGeom prst="rect">
            <a:avLst/>
          </a:prstGeom>
          <a:solidFill>
            <a:srgbClr val="EAFF6A"/>
          </a:solidFill>
          <a:ln w="9525" cap="flat" cmpd="sng">
            <a:solidFill>
              <a:srgbClr val="EAFF6A"/>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s" sz="1350" b="1">
                <a:latin typeface="DM Sans"/>
                <a:ea typeface="DM Sans"/>
                <a:cs typeface="DM Sans"/>
                <a:sym typeface="DM Sans"/>
              </a:rPr>
              <a:t>Density</a:t>
            </a:r>
            <a:endParaRPr sz="1350" b="1">
              <a:latin typeface="DM Sans"/>
              <a:ea typeface="DM Sans"/>
              <a:cs typeface="DM Sans"/>
              <a:sym typeface="DM Sans"/>
            </a:endParaRPr>
          </a:p>
        </p:txBody>
      </p:sp>
      <p:sp>
        <p:nvSpPr>
          <p:cNvPr id="15" name="Google Shape;325;p56">
            <a:extLst>
              <a:ext uri="{FF2B5EF4-FFF2-40B4-BE49-F238E27FC236}">
                <a16:creationId xmlns:a16="http://schemas.microsoft.com/office/drawing/2014/main" id="{0DCEC3D5-8050-753A-2542-34CDE6F1E2FE}"/>
              </a:ext>
            </a:extLst>
          </p:cNvPr>
          <p:cNvSpPr txBox="1"/>
          <p:nvPr/>
        </p:nvSpPr>
        <p:spPr>
          <a:xfrm>
            <a:off x="6874207" y="3070533"/>
            <a:ext cx="1510800" cy="400200"/>
          </a:xfrm>
          <a:prstGeom prst="rect">
            <a:avLst/>
          </a:prstGeom>
          <a:solidFill>
            <a:srgbClr val="EF89D2"/>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a:latin typeface="DM Sans"/>
                <a:ea typeface="DM Sans"/>
                <a:cs typeface="DM Sans"/>
                <a:sym typeface="DM Sans"/>
              </a:rPr>
              <a:t>Grid</a:t>
            </a:r>
            <a:endParaRPr b="1">
              <a:latin typeface="DM Sans"/>
              <a:ea typeface="DM Sans"/>
              <a:cs typeface="DM Sans"/>
              <a:sym typeface="DM Sans"/>
            </a:endParaRPr>
          </a:p>
        </p:txBody>
      </p:sp>
      <p:sp>
        <p:nvSpPr>
          <p:cNvPr id="16" name="Google Shape;326;p56">
            <a:extLst>
              <a:ext uri="{FF2B5EF4-FFF2-40B4-BE49-F238E27FC236}">
                <a16:creationId xmlns:a16="http://schemas.microsoft.com/office/drawing/2014/main" id="{DBEC704F-8AB8-BB49-8B68-616C56FAD02C}"/>
              </a:ext>
            </a:extLst>
          </p:cNvPr>
          <p:cNvSpPr txBox="1"/>
          <p:nvPr/>
        </p:nvSpPr>
        <p:spPr>
          <a:xfrm>
            <a:off x="8620907" y="3070533"/>
            <a:ext cx="1510800" cy="392400"/>
          </a:xfrm>
          <a:prstGeom prst="rect">
            <a:avLst/>
          </a:prstGeom>
          <a:solidFill>
            <a:srgbClr val="EAFF6A"/>
          </a:solidFill>
          <a:ln w="9525" cap="flat" cmpd="sng">
            <a:solidFill>
              <a:srgbClr val="EAFF6A"/>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s" sz="1350" b="1">
                <a:latin typeface="DM Sans"/>
                <a:ea typeface="DM Sans"/>
                <a:cs typeface="DM Sans"/>
                <a:sym typeface="DM Sans"/>
              </a:rPr>
              <a:t>Model</a:t>
            </a:r>
            <a:endParaRPr sz="1350" b="1">
              <a:latin typeface="DM Sans"/>
              <a:ea typeface="DM Sans"/>
              <a:cs typeface="DM Sans"/>
              <a:sym typeface="DM Sans"/>
            </a:endParaRPr>
          </a:p>
        </p:txBody>
      </p:sp>
      <p:sp>
        <p:nvSpPr>
          <p:cNvPr id="17" name="Google Shape;327;p56">
            <a:extLst>
              <a:ext uri="{FF2B5EF4-FFF2-40B4-BE49-F238E27FC236}">
                <a16:creationId xmlns:a16="http://schemas.microsoft.com/office/drawing/2014/main" id="{1DE0E92D-CC44-FAB0-4735-10858A5F30AF}"/>
              </a:ext>
            </a:extLst>
          </p:cNvPr>
          <p:cNvSpPr txBox="1"/>
          <p:nvPr/>
        </p:nvSpPr>
        <p:spPr>
          <a:xfrm>
            <a:off x="1282457" y="3623308"/>
            <a:ext cx="1510800" cy="3693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s" sz="1200">
                <a:latin typeface="DM Sans"/>
                <a:ea typeface="DM Sans"/>
                <a:cs typeface="DM Sans"/>
                <a:sym typeface="DM Sans"/>
              </a:rPr>
              <a:t>K-means</a:t>
            </a:r>
            <a:endParaRPr sz="1200">
              <a:latin typeface="DM Sans"/>
              <a:ea typeface="DM Sans"/>
              <a:cs typeface="DM Sans"/>
              <a:sym typeface="DM Sans"/>
            </a:endParaRPr>
          </a:p>
        </p:txBody>
      </p:sp>
      <p:sp>
        <p:nvSpPr>
          <p:cNvPr id="18" name="Google Shape;328;p56">
            <a:extLst>
              <a:ext uri="{FF2B5EF4-FFF2-40B4-BE49-F238E27FC236}">
                <a16:creationId xmlns:a16="http://schemas.microsoft.com/office/drawing/2014/main" id="{1F238CAF-F4C2-C437-2AD3-CD3E01538AE5}"/>
              </a:ext>
            </a:extLst>
          </p:cNvPr>
          <p:cNvSpPr txBox="1"/>
          <p:nvPr/>
        </p:nvSpPr>
        <p:spPr>
          <a:xfrm>
            <a:off x="1282457" y="4083083"/>
            <a:ext cx="1510800" cy="5541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s" sz="1200">
                <a:latin typeface="DM Sans"/>
                <a:ea typeface="DM Sans"/>
                <a:cs typeface="DM Sans"/>
                <a:sym typeface="DM Sans"/>
              </a:rPr>
              <a:t>PAM (Partition around medoids)</a:t>
            </a:r>
            <a:endParaRPr sz="1200">
              <a:latin typeface="DM Sans"/>
              <a:ea typeface="DM Sans"/>
              <a:cs typeface="DM Sans"/>
              <a:sym typeface="DM Sans"/>
            </a:endParaRPr>
          </a:p>
        </p:txBody>
      </p:sp>
      <p:sp>
        <p:nvSpPr>
          <p:cNvPr id="19" name="Google Shape;329;p56">
            <a:extLst>
              <a:ext uri="{FF2B5EF4-FFF2-40B4-BE49-F238E27FC236}">
                <a16:creationId xmlns:a16="http://schemas.microsoft.com/office/drawing/2014/main" id="{7F9370CF-0A2C-04C3-D5E3-709CF2E5F1B7}"/>
              </a:ext>
            </a:extLst>
          </p:cNvPr>
          <p:cNvSpPr txBox="1"/>
          <p:nvPr/>
        </p:nvSpPr>
        <p:spPr>
          <a:xfrm>
            <a:off x="1282457" y="4768808"/>
            <a:ext cx="1510800" cy="7389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s" sz="1200">
                <a:latin typeface="DM Sans"/>
                <a:ea typeface="DM Sans"/>
                <a:cs typeface="DM Sans"/>
                <a:sym typeface="DM Sans"/>
              </a:rPr>
              <a:t>CLARA (Clustering Large Applications)</a:t>
            </a:r>
            <a:endParaRPr sz="1200">
              <a:latin typeface="DM Sans"/>
              <a:ea typeface="DM Sans"/>
              <a:cs typeface="DM Sans"/>
              <a:sym typeface="DM Sans"/>
            </a:endParaRPr>
          </a:p>
        </p:txBody>
      </p:sp>
      <p:sp>
        <p:nvSpPr>
          <p:cNvPr id="20" name="Google Shape;330;p56">
            <a:extLst>
              <a:ext uri="{FF2B5EF4-FFF2-40B4-BE49-F238E27FC236}">
                <a16:creationId xmlns:a16="http://schemas.microsoft.com/office/drawing/2014/main" id="{11BA7FBE-89E8-CC02-DB7A-DB4D6635A279}"/>
              </a:ext>
            </a:extLst>
          </p:cNvPr>
          <p:cNvSpPr txBox="1"/>
          <p:nvPr/>
        </p:nvSpPr>
        <p:spPr>
          <a:xfrm>
            <a:off x="1282457" y="5454533"/>
            <a:ext cx="1510800" cy="5541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s" sz="1200">
                <a:latin typeface="DM Sans"/>
                <a:ea typeface="DM Sans"/>
                <a:cs typeface="DM Sans"/>
                <a:sym typeface="DM Sans"/>
              </a:rPr>
              <a:t>FCM (Fuzzy C-Means)</a:t>
            </a:r>
            <a:endParaRPr sz="1200">
              <a:latin typeface="DM Sans"/>
              <a:ea typeface="DM Sans"/>
              <a:cs typeface="DM Sans"/>
              <a:sym typeface="DM Sans"/>
            </a:endParaRPr>
          </a:p>
        </p:txBody>
      </p:sp>
      <p:sp>
        <p:nvSpPr>
          <p:cNvPr id="21" name="Google Shape;331;p56">
            <a:extLst>
              <a:ext uri="{FF2B5EF4-FFF2-40B4-BE49-F238E27FC236}">
                <a16:creationId xmlns:a16="http://schemas.microsoft.com/office/drawing/2014/main" id="{A14DB982-AF00-874C-42CF-9E430B7C09C1}"/>
              </a:ext>
            </a:extLst>
          </p:cNvPr>
          <p:cNvSpPr txBox="1"/>
          <p:nvPr/>
        </p:nvSpPr>
        <p:spPr>
          <a:xfrm>
            <a:off x="2993232" y="3592258"/>
            <a:ext cx="1785900" cy="3693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s" sz="1200">
                <a:latin typeface="DM Sans"/>
                <a:ea typeface="DM Sans"/>
                <a:cs typeface="DM Sans"/>
                <a:sym typeface="DM Sans"/>
              </a:rPr>
              <a:t>Aglomerativo/Divisivo</a:t>
            </a:r>
            <a:endParaRPr sz="1200">
              <a:latin typeface="DM Sans"/>
              <a:ea typeface="DM Sans"/>
              <a:cs typeface="DM Sans"/>
              <a:sym typeface="DM Sans"/>
            </a:endParaRPr>
          </a:p>
        </p:txBody>
      </p:sp>
      <p:sp>
        <p:nvSpPr>
          <p:cNvPr id="22" name="Google Shape;332;p56">
            <a:extLst>
              <a:ext uri="{FF2B5EF4-FFF2-40B4-BE49-F238E27FC236}">
                <a16:creationId xmlns:a16="http://schemas.microsoft.com/office/drawing/2014/main" id="{B53B174B-2838-B7BF-4B6B-226A2DDA45CD}"/>
              </a:ext>
            </a:extLst>
          </p:cNvPr>
          <p:cNvSpPr txBox="1"/>
          <p:nvPr/>
        </p:nvSpPr>
        <p:spPr>
          <a:xfrm>
            <a:off x="2993232" y="4098833"/>
            <a:ext cx="1767300" cy="5541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s" sz="1200">
                <a:latin typeface="DM Sans"/>
                <a:ea typeface="DM Sans"/>
                <a:cs typeface="DM Sans"/>
                <a:sym typeface="DM Sans"/>
              </a:rPr>
              <a:t>BIRCH (Balanced Iterative Reduced)</a:t>
            </a:r>
            <a:endParaRPr sz="1200">
              <a:latin typeface="DM Sans"/>
              <a:ea typeface="DM Sans"/>
              <a:cs typeface="DM Sans"/>
              <a:sym typeface="DM Sans"/>
            </a:endParaRPr>
          </a:p>
        </p:txBody>
      </p:sp>
      <p:sp>
        <p:nvSpPr>
          <p:cNvPr id="23" name="Google Shape;333;p56">
            <a:extLst>
              <a:ext uri="{FF2B5EF4-FFF2-40B4-BE49-F238E27FC236}">
                <a16:creationId xmlns:a16="http://schemas.microsoft.com/office/drawing/2014/main" id="{BB556891-F4DA-1C8F-9EAD-CAF035AA2635}"/>
              </a:ext>
            </a:extLst>
          </p:cNvPr>
          <p:cNvSpPr txBox="1"/>
          <p:nvPr/>
        </p:nvSpPr>
        <p:spPr>
          <a:xfrm>
            <a:off x="2993232" y="4753208"/>
            <a:ext cx="1785900" cy="5541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s" sz="1200">
                <a:latin typeface="DM Sans"/>
                <a:ea typeface="DM Sans"/>
                <a:cs typeface="DM Sans"/>
                <a:sym typeface="DM Sans"/>
              </a:rPr>
              <a:t>ROCK (Robust Clustering Algorithm)</a:t>
            </a:r>
            <a:endParaRPr sz="1200">
              <a:latin typeface="DM Sans"/>
              <a:ea typeface="DM Sans"/>
              <a:cs typeface="DM Sans"/>
              <a:sym typeface="DM Sans"/>
            </a:endParaRPr>
          </a:p>
        </p:txBody>
      </p:sp>
      <p:sp>
        <p:nvSpPr>
          <p:cNvPr id="24" name="Google Shape;334;p56">
            <a:extLst>
              <a:ext uri="{FF2B5EF4-FFF2-40B4-BE49-F238E27FC236}">
                <a16:creationId xmlns:a16="http://schemas.microsoft.com/office/drawing/2014/main" id="{B47E9986-884B-8EA7-42D1-EDF163A2E013}"/>
              </a:ext>
            </a:extLst>
          </p:cNvPr>
          <p:cNvSpPr txBox="1"/>
          <p:nvPr/>
        </p:nvSpPr>
        <p:spPr>
          <a:xfrm>
            <a:off x="2993232" y="5438933"/>
            <a:ext cx="1767300" cy="5541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s" sz="1200">
                <a:latin typeface="DM Sans"/>
                <a:ea typeface="DM Sans"/>
                <a:cs typeface="DM Sans"/>
                <a:sym typeface="DM Sans"/>
              </a:rPr>
              <a:t>CURE (Clustering using representatives)</a:t>
            </a:r>
            <a:endParaRPr sz="1200">
              <a:latin typeface="DM Sans"/>
              <a:ea typeface="DM Sans"/>
              <a:cs typeface="DM Sans"/>
              <a:sym typeface="DM Sans"/>
            </a:endParaRPr>
          </a:p>
        </p:txBody>
      </p:sp>
      <p:sp>
        <p:nvSpPr>
          <p:cNvPr id="25" name="Google Shape;335;p56">
            <a:extLst>
              <a:ext uri="{FF2B5EF4-FFF2-40B4-BE49-F238E27FC236}">
                <a16:creationId xmlns:a16="http://schemas.microsoft.com/office/drawing/2014/main" id="{E46C2646-B674-2F7B-62E8-C0068105478C}"/>
              </a:ext>
            </a:extLst>
          </p:cNvPr>
          <p:cNvSpPr txBox="1"/>
          <p:nvPr/>
        </p:nvSpPr>
        <p:spPr>
          <a:xfrm>
            <a:off x="4996557" y="3592521"/>
            <a:ext cx="1510800" cy="3693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s" sz="1200">
                <a:latin typeface="DM Sans"/>
                <a:ea typeface="DM Sans"/>
                <a:cs typeface="DM Sans"/>
                <a:sym typeface="DM Sans"/>
              </a:rPr>
              <a:t>DBSCAN</a:t>
            </a:r>
            <a:endParaRPr sz="1200">
              <a:latin typeface="DM Sans"/>
              <a:ea typeface="DM Sans"/>
              <a:cs typeface="DM Sans"/>
              <a:sym typeface="DM Sans"/>
            </a:endParaRPr>
          </a:p>
        </p:txBody>
      </p:sp>
      <p:sp>
        <p:nvSpPr>
          <p:cNvPr id="26" name="Google Shape;336;p56">
            <a:extLst>
              <a:ext uri="{FF2B5EF4-FFF2-40B4-BE49-F238E27FC236}">
                <a16:creationId xmlns:a16="http://schemas.microsoft.com/office/drawing/2014/main" id="{22791014-7811-9586-4952-C012DE56E023}"/>
              </a:ext>
            </a:extLst>
          </p:cNvPr>
          <p:cNvSpPr txBox="1"/>
          <p:nvPr/>
        </p:nvSpPr>
        <p:spPr>
          <a:xfrm>
            <a:off x="4996557" y="4184546"/>
            <a:ext cx="1510800" cy="3693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s" sz="1200">
                <a:latin typeface="DM Sans"/>
                <a:ea typeface="DM Sans"/>
                <a:cs typeface="DM Sans"/>
                <a:sym typeface="DM Sans"/>
              </a:rPr>
              <a:t>OPTICS</a:t>
            </a:r>
            <a:endParaRPr sz="1200">
              <a:latin typeface="DM Sans"/>
              <a:ea typeface="DM Sans"/>
              <a:cs typeface="DM Sans"/>
              <a:sym typeface="DM Sans"/>
            </a:endParaRPr>
          </a:p>
        </p:txBody>
      </p:sp>
      <p:sp>
        <p:nvSpPr>
          <p:cNvPr id="27" name="Google Shape;337;p56">
            <a:extLst>
              <a:ext uri="{FF2B5EF4-FFF2-40B4-BE49-F238E27FC236}">
                <a16:creationId xmlns:a16="http://schemas.microsoft.com/office/drawing/2014/main" id="{AB93B4F4-D7AB-1632-B46C-D84B2245F26D}"/>
              </a:ext>
            </a:extLst>
          </p:cNvPr>
          <p:cNvSpPr txBox="1"/>
          <p:nvPr/>
        </p:nvSpPr>
        <p:spPr>
          <a:xfrm>
            <a:off x="4996557" y="4776571"/>
            <a:ext cx="1510800" cy="3693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s" sz="1200">
                <a:latin typeface="DM Sans"/>
                <a:ea typeface="DM Sans"/>
                <a:cs typeface="DM Sans"/>
                <a:sym typeface="DM Sans"/>
              </a:rPr>
              <a:t>DBCLASD</a:t>
            </a:r>
            <a:endParaRPr sz="1200">
              <a:latin typeface="DM Sans"/>
              <a:ea typeface="DM Sans"/>
              <a:cs typeface="DM Sans"/>
              <a:sym typeface="DM Sans"/>
            </a:endParaRPr>
          </a:p>
        </p:txBody>
      </p:sp>
      <p:sp>
        <p:nvSpPr>
          <p:cNvPr id="28" name="Google Shape;338;p56">
            <a:extLst>
              <a:ext uri="{FF2B5EF4-FFF2-40B4-BE49-F238E27FC236}">
                <a16:creationId xmlns:a16="http://schemas.microsoft.com/office/drawing/2014/main" id="{12ECB65A-4C6F-43C3-9350-7E24F5323DBB}"/>
              </a:ext>
            </a:extLst>
          </p:cNvPr>
          <p:cNvSpPr txBox="1"/>
          <p:nvPr/>
        </p:nvSpPr>
        <p:spPr>
          <a:xfrm>
            <a:off x="4996557" y="5408071"/>
            <a:ext cx="1510800" cy="3693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s" sz="1200">
                <a:latin typeface="DM Sans"/>
                <a:ea typeface="DM Sans"/>
                <a:cs typeface="DM Sans"/>
                <a:sym typeface="DM Sans"/>
              </a:rPr>
              <a:t>DENCLUE</a:t>
            </a:r>
            <a:endParaRPr sz="1200">
              <a:latin typeface="DM Sans"/>
              <a:ea typeface="DM Sans"/>
              <a:cs typeface="DM Sans"/>
              <a:sym typeface="DM Sans"/>
            </a:endParaRPr>
          </a:p>
        </p:txBody>
      </p:sp>
      <p:sp>
        <p:nvSpPr>
          <p:cNvPr id="29" name="Google Shape;339;p56">
            <a:extLst>
              <a:ext uri="{FF2B5EF4-FFF2-40B4-BE49-F238E27FC236}">
                <a16:creationId xmlns:a16="http://schemas.microsoft.com/office/drawing/2014/main" id="{FC9644A1-70CE-D0B5-A8A1-AB6460876E45}"/>
              </a:ext>
            </a:extLst>
          </p:cNvPr>
          <p:cNvSpPr txBox="1"/>
          <p:nvPr/>
        </p:nvSpPr>
        <p:spPr>
          <a:xfrm>
            <a:off x="6853607" y="3592521"/>
            <a:ext cx="1510800" cy="3693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s" sz="1200">
                <a:latin typeface="DM Sans"/>
                <a:ea typeface="DM Sans"/>
                <a:cs typeface="DM Sans"/>
                <a:sym typeface="DM Sans"/>
              </a:rPr>
              <a:t>Wavecluster</a:t>
            </a:r>
            <a:endParaRPr sz="1200">
              <a:latin typeface="DM Sans"/>
              <a:ea typeface="DM Sans"/>
              <a:cs typeface="DM Sans"/>
              <a:sym typeface="DM Sans"/>
            </a:endParaRPr>
          </a:p>
        </p:txBody>
      </p:sp>
      <p:sp>
        <p:nvSpPr>
          <p:cNvPr id="30" name="Google Shape;340;p56">
            <a:extLst>
              <a:ext uri="{FF2B5EF4-FFF2-40B4-BE49-F238E27FC236}">
                <a16:creationId xmlns:a16="http://schemas.microsoft.com/office/drawing/2014/main" id="{3C592B9E-6E3A-0FA2-8A6B-67451A4E70A3}"/>
              </a:ext>
            </a:extLst>
          </p:cNvPr>
          <p:cNvSpPr txBox="1"/>
          <p:nvPr/>
        </p:nvSpPr>
        <p:spPr>
          <a:xfrm>
            <a:off x="6853607" y="4185308"/>
            <a:ext cx="1510800" cy="3693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s" sz="1200">
                <a:latin typeface="DM Sans"/>
                <a:ea typeface="DM Sans"/>
                <a:cs typeface="DM Sans"/>
                <a:sym typeface="DM Sans"/>
              </a:rPr>
              <a:t>STING </a:t>
            </a:r>
            <a:endParaRPr sz="1200">
              <a:latin typeface="DM Sans"/>
              <a:ea typeface="DM Sans"/>
              <a:cs typeface="DM Sans"/>
              <a:sym typeface="DM Sans"/>
            </a:endParaRPr>
          </a:p>
        </p:txBody>
      </p:sp>
      <p:sp>
        <p:nvSpPr>
          <p:cNvPr id="31" name="Google Shape;341;p56">
            <a:extLst>
              <a:ext uri="{FF2B5EF4-FFF2-40B4-BE49-F238E27FC236}">
                <a16:creationId xmlns:a16="http://schemas.microsoft.com/office/drawing/2014/main" id="{BFB8320F-3AE4-E301-2A21-A24DB0459200}"/>
              </a:ext>
            </a:extLst>
          </p:cNvPr>
          <p:cNvSpPr txBox="1"/>
          <p:nvPr/>
        </p:nvSpPr>
        <p:spPr>
          <a:xfrm>
            <a:off x="6853607" y="4778108"/>
            <a:ext cx="1510800" cy="3693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s" sz="1200">
                <a:latin typeface="DM Sans"/>
                <a:ea typeface="DM Sans"/>
                <a:cs typeface="DM Sans"/>
                <a:sym typeface="DM Sans"/>
              </a:rPr>
              <a:t>CLIQUE</a:t>
            </a:r>
            <a:endParaRPr sz="1200">
              <a:latin typeface="DM Sans"/>
              <a:ea typeface="DM Sans"/>
              <a:cs typeface="DM Sans"/>
              <a:sym typeface="DM Sans"/>
            </a:endParaRPr>
          </a:p>
        </p:txBody>
      </p:sp>
      <p:sp>
        <p:nvSpPr>
          <p:cNvPr id="32" name="Google Shape;342;p56">
            <a:extLst>
              <a:ext uri="{FF2B5EF4-FFF2-40B4-BE49-F238E27FC236}">
                <a16:creationId xmlns:a16="http://schemas.microsoft.com/office/drawing/2014/main" id="{C7A3329D-1E47-31BC-A31B-5A4B74C1250F}"/>
              </a:ext>
            </a:extLst>
          </p:cNvPr>
          <p:cNvSpPr txBox="1"/>
          <p:nvPr/>
        </p:nvSpPr>
        <p:spPr>
          <a:xfrm>
            <a:off x="6853607" y="5408058"/>
            <a:ext cx="1510800" cy="3693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s" sz="1200">
                <a:latin typeface="DM Sans"/>
                <a:ea typeface="DM Sans"/>
                <a:cs typeface="DM Sans"/>
                <a:sym typeface="DM Sans"/>
              </a:rPr>
              <a:t>OptiGrid</a:t>
            </a:r>
            <a:endParaRPr sz="1200">
              <a:latin typeface="DM Sans"/>
              <a:ea typeface="DM Sans"/>
              <a:cs typeface="DM Sans"/>
              <a:sym typeface="DM Sans"/>
            </a:endParaRPr>
          </a:p>
        </p:txBody>
      </p:sp>
      <p:sp>
        <p:nvSpPr>
          <p:cNvPr id="33" name="Google Shape;343;p56">
            <a:extLst>
              <a:ext uri="{FF2B5EF4-FFF2-40B4-BE49-F238E27FC236}">
                <a16:creationId xmlns:a16="http://schemas.microsoft.com/office/drawing/2014/main" id="{EDA2B3A8-067D-B828-ECA7-04AF297C5B11}"/>
              </a:ext>
            </a:extLst>
          </p:cNvPr>
          <p:cNvSpPr txBox="1"/>
          <p:nvPr/>
        </p:nvSpPr>
        <p:spPr>
          <a:xfrm>
            <a:off x="8620895" y="3602083"/>
            <a:ext cx="1510800" cy="5541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s" sz="1200">
                <a:latin typeface="DM Sans"/>
                <a:ea typeface="DM Sans"/>
                <a:cs typeface="DM Sans"/>
                <a:sym typeface="DM Sans"/>
              </a:rPr>
              <a:t>GMM (Gaussian Mixture Model)</a:t>
            </a:r>
            <a:endParaRPr sz="1200">
              <a:latin typeface="DM Sans"/>
              <a:ea typeface="DM Sans"/>
              <a:cs typeface="DM Sans"/>
              <a:sym typeface="DM Sans"/>
            </a:endParaRPr>
          </a:p>
        </p:txBody>
      </p:sp>
      <p:sp>
        <p:nvSpPr>
          <p:cNvPr id="34" name="Google Shape;344;p56">
            <a:extLst>
              <a:ext uri="{FF2B5EF4-FFF2-40B4-BE49-F238E27FC236}">
                <a16:creationId xmlns:a16="http://schemas.microsoft.com/office/drawing/2014/main" id="{58EBE04E-D81F-BD43-2DC9-4662D30941BF}"/>
              </a:ext>
            </a:extLst>
          </p:cNvPr>
          <p:cNvSpPr txBox="1"/>
          <p:nvPr/>
        </p:nvSpPr>
        <p:spPr>
          <a:xfrm>
            <a:off x="8620895" y="4221321"/>
            <a:ext cx="1510800" cy="3693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s" sz="1200">
                <a:latin typeface="DM Sans"/>
                <a:ea typeface="DM Sans"/>
                <a:cs typeface="DM Sans"/>
                <a:sym typeface="DM Sans"/>
              </a:rPr>
              <a:t>COBWEB</a:t>
            </a:r>
            <a:endParaRPr sz="1200">
              <a:latin typeface="DM Sans"/>
              <a:ea typeface="DM Sans"/>
              <a:cs typeface="DM Sans"/>
              <a:sym typeface="DM Sans"/>
            </a:endParaRPr>
          </a:p>
        </p:txBody>
      </p:sp>
      <p:sp>
        <p:nvSpPr>
          <p:cNvPr id="35" name="Google Shape;345;p56">
            <a:extLst>
              <a:ext uri="{FF2B5EF4-FFF2-40B4-BE49-F238E27FC236}">
                <a16:creationId xmlns:a16="http://schemas.microsoft.com/office/drawing/2014/main" id="{DD360E3A-A5F8-A377-04C8-030871F67E47}"/>
              </a:ext>
            </a:extLst>
          </p:cNvPr>
          <p:cNvSpPr txBox="1"/>
          <p:nvPr/>
        </p:nvSpPr>
        <p:spPr>
          <a:xfrm>
            <a:off x="8620895" y="4809233"/>
            <a:ext cx="1510800" cy="3693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s" sz="1200">
                <a:latin typeface="DM Sans"/>
                <a:ea typeface="DM Sans"/>
                <a:cs typeface="DM Sans"/>
                <a:sym typeface="DM Sans"/>
              </a:rPr>
              <a:t>CLASSIT</a:t>
            </a:r>
            <a:endParaRPr sz="1200">
              <a:latin typeface="DM Sans"/>
              <a:ea typeface="DM Sans"/>
              <a:cs typeface="DM Sans"/>
              <a:sym typeface="DM Sans"/>
            </a:endParaRPr>
          </a:p>
        </p:txBody>
      </p:sp>
      <p:sp>
        <p:nvSpPr>
          <p:cNvPr id="36" name="Google Shape;346;p56">
            <a:extLst>
              <a:ext uri="{FF2B5EF4-FFF2-40B4-BE49-F238E27FC236}">
                <a16:creationId xmlns:a16="http://schemas.microsoft.com/office/drawing/2014/main" id="{7747495A-CD68-2481-8178-D197427A29DF}"/>
              </a:ext>
            </a:extLst>
          </p:cNvPr>
          <p:cNvSpPr txBox="1"/>
          <p:nvPr/>
        </p:nvSpPr>
        <p:spPr>
          <a:xfrm>
            <a:off x="8620895" y="5440733"/>
            <a:ext cx="1510800" cy="3693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s" sz="1200">
                <a:latin typeface="DM Sans"/>
                <a:ea typeface="DM Sans"/>
                <a:cs typeface="DM Sans"/>
                <a:sym typeface="DM Sans"/>
              </a:rPr>
              <a:t>SOMs</a:t>
            </a:r>
            <a:endParaRPr sz="1200">
              <a:latin typeface="DM Sans"/>
              <a:ea typeface="DM Sans"/>
              <a:cs typeface="DM Sans"/>
              <a:sym typeface="DM Sans"/>
            </a:endParaRPr>
          </a:p>
        </p:txBody>
      </p:sp>
      <p:cxnSp>
        <p:nvCxnSpPr>
          <p:cNvPr id="37" name="Google Shape;347;p56">
            <a:extLst>
              <a:ext uri="{FF2B5EF4-FFF2-40B4-BE49-F238E27FC236}">
                <a16:creationId xmlns:a16="http://schemas.microsoft.com/office/drawing/2014/main" id="{99AE311D-C755-C1B9-D266-DFC9ADDEE686}"/>
              </a:ext>
            </a:extLst>
          </p:cNvPr>
          <p:cNvCxnSpPr>
            <a:stCxn id="12" idx="0"/>
          </p:cNvCxnSpPr>
          <p:nvPr/>
        </p:nvCxnSpPr>
        <p:spPr>
          <a:xfrm rot="-5400000">
            <a:off x="3279257" y="1443033"/>
            <a:ext cx="386100" cy="2868900"/>
          </a:xfrm>
          <a:prstGeom prst="bentConnector2">
            <a:avLst/>
          </a:prstGeom>
          <a:noFill/>
          <a:ln w="9525" cap="flat" cmpd="sng">
            <a:solidFill>
              <a:srgbClr val="CCCCCC"/>
            </a:solidFill>
            <a:prstDash val="solid"/>
            <a:round/>
            <a:headEnd type="none" w="med" len="med"/>
            <a:tailEnd type="none" w="med" len="med"/>
          </a:ln>
        </p:spPr>
      </p:cxnSp>
      <p:cxnSp>
        <p:nvCxnSpPr>
          <p:cNvPr id="38" name="Google Shape;349;p56">
            <a:extLst>
              <a:ext uri="{FF2B5EF4-FFF2-40B4-BE49-F238E27FC236}">
                <a16:creationId xmlns:a16="http://schemas.microsoft.com/office/drawing/2014/main" id="{83BCFE01-A6A8-CE8F-F398-F883AC426D85}"/>
              </a:ext>
            </a:extLst>
          </p:cNvPr>
          <p:cNvCxnSpPr>
            <a:stCxn id="13" idx="0"/>
          </p:cNvCxnSpPr>
          <p:nvPr/>
        </p:nvCxnSpPr>
        <p:spPr>
          <a:xfrm rot="-5400000">
            <a:off x="4174782" y="2338683"/>
            <a:ext cx="386100" cy="1077600"/>
          </a:xfrm>
          <a:prstGeom prst="bentConnector2">
            <a:avLst/>
          </a:prstGeom>
          <a:noFill/>
          <a:ln w="9525" cap="flat" cmpd="sng">
            <a:solidFill>
              <a:srgbClr val="CCCCCC"/>
            </a:solidFill>
            <a:prstDash val="solid"/>
            <a:round/>
            <a:headEnd type="none" w="med" len="med"/>
            <a:tailEnd type="none" w="med" len="med"/>
          </a:ln>
        </p:spPr>
      </p:cxnSp>
      <p:cxnSp>
        <p:nvCxnSpPr>
          <p:cNvPr id="39" name="Google Shape;350;p56">
            <a:extLst>
              <a:ext uri="{FF2B5EF4-FFF2-40B4-BE49-F238E27FC236}">
                <a16:creationId xmlns:a16="http://schemas.microsoft.com/office/drawing/2014/main" id="{123B5055-F590-3193-CE2D-9E0EFC71108B}"/>
              </a:ext>
            </a:extLst>
          </p:cNvPr>
          <p:cNvCxnSpPr>
            <a:stCxn id="14" idx="0"/>
          </p:cNvCxnSpPr>
          <p:nvPr/>
        </p:nvCxnSpPr>
        <p:spPr>
          <a:xfrm rot="-5400000">
            <a:off x="5579557" y="2884083"/>
            <a:ext cx="372300" cy="600"/>
          </a:xfrm>
          <a:prstGeom prst="bentConnector3">
            <a:avLst>
              <a:gd name="adj1" fmla="val 50000"/>
            </a:avLst>
          </a:prstGeom>
          <a:noFill/>
          <a:ln w="9525" cap="flat" cmpd="sng">
            <a:solidFill>
              <a:srgbClr val="CCCCCC"/>
            </a:solidFill>
            <a:prstDash val="solid"/>
            <a:round/>
            <a:headEnd type="none" w="med" len="med"/>
            <a:tailEnd type="oval" w="med" len="med"/>
          </a:ln>
        </p:spPr>
      </p:cxnSp>
      <p:cxnSp>
        <p:nvCxnSpPr>
          <p:cNvPr id="40" name="Google Shape;351;p56">
            <a:extLst>
              <a:ext uri="{FF2B5EF4-FFF2-40B4-BE49-F238E27FC236}">
                <a16:creationId xmlns:a16="http://schemas.microsoft.com/office/drawing/2014/main" id="{B68D4828-1C2D-8A57-C66C-25F59DFA5B83}"/>
              </a:ext>
            </a:extLst>
          </p:cNvPr>
          <p:cNvCxnSpPr>
            <a:stCxn id="15" idx="0"/>
          </p:cNvCxnSpPr>
          <p:nvPr/>
        </p:nvCxnSpPr>
        <p:spPr>
          <a:xfrm rot="5400000" flipH="1">
            <a:off x="6933907" y="2374833"/>
            <a:ext cx="386100" cy="1005300"/>
          </a:xfrm>
          <a:prstGeom prst="bentConnector2">
            <a:avLst/>
          </a:prstGeom>
          <a:noFill/>
          <a:ln w="9525" cap="flat" cmpd="sng">
            <a:solidFill>
              <a:srgbClr val="CCCCCC"/>
            </a:solidFill>
            <a:prstDash val="solid"/>
            <a:round/>
            <a:headEnd type="none" w="med" len="med"/>
            <a:tailEnd type="none" w="med" len="med"/>
          </a:ln>
        </p:spPr>
      </p:cxnSp>
      <p:cxnSp>
        <p:nvCxnSpPr>
          <p:cNvPr id="41" name="Google Shape;352;p56">
            <a:extLst>
              <a:ext uri="{FF2B5EF4-FFF2-40B4-BE49-F238E27FC236}">
                <a16:creationId xmlns:a16="http://schemas.microsoft.com/office/drawing/2014/main" id="{497C6AF5-C27D-F427-254B-4F17CF72C6E7}"/>
              </a:ext>
            </a:extLst>
          </p:cNvPr>
          <p:cNvCxnSpPr>
            <a:stCxn id="16" idx="0"/>
          </p:cNvCxnSpPr>
          <p:nvPr/>
        </p:nvCxnSpPr>
        <p:spPr>
          <a:xfrm rot="5400000" flipH="1">
            <a:off x="7807157" y="1501383"/>
            <a:ext cx="386100" cy="2752200"/>
          </a:xfrm>
          <a:prstGeom prst="bentConnector2">
            <a:avLst/>
          </a:prstGeom>
          <a:noFill/>
          <a:ln w="9525" cap="flat" cmpd="sng">
            <a:solidFill>
              <a:srgbClr val="CCCCCC"/>
            </a:solidFill>
            <a:prstDash val="solid"/>
            <a:round/>
            <a:headEnd type="none" w="med" len="med"/>
            <a:tailEnd type="none" w="med" len="med"/>
          </a:ln>
        </p:spPr>
      </p:cxnSp>
      <p:cxnSp>
        <p:nvCxnSpPr>
          <p:cNvPr id="42" name="Google Shape;353;p56">
            <a:extLst>
              <a:ext uri="{FF2B5EF4-FFF2-40B4-BE49-F238E27FC236}">
                <a16:creationId xmlns:a16="http://schemas.microsoft.com/office/drawing/2014/main" id="{3F4033F3-B11A-8159-8F1B-4ACADE668811}"/>
              </a:ext>
            </a:extLst>
          </p:cNvPr>
          <p:cNvCxnSpPr/>
          <p:nvPr/>
        </p:nvCxnSpPr>
        <p:spPr>
          <a:xfrm>
            <a:off x="4319857" y="2682108"/>
            <a:ext cx="2714700" cy="0"/>
          </a:xfrm>
          <a:prstGeom prst="straightConnector1">
            <a:avLst/>
          </a:prstGeom>
          <a:noFill/>
          <a:ln w="9525" cap="flat" cmpd="sng">
            <a:solidFill>
              <a:srgbClr val="D4D4D4"/>
            </a:solidFill>
            <a:prstDash val="solid"/>
            <a:round/>
            <a:headEnd type="none" w="med" len="med"/>
            <a:tailEnd type="none" w="med" len="med"/>
          </a:ln>
        </p:spPr>
      </p:cxnSp>
      <p:sp>
        <p:nvSpPr>
          <p:cNvPr id="43" name="Google Shape;321;p56">
            <a:extLst>
              <a:ext uri="{FF2B5EF4-FFF2-40B4-BE49-F238E27FC236}">
                <a16:creationId xmlns:a16="http://schemas.microsoft.com/office/drawing/2014/main" id="{346DB428-EAD3-3568-4D75-947EE6F6DE1D}"/>
              </a:ext>
            </a:extLst>
          </p:cNvPr>
          <p:cNvSpPr txBox="1"/>
          <p:nvPr/>
        </p:nvSpPr>
        <p:spPr>
          <a:xfrm>
            <a:off x="4548283" y="6158618"/>
            <a:ext cx="3404480" cy="36930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200" b="1" dirty="0">
                <a:latin typeface="DM Sans"/>
                <a:ea typeface="DM Sans"/>
                <a:cs typeface="DM Sans"/>
                <a:sym typeface="DM Sans"/>
              </a:rPr>
              <a:t>Fuente: </a:t>
            </a:r>
            <a:r>
              <a:rPr lang="es" sz="1200" dirty="0">
                <a:latin typeface="DM Sans"/>
                <a:ea typeface="DM Sans"/>
                <a:cs typeface="DM Sans"/>
                <a:sym typeface="DM Sans"/>
              </a:rPr>
              <a:t>Adaptado de Mehta V et al. (2020).</a:t>
            </a:r>
            <a:endParaRPr sz="1200" dirty="0">
              <a:latin typeface="DM Sans"/>
              <a:ea typeface="DM Sans"/>
              <a:cs typeface="DM Sans"/>
              <a:sym typeface="DM Sans"/>
            </a:endParaRPr>
          </a:p>
        </p:txBody>
      </p:sp>
      <p:sp>
        <p:nvSpPr>
          <p:cNvPr id="4" name="Título 1">
            <a:extLst>
              <a:ext uri="{FF2B5EF4-FFF2-40B4-BE49-F238E27FC236}">
                <a16:creationId xmlns:a16="http://schemas.microsoft.com/office/drawing/2014/main" id="{56EF4985-168A-7D08-733B-34F60D345DDE}"/>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sz="4400" b="1" dirty="0">
                <a:solidFill>
                  <a:schemeClr val="accent1"/>
                </a:solidFill>
              </a:rPr>
              <a:t>Algoritmos de </a:t>
            </a:r>
            <a:r>
              <a:rPr lang="es-ES" sz="4400" b="1" dirty="0" err="1">
                <a:solidFill>
                  <a:schemeClr val="accent1"/>
                </a:solidFill>
              </a:rPr>
              <a:t>clustering</a:t>
            </a:r>
            <a:endParaRPr lang="es-ES" dirty="0">
              <a:solidFill>
                <a:schemeClr val="accent1"/>
              </a:solidFill>
            </a:endParaRPr>
          </a:p>
        </p:txBody>
      </p:sp>
    </p:spTree>
    <p:extLst>
      <p:ext uri="{BB962C8B-B14F-4D97-AF65-F5344CB8AC3E}">
        <p14:creationId xmlns:p14="http://schemas.microsoft.com/office/powerpoint/2010/main" val="10387764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418;p66">
            <a:extLst>
              <a:ext uri="{FF2B5EF4-FFF2-40B4-BE49-F238E27FC236}">
                <a16:creationId xmlns:a16="http://schemas.microsoft.com/office/drawing/2014/main" id="{6C07E8B4-00D1-6BC3-BCD8-10028B2BFC87}"/>
              </a:ext>
            </a:extLst>
          </p:cNvPr>
          <p:cNvPicPr preferRelativeResize="0"/>
          <p:nvPr/>
        </p:nvPicPr>
        <p:blipFill>
          <a:blip r:embed="rId2">
            <a:alphaModFix/>
          </a:blip>
          <a:stretch>
            <a:fillRect/>
          </a:stretch>
        </p:blipFill>
        <p:spPr>
          <a:xfrm>
            <a:off x="962141" y="1955523"/>
            <a:ext cx="5363158" cy="3858048"/>
          </a:xfrm>
          <a:prstGeom prst="rect">
            <a:avLst/>
          </a:prstGeom>
          <a:noFill/>
          <a:ln>
            <a:noFill/>
          </a:ln>
        </p:spPr>
      </p:pic>
      <p:sp>
        <p:nvSpPr>
          <p:cNvPr id="6" name="Google Shape;419;p66">
            <a:extLst>
              <a:ext uri="{FF2B5EF4-FFF2-40B4-BE49-F238E27FC236}">
                <a16:creationId xmlns:a16="http://schemas.microsoft.com/office/drawing/2014/main" id="{DBB15510-12B9-7D77-DF6E-5BE198E29B72}"/>
              </a:ext>
            </a:extLst>
          </p:cNvPr>
          <p:cNvSpPr txBox="1"/>
          <p:nvPr/>
        </p:nvSpPr>
        <p:spPr>
          <a:xfrm>
            <a:off x="6518246" y="2357306"/>
            <a:ext cx="4835554" cy="3228546"/>
          </a:xfrm>
          <a:prstGeom prst="rect">
            <a:avLst/>
          </a:prstGeom>
          <a:noFill/>
          <a:ln>
            <a:noFill/>
          </a:ln>
        </p:spPr>
        <p:txBody>
          <a:bodyPr spcFirstLastPara="1" wrap="square" lIns="91425" tIns="91425" rIns="91425" bIns="91425" anchor="t" anchorCtr="0">
            <a:spAutoFit/>
          </a:bodyPr>
          <a:lstStyle/>
          <a:p>
            <a:pPr>
              <a:lnSpc>
                <a:spcPct val="115000"/>
              </a:lnSpc>
            </a:pPr>
            <a:r>
              <a:rPr lang="en-US" sz="3200" b="1" dirty="0">
                <a:solidFill>
                  <a:schemeClr val="dk1"/>
                </a:solidFill>
                <a:latin typeface="DM Sans"/>
                <a:ea typeface="DM Sans"/>
                <a:cs typeface="DM Sans"/>
                <a:sym typeface="DM Sans"/>
              </a:rPr>
              <a:t>K-Means</a:t>
            </a:r>
          </a:p>
          <a:p>
            <a:pPr marL="0" lvl="0" indent="0" algn="l" rtl="0">
              <a:lnSpc>
                <a:spcPct val="115000"/>
              </a:lnSpc>
              <a:spcBef>
                <a:spcPts val="0"/>
              </a:spcBef>
              <a:spcAft>
                <a:spcPts val="0"/>
              </a:spcAft>
              <a:buNone/>
            </a:pPr>
            <a:endParaRPr lang="es" sz="2800" dirty="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2800" dirty="0">
                <a:solidFill>
                  <a:schemeClr val="dk1"/>
                </a:solidFill>
                <a:latin typeface="DM Sans"/>
                <a:ea typeface="DM Sans"/>
                <a:cs typeface="DM Sans"/>
                <a:sym typeface="DM Sans"/>
              </a:rPr>
              <a:t>Se indica la cantidad de centroides iniciales para que el método comience las iteraciones</a:t>
            </a:r>
            <a:endParaRPr sz="2800" dirty="0">
              <a:solidFill>
                <a:schemeClr val="dk1"/>
              </a:solidFill>
              <a:latin typeface="DM Sans"/>
              <a:ea typeface="DM Sans"/>
              <a:cs typeface="DM Sans"/>
              <a:sym typeface="DM Sans"/>
            </a:endParaRPr>
          </a:p>
        </p:txBody>
      </p:sp>
      <p:sp>
        <p:nvSpPr>
          <p:cNvPr id="10" name="Título 1">
            <a:extLst>
              <a:ext uri="{FF2B5EF4-FFF2-40B4-BE49-F238E27FC236}">
                <a16:creationId xmlns:a16="http://schemas.microsoft.com/office/drawing/2014/main" id="{2445ACFD-D600-0292-1705-44B477F98823}"/>
              </a:ext>
            </a:extLst>
          </p:cNvPr>
          <p:cNvSpPr>
            <a:spLocks noGrp="1"/>
          </p:cNvSpPr>
          <p:nvPr>
            <p:ph type="title"/>
          </p:nvPr>
        </p:nvSpPr>
        <p:spPr>
          <a:xfrm>
            <a:off x="838200" y="365125"/>
            <a:ext cx="10515600" cy="1325563"/>
          </a:xfrm>
        </p:spPr>
        <p:txBody>
          <a:bodyPr/>
          <a:lstStyle/>
          <a:p>
            <a:endParaRPr lang="en-US" dirty="0"/>
          </a:p>
        </p:txBody>
      </p:sp>
      <p:sp>
        <p:nvSpPr>
          <p:cNvPr id="2" name="Título 1">
            <a:extLst>
              <a:ext uri="{FF2B5EF4-FFF2-40B4-BE49-F238E27FC236}">
                <a16:creationId xmlns:a16="http://schemas.microsoft.com/office/drawing/2014/main" id="{481E153F-DCB0-C4BC-0B06-1C6B8FBFDD0C}"/>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sz="4400" b="1" dirty="0" err="1">
                <a:solidFill>
                  <a:schemeClr val="accent1"/>
                </a:solidFill>
              </a:rPr>
              <a:t>Clustering</a:t>
            </a:r>
            <a:r>
              <a:rPr lang="es-ES" sz="4400" b="1" dirty="0">
                <a:solidFill>
                  <a:schemeClr val="accent1"/>
                </a:solidFill>
              </a:rPr>
              <a:t> basados en distancia</a:t>
            </a:r>
            <a:endParaRPr lang="es-ES" dirty="0">
              <a:solidFill>
                <a:schemeClr val="accent1"/>
              </a:solidFill>
            </a:endParaRPr>
          </a:p>
        </p:txBody>
      </p:sp>
    </p:spTree>
    <p:extLst>
      <p:ext uri="{BB962C8B-B14F-4D97-AF65-F5344CB8AC3E}">
        <p14:creationId xmlns:p14="http://schemas.microsoft.com/office/powerpoint/2010/main" val="14520707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419;p66">
            <a:extLst>
              <a:ext uri="{FF2B5EF4-FFF2-40B4-BE49-F238E27FC236}">
                <a16:creationId xmlns:a16="http://schemas.microsoft.com/office/drawing/2014/main" id="{DBB15510-12B9-7D77-DF6E-5BE198E29B72}"/>
              </a:ext>
            </a:extLst>
          </p:cNvPr>
          <p:cNvSpPr txBox="1"/>
          <p:nvPr/>
        </p:nvSpPr>
        <p:spPr>
          <a:xfrm>
            <a:off x="5076083" y="2080883"/>
            <a:ext cx="6416833" cy="2768420"/>
          </a:xfrm>
          <a:prstGeom prst="rect">
            <a:avLst/>
          </a:prstGeom>
          <a:noFill/>
          <a:ln>
            <a:noFill/>
          </a:ln>
        </p:spPr>
        <p:txBody>
          <a:bodyPr spcFirstLastPara="1" wrap="square" lIns="91425" tIns="91425" rIns="91425" bIns="91425" anchor="t" anchorCtr="0">
            <a:spAutoFit/>
          </a:bodyPr>
          <a:lstStyle/>
          <a:p>
            <a:pPr>
              <a:lnSpc>
                <a:spcPct val="115000"/>
              </a:lnSpc>
            </a:pPr>
            <a:r>
              <a:rPr lang="en-US" sz="2000" b="1" dirty="0" err="1">
                <a:solidFill>
                  <a:schemeClr val="dk1"/>
                </a:solidFill>
                <a:latin typeface="DM Sans"/>
                <a:ea typeface="DM Sans"/>
                <a:cs typeface="DM Sans"/>
                <a:sym typeface="DM Sans"/>
              </a:rPr>
              <a:t>Tipos</a:t>
            </a:r>
            <a:r>
              <a:rPr lang="en-US" sz="2000" b="1" dirty="0">
                <a:solidFill>
                  <a:schemeClr val="dk1"/>
                </a:solidFill>
                <a:latin typeface="DM Sans"/>
                <a:ea typeface="DM Sans"/>
                <a:cs typeface="DM Sans"/>
                <a:sym typeface="DM Sans"/>
              </a:rPr>
              <a:t> de </a:t>
            </a:r>
            <a:r>
              <a:rPr lang="en-US" sz="2000" b="1" dirty="0" err="1">
                <a:solidFill>
                  <a:schemeClr val="dk1"/>
                </a:solidFill>
                <a:latin typeface="DM Sans"/>
                <a:ea typeface="DM Sans"/>
                <a:cs typeface="DM Sans"/>
                <a:sym typeface="DM Sans"/>
              </a:rPr>
              <a:t>distancia</a:t>
            </a:r>
            <a:endParaRPr lang="en-US" sz="2000" b="1" dirty="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endParaRPr lang="es" dirty="0">
              <a:solidFill>
                <a:schemeClr val="dk1"/>
              </a:solidFill>
              <a:latin typeface="DM Sans"/>
              <a:ea typeface="DM Sans"/>
              <a:cs typeface="DM Sans"/>
              <a:sym typeface="DM Sans"/>
            </a:endParaRPr>
          </a:p>
          <a:p>
            <a:pPr marL="0" marR="0" lvl="0" indent="0" algn="l" rtl="0">
              <a:lnSpc>
                <a:spcPct val="115000"/>
              </a:lnSpc>
              <a:spcBef>
                <a:spcPts val="0"/>
              </a:spcBef>
              <a:spcAft>
                <a:spcPts val="0"/>
              </a:spcAft>
              <a:buClr>
                <a:srgbClr val="000000"/>
              </a:buClr>
              <a:buSzPts val="1600"/>
              <a:buFont typeface="Arial"/>
              <a:buNone/>
            </a:pPr>
            <a:r>
              <a:rPr lang="es-ES" dirty="0">
                <a:solidFill>
                  <a:schemeClr val="dk1"/>
                </a:solidFill>
                <a:latin typeface="DM Sans"/>
                <a:ea typeface="DM Sans"/>
                <a:cs typeface="DM Sans"/>
                <a:sym typeface="DM Sans"/>
              </a:rPr>
              <a:t>Hay diferentes tipos de distancias con las que se puede medir la similitud/diferencia entre los diferentes registros. </a:t>
            </a:r>
          </a:p>
          <a:p>
            <a:pPr marL="0" marR="0" lvl="0" indent="0" algn="l" rtl="0">
              <a:lnSpc>
                <a:spcPct val="115000"/>
              </a:lnSpc>
              <a:spcBef>
                <a:spcPts val="0"/>
              </a:spcBef>
              <a:spcAft>
                <a:spcPts val="0"/>
              </a:spcAft>
              <a:buClr>
                <a:srgbClr val="000000"/>
              </a:buClr>
              <a:buSzPts val="1600"/>
              <a:buFont typeface="Arial"/>
              <a:buNone/>
            </a:pPr>
            <a:endParaRPr lang="es-ES" dirty="0">
              <a:solidFill>
                <a:schemeClr val="dk1"/>
              </a:solidFill>
              <a:latin typeface="DM Sans"/>
              <a:ea typeface="DM Sans"/>
              <a:cs typeface="DM Sans"/>
              <a:sym typeface="DM Sans"/>
            </a:endParaRPr>
          </a:p>
          <a:p>
            <a:pPr marL="0" marR="0" lvl="0" indent="0" algn="l" rtl="0">
              <a:lnSpc>
                <a:spcPct val="115000"/>
              </a:lnSpc>
              <a:spcBef>
                <a:spcPts val="0"/>
              </a:spcBef>
              <a:spcAft>
                <a:spcPts val="0"/>
              </a:spcAft>
              <a:buClr>
                <a:srgbClr val="000000"/>
              </a:buClr>
              <a:buSzPts val="1600"/>
              <a:buFont typeface="Arial"/>
              <a:buNone/>
            </a:pPr>
            <a:r>
              <a:rPr lang="es-ES" dirty="0">
                <a:solidFill>
                  <a:schemeClr val="dk1"/>
                </a:solidFill>
                <a:latin typeface="DM Sans"/>
                <a:ea typeface="DM Sans"/>
                <a:cs typeface="DM Sans"/>
                <a:sym typeface="DM Sans"/>
              </a:rPr>
              <a:t>Cada distancia puede representar un tipo de problema diferente y también puede </a:t>
            </a:r>
            <a:r>
              <a:rPr lang="es-ES" b="1" dirty="0">
                <a:solidFill>
                  <a:schemeClr val="dk1"/>
                </a:solidFill>
                <a:latin typeface="DM Sans"/>
                <a:ea typeface="DM Sans"/>
                <a:cs typeface="DM Sans"/>
                <a:sym typeface="DM Sans"/>
              </a:rPr>
              <a:t>cambiar sustancialmente el resultado de mi </a:t>
            </a:r>
            <a:r>
              <a:rPr lang="es-ES" b="1" dirty="0" err="1">
                <a:solidFill>
                  <a:schemeClr val="dk1"/>
                </a:solidFill>
                <a:latin typeface="DM Sans"/>
                <a:ea typeface="DM Sans"/>
                <a:cs typeface="DM Sans"/>
                <a:sym typeface="DM Sans"/>
              </a:rPr>
              <a:t>clustering</a:t>
            </a:r>
            <a:r>
              <a:rPr lang="es-ES" dirty="0">
                <a:solidFill>
                  <a:schemeClr val="dk1"/>
                </a:solidFill>
                <a:latin typeface="DM Sans"/>
                <a:ea typeface="DM Sans"/>
                <a:cs typeface="DM Sans"/>
                <a:sym typeface="DM Sans"/>
              </a:rPr>
              <a:t>.</a:t>
            </a:r>
          </a:p>
        </p:txBody>
      </p:sp>
      <p:sp>
        <p:nvSpPr>
          <p:cNvPr id="10" name="Título 1">
            <a:extLst>
              <a:ext uri="{FF2B5EF4-FFF2-40B4-BE49-F238E27FC236}">
                <a16:creationId xmlns:a16="http://schemas.microsoft.com/office/drawing/2014/main" id="{2445ACFD-D600-0292-1705-44B477F98823}"/>
              </a:ext>
            </a:extLst>
          </p:cNvPr>
          <p:cNvSpPr>
            <a:spLocks noGrp="1"/>
          </p:cNvSpPr>
          <p:nvPr>
            <p:ph type="title"/>
          </p:nvPr>
        </p:nvSpPr>
        <p:spPr>
          <a:xfrm>
            <a:off x="838200" y="365125"/>
            <a:ext cx="10515600" cy="1325563"/>
          </a:xfrm>
        </p:spPr>
        <p:txBody>
          <a:bodyPr/>
          <a:lstStyle/>
          <a:p>
            <a:endParaRPr lang="en-US" dirty="0"/>
          </a:p>
        </p:txBody>
      </p:sp>
      <p:pic>
        <p:nvPicPr>
          <p:cNvPr id="2" name="Google Shape;433;p68">
            <a:hlinkClick r:id="rId2"/>
            <a:extLst>
              <a:ext uri="{FF2B5EF4-FFF2-40B4-BE49-F238E27FC236}">
                <a16:creationId xmlns:a16="http://schemas.microsoft.com/office/drawing/2014/main" id="{F3EC80D5-A2CB-1740-DB8F-9B42B300606D}"/>
              </a:ext>
            </a:extLst>
          </p:cNvPr>
          <p:cNvPicPr preferRelativeResize="0"/>
          <p:nvPr/>
        </p:nvPicPr>
        <p:blipFill rotWithShape="1">
          <a:blip r:embed="rId3">
            <a:alphaModFix/>
          </a:blip>
          <a:srcRect/>
          <a:stretch/>
        </p:blipFill>
        <p:spPr>
          <a:xfrm>
            <a:off x="572600" y="2080883"/>
            <a:ext cx="4105272" cy="3570892"/>
          </a:xfrm>
          <a:prstGeom prst="rect">
            <a:avLst/>
          </a:prstGeom>
          <a:noFill/>
          <a:ln>
            <a:noFill/>
          </a:ln>
        </p:spPr>
      </p:pic>
      <p:pic>
        <p:nvPicPr>
          <p:cNvPr id="3" name="Google Shape;439;p69">
            <a:extLst>
              <a:ext uri="{FF2B5EF4-FFF2-40B4-BE49-F238E27FC236}">
                <a16:creationId xmlns:a16="http://schemas.microsoft.com/office/drawing/2014/main" id="{E13EA681-C86E-05F4-197D-3A66E9C23005}"/>
              </a:ext>
            </a:extLst>
          </p:cNvPr>
          <p:cNvPicPr preferRelativeResize="0"/>
          <p:nvPr/>
        </p:nvPicPr>
        <p:blipFill>
          <a:blip r:embed="rId4">
            <a:clrChange>
              <a:clrFrom>
                <a:srgbClr val="FFFFFF"/>
              </a:clrFrom>
              <a:clrTo>
                <a:srgbClr val="FFFFFF">
                  <a:alpha val="0"/>
                </a:srgbClr>
              </a:clrTo>
            </a:clrChange>
            <a:alphaModFix/>
          </a:blip>
          <a:stretch>
            <a:fillRect/>
          </a:stretch>
        </p:blipFill>
        <p:spPr>
          <a:xfrm>
            <a:off x="5423460" y="4949503"/>
            <a:ext cx="3628261" cy="1426129"/>
          </a:xfrm>
          <a:prstGeom prst="rect">
            <a:avLst/>
          </a:prstGeom>
          <a:noFill/>
          <a:ln>
            <a:noFill/>
          </a:ln>
        </p:spPr>
      </p:pic>
      <p:sp>
        <p:nvSpPr>
          <p:cNvPr id="5" name="Título 1">
            <a:extLst>
              <a:ext uri="{FF2B5EF4-FFF2-40B4-BE49-F238E27FC236}">
                <a16:creationId xmlns:a16="http://schemas.microsoft.com/office/drawing/2014/main" id="{F9A14B62-CD0E-C293-AB68-54FE71A32791}"/>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sz="4400" b="1" dirty="0" err="1">
                <a:solidFill>
                  <a:schemeClr val="accent1"/>
                </a:solidFill>
              </a:rPr>
              <a:t>Clustering</a:t>
            </a:r>
            <a:r>
              <a:rPr lang="es-ES" sz="4400" b="1" dirty="0">
                <a:solidFill>
                  <a:schemeClr val="accent1"/>
                </a:solidFill>
              </a:rPr>
              <a:t> basados en distancia</a:t>
            </a:r>
            <a:endParaRPr lang="es-ES" dirty="0">
              <a:solidFill>
                <a:schemeClr val="accent1"/>
              </a:solidFill>
            </a:endParaRPr>
          </a:p>
        </p:txBody>
      </p:sp>
    </p:spTree>
    <p:extLst>
      <p:ext uri="{BB962C8B-B14F-4D97-AF65-F5344CB8AC3E}">
        <p14:creationId xmlns:p14="http://schemas.microsoft.com/office/powerpoint/2010/main" val="6889716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419;p66">
            <a:extLst>
              <a:ext uri="{FF2B5EF4-FFF2-40B4-BE49-F238E27FC236}">
                <a16:creationId xmlns:a16="http://schemas.microsoft.com/office/drawing/2014/main" id="{DBB15510-12B9-7D77-DF6E-5BE198E29B72}"/>
              </a:ext>
            </a:extLst>
          </p:cNvPr>
          <p:cNvSpPr txBox="1"/>
          <p:nvPr/>
        </p:nvSpPr>
        <p:spPr>
          <a:xfrm>
            <a:off x="838200" y="1979802"/>
            <a:ext cx="10154874" cy="2131322"/>
          </a:xfrm>
          <a:prstGeom prst="rect">
            <a:avLst/>
          </a:prstGeom>
          <a:noFill/>
          <a:ln>
            <a:noFill/>
          </a:ln>
        </p:spPr>
        <p:txBody>
          <a:bodyPr spcFirstLastPara="1" wrap="square" lIns="91425" tIns="91425" rIns="91425" bIns="91425" anchor="t" anchorCtr="0">
            <a:spAutoFit/>
          </a:bodyPr>
          <a:lstStyle/>
          <a:p>
            <a:pPr>
              <a:lnSpc>
                <a:spcPct val="115000"/>
              </a:lnSpc>
            </a:pPr>
            <a:r>
              <a:rPr lang="en-US" sz="2000" b="1" dirty="0">
                <a:solidFill>
                  <a:schemeClr val="dk1"/>
                </a:solidFill>
                <a:latin typeface="DM Sans"/>
                <a:ea typeface="DM Sans"/>
                <a:cs typeface="DM Sans"/>
                <a:sym typeface="DM Sans"/>
              </a:rPr>
              <a:t>DBSCAN</a:t>
            </a:r>
          </a:p>
          <a:p>
            <a:pPr marL="0" lvl="0" indent="0" algn="l" rtl="0">
              <a:lnSpc>
                <a:spcPct val="115000"/>
              </a:lnSpc>
              <a:spcBef>
                <a:spcPts val="0"/>
              </a:spcBef>
              <a:spcAft>
                <a:spcPts val="0"/>
              </a:spcAft>
              <a:buNone/>
            </a:pPr>
            <a:r>
              <a:rPr lang="es" dirty="0">
                <a:solidFill>
                  <a:schemeClr val="dk1"/>
                </a:solidFill>
                <a:latin typeface="DM Sans"/>
                <a:ea typeface="DM Sans"/>
                <a:cs typeface="DM Sans"/>
                <a:sym typeface="DM Sans"/>
              </a:rPr>
              <a:t> </a:t>
            </a:r>
            <a:r>
              <a:rPr lang="es-ES" dirty="0">
                <a:solidFill>
                  <a:schemeClr val="dk1"/>
                </a:solidFill>
                <a:latin typeface="DM Sans"/>
                <a:ea typeface="DM Sans"/>
                <a:cs typeface="DM Sans"/>
                <a:sym typeface="DM Sans"/>
              </a:rPr>
              <a:t>Son métodos de aprendizaje no supervisado que identifican grupos/clústeres, basados en la idea de que un clúster es un espacio de datos es una región contigua de alta densidad de puntos, separada de otros clústeres similares por regiones contiguas de baja densidad de puntos</a:t>
            </a:r>
          </a:p>
          <a:p>
            <a:pPr marL="0" lvl="0" indent="0" algn="l" rtl="0">
              <a:lnSpc>
                <a:spcPct val="115000"/>
              </a:lnSpc>
              <a:spcBef>
                <a:spcPts val="0"/>
              </a:spcBef>
              <a:spcAft>
                <a:spcPts val="0"/>
              </a:spcAft>
              <a:buNone/>
            </a:pPr>
            <a:endParaRPr dirty="0">
              <a:solidFill>
                <a:schemeClr val="dk1"/>
              </a:solidFill>
              <a:latin typeface="DM Sans"/>
              <a:ea typeface="DM Sans"/>
              <a:cs typeface="DM Sans"/>
              <a:sym typeface="DM Sans"/>
            </a:endParaRPr>
          </a:p>
        </p:txBody>
      </p:sp>
      <p:sp>
        <p:nvSpPr>
          <p:cNvPr id="10" name="Título 1">
            <a:extLst>
              <a:ext uri="{FF2B5EF4-FFF2-40B4-BE49-F238E27FC236}">
                <a16:creationId xmlns:a16="http://schemas.microsoft.com/office/drawing/2014/main" id="{2445ACFD-D600-0292-1705-44B477F98823}"/>
              </a:ext>
            </a:extLst>
          </p:cNvPr>
          <p:cNvSpPr>
            <a:spLocks noGrp="1"/>
          </p:cNvSpPr>
          <p:nvPr>
            <p:ph type="title"/>
          </p:nvPr>
        </p:nvSpPr>
        <p:spPr>
          <a:xfrm>
            <a:off x="838200" y="365125"/>
            <a:ext cx="10515600" cy="1325563"/>
          </a:xfrm>
        </p:spPr>
        <p:txBody>
          <a:bodyPr/>
          <a:lstStyle/>
          <a:p>
            <a:endParaRPr lang="en-US" dirty="0"/>
          </a:p>
        </p:txBody>
      </p:sp>
      <p:pic>
        <p:nvPicPr>
          <p:cNvPr id="2" name="Google Shape;464;p73">
            <a:extLst>
              <a:ext uri="{FF2B5EF4-FFF2-40B4-BE49-F238E27FC236}">
                <a16:creationId xmlns:a16="http://schemas.microsoft.com/office/drawing/2014/main" id="{4AC574D9-23FF-E84E-8AFC-ACD918553762}"/>
              </a:ext>
            </a:extLst>
          </p:cNvPr>
          <p:cNvPicPr preferRelativeResize="0"/>
          <p:nvPr/>
        </p:nvPicPr>
        <p:blipFill>
          <a:blip r:embed="rId2">
            <a:clrChange>
              <a:clrFrom>
                <a:srgbClr val="FFFFFF"/>
              </a:clrFrom>
              <a:clrTo>
                <a:srgbClr val="FFFFFF">
                  <a:alpha val="0"/>
                </a:srgbClr>
              </a:clrTo>
            </a:clrChange>
            <a:alphaModFix/>
          </a:blip>
          <a:stretch>
            <a:fillRect/>
          </a:stretch>
        </p:blipFill>
        <p:spPr>
          <a:xfrm>
            <a:off x="2107622" y="4060064"/>
            <a:ext cx="6828401" cy="1847675"/>
          </a:xfrm>
          <a:prstGeom prst="rect">
            <a:avLst/>
          </a:prstGeom>
          <a:noFill/>
          <a:ln>
            <a:noFill/>
          </a:ln>
        </p:spPr>
      </p:pic>
      <p:sp>
        <p:nvSpPr>
          <p:cNvPr id="3" name="Título 1">
            <a:extLst>
              <a:ext uri="{FF2B5EF4-FFF2-40B4-BE49-F238E27FC236}">
                <a16:creationId xmlns:a16="http://schemas.microsoft.com/office/drawing/2014/main" id="{599D175E-4974-F171-8CD9-F317916A57EA}"/>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sz="4400" b="1" dirty="0" err="1">
                <a:solidFill>
                  <a:schemeClr val="accent1"/>
                </a:solidFill>
              </a:rPr>
              <a:t>Clustering</a:t>
            </a:r>
            <a:r>
              <a:rPr lang="es-ES" sz="4400" b="1" dirty="0">
                <a:solidFill>
                  <a:schemeClr val="accent1"/>
                </a:solidFill>
              </a:rPr>
              <a:t> basados en densidad</a:t>
            </a:r>
            <a:endParaRPr lang="es-ES" dirty="0">
              <a:solidFill>
                <a:schemeClr val="accent1"/>
              </a:solidFill>
            </a:endParaRPr>
          </a:p>
        </p:txBody>
      </p:sp>
    </p:spTree>
    <p:extLst>
      <p:ext uri="{BB962C8B-B14F-4D97-AF65-F5344CB8AC3E}">
        <p14:creationId xmlns:p14="http://schemas.microsoft.com/office/powerpoint/2010/main" val="39840860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419;p66">
            <a:extLst>
              <a:ext uri="{FF2B5EF4-FFF2-40B4-BE49-F238E27FC236}">
                <a16:creationId xmlns:a16="http://schemas.microsoft.com/office/drawing/2014/main" id="{DBB15510-12B9-7D77-DF6E-5BE198E29B72}"/>
              </a:ext>
            </a:extLst>
          </p:cNvPr>
          <p:cNvSpPr txBox="1"/>
          <p:nvPr/>
        </p:nvSpPr>
        <p:spPr>
          <a:xfrm>
            <a:off x="838199" y="1979802"/>
            <a:ext cx="6099495" cy="3688672"/>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600"/>
              <a:buFont typeface="Arial"/>
              <a:buNone/>
            </a:pPr>
            <a:r>
              <a:rPr lang="es-ES" sz="1800" dirty="0">
                <a:solidFill>
                  <a:schemeClr val="dk1"/>
                </a:solidFill>
                <a:latin typeface="DM Sans"/>
                <a:ea typeface="DM Sans"/>
                <a:cs typeface="DM Sans"/>
                <a:sym typeface="DM Sans"/>
              </a:rPr>
              <a:t>Se tienen en cuenta </a:t>
            </a:r>
            <a:r>
              <a:rPr lang="es-ES" sz="1800" b="1" dirty="0">
                <a:solidFill>
                  <a:schemeClr val="dk1"/>
                </a:solidFill>
                <a:latin typeface="DM Sans"/>
                <a:ea typeface="DM Sans"/>
                <a:cs typeface="DM Sans"/>
                <a:sym typeface="DM Sans"/>
              </a:rPr>
              <a:t>dos parámetros</a:t>
            </a:r>
            <a:r>
              <a:rPr lang="es-ES" sz="1800" dirty="0">
                <a:solidFill>
                  <a:schemeClr val="dk1"/>
                </a:solidFill>
                <a:latin typeface="DM Sans"/>
                <a:ea typeface="DM Sans"/>
                <a:cs typeface="DM Sans"/>
                <a:sym typeface="DM Sans"/>
              </a:rPr>
              <a:t> importantes:</a:t>
            </a:r>
          </a:p>
          <a:p>
            <a:pPr marL="457200" marR="0" lvl="0" indent="-314325" algn="just" rtl="0">
              <a:lnSpc>
                <a:spcPct val="115000"/>
              </a:lnSpc>
              <a:spcBef>
                <a:spcPts val="0"/>
              </a:spcBef>
              <a:spcAft>
                <a:spcPts val="0"/>
              </a:spcAft>
              <a:buClr>
                <a:srgbClr val="EF89D2"/>
              </a:buClr>
              <a:buSzPts val="1350"/>
              <a:buFont typeface="Helvetica Neue"/>
              <a:buChar char="✓"/>
            </a:pPr>
            <a:r>
              <a:rPr lang="es-ES" sz="1800" b="1" dirty="0" err="1">
                <a:solidFill>
                  <a:schemeClr val="dk1"/>
                </a:solidFill>
                <a:highlight>
                  <a:srgbClr val="EAFF6A"/>
                </a:highlight>
                <a:latin typeface="DM Sans"/>
                <a:ea typeface="DM Sans"/>
                <a:cs typeface="DM Sans"/>
                <a:sym typeface="DM Sans"/>
              </a:rPr>
              <a:t>eps</a:t>
            </a:r>
            <a:r>
              <a:rPr lang="es-ES" sz="1800" b="1" dirty="0">
                <a:solidFill>
                  <a:schemeClr val="dk1"/>
                </a:solidFill>
                <a:highlight>
                  <a:srgbClr val="EAFF6A"/>
                </a:highlight>
                <a:latin typeface="DM Sans"/>
                <a:ea typeface="DM Sans"/>
                <a:cs typeface="DM Sans"/>
                <a:sym typeface="DM Sans"/>
              </a:rPr>
              <a:t>:</a:t>
            </a:r>
            <a:r>
              <a:rPr lang="es-ES" sz="1800" b="1" dirty="0">
                <a:solidFill>
                  <a:schemeClr val="dk1"/>
                </a:solidFill>
                <a:latin typeface="DM Sans"/>
                <a:ea typeface="DM Sans"/>
                <a:cs typeface="DM Sans"/>
                <a:sym typeface="DM Sans"/>
              </a:rPr>
              <a:t> </a:t>
            </a:r>
            <a:r>
              <a:rPr lang="es-ES" sz="1800" dirty="0">
                <a:solidFill>
                  <a:schemeClr val="dk1"/>
                </a:solidFill>
                <a:latin typeface="DM Sans"/>
                <a:ea typeface="DM Sans"/>
                <a:cs typeface="DM Sans"/>
                <a:sym typeface="DM Sans"/>
              </a:rPr>
              <a:t>Define la vecindad alrededor de un punto, si la distancia entre dos puntos es menor o igual a "</a:t>
            </a:r>
            <a:r>
              <a:rPr lang="es-ES" sz="1800" dirty="0" err="1">
                <a:solidFill>
                  <a:schemeClr val="dk1"/>
                </a:solidFill>
                <a:latin typeface="DM Sans"/>
                <a:ea typeface="DM Sans"/>
                <a:cs typeface="DM Sans"/>
                <a:sym typeface="DM Sans"/>
              </a:rPr>
              <a:t>eps</a:t>
            </a:r>
            <a:r>
              <a:rPr lang="es-ES" sz="1800" dirty="0">
                <a:solidFill>
                  <a:schemeClr val="dk1"/>
                </a:solidFill>
                <a:latin typeface="DM Sans"/>
                <a:ea typeface="DM Sans"/>
                <a:cs typeface="DM Sans"/>
                <a:sym typeface="DM Sans"/>
              </a:rPr>
              <a:t>", entonces se consideran vecinos. Si el valor de </a:t>
            </a:r>
            <a:r>
              <a:rPr lang="es-ES" sz="1800" dirty="0" err="1">
                <a:solidFill>
                  <a:schemeClr val="dk1"/>
                </a:solidFill>
                <a:latin typeface="DM Sans"/>
                <a:ea typeface="DM Sans"/>
                <a:cs typeface="DM Sans"/>
                <a:sym typeface="DM Sans"/>
              </a:rPr>
              <a:t>eps</a:t>
            </a:r>
            <a:r>
              <a:rPr lang="es-ES" sz="1800" dirty="0">
                <a:solidFill>
                  <a:schemeClr val="dk1"/>
                </a:solidFill>
                <a:latin typeface="DM Sans"/>
                <a:ea typeface="DM Sans"/>
                <a:cs typeface="DM Sans"/>
                <a:sym typeface="DM Sans"/>
              </a:rPr>
              <a:t> se elige demasiado pequeño, gran parte de los datos se considerarán valores atípicos.</a:t>
            </a:r>
          </a:p>
          <a:p>
            <a:pPr marL="457200" marR="0" lvl="0" indent="-314325" algn="just" rtl="0">
              <a:lnSpc>
                <a:spcPct val="115000"/>
              </a:lnSpc>
              <a:spcBef>
                <a:spcPts val="0"/>
              </a:spcBef>
              <a:spcAft>
                <a:spcPts val="0"/>
              </a:spcAft>
              <a:buClr>
                <a:srgbClr val="EF89D2"/>
              </a:buClr>
              <a:buSzPts val="1350"/>
              <a:buFont typeface="Helvetica Neue"/>
              <a:buChar char="✓"/>
            </a:pPr>
            <a:r>
              <a:rPr lang="es-ES" sz="1800" b="1" dirty="0" err="1">
                <a:solidFill>
                  <a:schemeClr val="dk1"/>
                </a:solidFill>
                <a:highlight>
                  <a:srgbClr val="EAFF6A"/>
                </a:highlight>
                <a:latin typeface="DM Sans"/>
                <a:ea typeface="DM Sans"/>
                <a:cs typeface="DM Sans"/>
                <a:sym typeface="DM Sans"/>
              </a:rPr>
              <a:t>MinPts</a:t>
            </a:r>
            <a:r>
              <a:rPr lang="es-ES" sz="1800" b="1" dirty="0">
                <a:solidFill>
                  <a:schemeClr val="dk1"/>
                </a:solidFill>
                <a:highlight>
                  <a:srgbClr val="EAFF6A"/>
                </a:highlight>
                <a:latin typeface="DM Sans"/>
                <a:ea typeface="DM Sans"/>
                <a:cs typeface="DM Sans"/>
                <a:sym typeface="DM Sans"/>
              </a:rPr>
              <a:t>:</a:t>
            </a:r>
            <a:r>
              <a:rPr lang="es-ES" sz="1800" b="1" dirty="0">
                <a:solidFill>
                  <a:schemeClr val="dk1"/>
                </a:solidFill>
                <a:latin typeface="DM Sans"/>
                <a:ea typeface="DM Sans"/>
                <a:cs typeface="DM Sans"/>
                <a:sym typeface="DM Sans"/>
              </a:rPr>
              <a:t> </a:t>
            </a:r>
            <a:r>
              <a:rPr lang="es-ES" sz="1800" dirty="0">
                <a:solidFill>
                  <a:schemeClr val="dk1"/>
                </a:solidFill>
                <a:latin typeface="DM Sans"/>
                <a:ea typeface="DM Sans"/>
                <a:cs typeface="DM Sans"/>
                <a:sym typeface="DM Sans"/>
              </a:rPr>
              <a:t>Número mínimo de vecinos (puntos) dentro del radio </a:t>
            </a:r>
            <a:r>
              <a:rPr lang="es-ES" sz="1800" dirty="0" err="1">
                <a:solidFill>
                  <a:schemeClr val="dk1"/>
                </a:solidFill>
                <a:latin typeface="DM Sans"/>
                <a:ea typeface="DM Sans"/>
                <a:cs typeface="DM Sans"/>
                <a:sym typeface="DM Sans"/>
              </a:rPr>
              <a:t>eps</a:t>
            </a:r>
            <a:r>
              <a:rPr lang="es-ES" sz="1800" dirty="0">
                <a:solidFill>
                  <a:schemeClr val="dk1"/>
                </a:solidFill>
                <a:latin typeface="DM Sans"/>
                <a:ea typeface="DM Sans"/>
                <a:cs typeface="DM Sans"/>
                <a:sym typeface="DM Sans"/>
              </a:rPr>
              <a:t>. </a:t>
            </a:r>
            <a:r>
              <a:rPr lang="es-ES" sz="1800" dirty="0" err="1">
                <a:solidFill>
                  <a:schemeClr val="dk1"/>
                </a:solidFill>
                <a:latin typeface="DM Sans"/>
                <a:ea typeface="DM Sans"/>
                <a:cs typeface="DM Sans"/>
                <a:sym typeface="DM Sans"/>
              </a:rPr>
              <a:t>MinPts</a:t>
            </a:r>
            <a:r>
              <a:rPr lang="es-ES" sz="1800" dirty="0">
                <a:solidFill>
                  <a:schemeClr val="dk1"/>
                </a:solidFill>
                <a:latin typeface="DM Sans"/>
                <a:ea typeface="DM Sans"/>
                <a:cs typeface="DM Sans"/>
                <a:sym typeface="DM Sans"/>
              </a:rPr>
              <a:t> se pueden calcular del número de dimensiones D como </a:t>
            </a:r>
            <a:r>
              <a:rPr lang="es-ES" sz="1800" b="1" dirty="0" err="1">
                <a:solidFill>
                  <a:schemeClr val="dk1"/>
                </a:solidFill>
                <a:latin typeface="DM Sans"/>
                <a:ea typeface="DM Sans"/>
                <a:cs typeface="DM Sans"/>
                <a:sym typeface="DM Sans"/>
              </a:rPr>
              <a:t>MinPts</a:t>
            </a:r>
            <a:r>
              <a:rPr lang="es-ES" sz="1800" b="1" dirty="0">
                <a:solidFill>
                  <a:schemeClr val="dk1"/>
                </a:solidFill>
                <a:latin typeface="DM Sans"/>
                <a:ea typeface="DM Sans"/>
                <a:cs typeface="DM Sans"/>
                <a:sym typeface="DM Sans"/>
              </a:rPr>
              <a:t> &gt;= D + 1</a:t>
            </a:r>
            <a:r>
              <a:rPr lang="es-ES" sz="1800" dirty="0">
                <a:solidFill>
                  <a:schemeClr val="dk1"/>
                </a:solidFill>
                <a:latin typeface="DM Sans"/>
                <a:ea typeface="DM Sans"/>
                <a:cs typeface="DM Sans"/>
                <a:sym typeface="DM Sans"/>
              </a:rPr>
              <a:t>. El valor mínimo de </a:t>
            </a:r>
            <a:r>
              <a:rPr lang="es-ES" sz="1800" dirty="0" err="1">
                <a:solidFill>
                  <a:schemeClr val="dk1"/>
                </a:solidFill>
                <a:latin typeface="DM Sans"/>
                <a:ea typeface="DM Sans"/>
                <a:cs typeface="DM Sans"/>
                <a:sym typeface="DM Sans"/>
              </a:rPr>
              <a:t>MinPts</a:t>
            </a:r>
            <a:r>
              <a:rPr lang="es-ES" sz="1800" dirty="0">
                <a:solidFill>
                  <a:schemeClr val="dk1"/>
                </a:solidFill>
                <a:latin typeface="DM Sans"/>
                <a:ea typeface="DM Sans"/>
                <a:cs typeface="DM Sans"/>
                <a:sym typeface="DM Sans"/>
              </a:rPr>
              <a:t> debe ser de al menos 3.</a:t>
            </a:r>
          </a:p>
          <a:p>
            <a:pPr marL="0" lvl="0" indent="0" algn="l" rtl="0">
              <a:lnSpc>
                <a:spcPct val="115000"/>
              </a:lnSpc>
              <a:spcBef>
                <a:spcPts val="0"/>
              </a:spcBef>
              <a:spcAft>
                <a:spcPts val="0"/>
              </a:spcAft>
              <a:buNone/>
            </a:pPr>
            <a:endParaRPr dirty="0">
              <a:solidFill>
                <a:schemeClr val="dk1"/>
              </a:solidFill>
              <a:latin typeface="DM Sans"/>
              <a:ea typeface="DM Sans"/>
              <a:cs typeface="DM Sans"/>
              <a:sym typeface="DM Sans"/>
            </a:endParaRPr>
          </a:p>
        </p:txBody>
      </p:sp>
      <p:sp>
        <p:nvSpPr>
          <p:cNvPr id="10" name="Título 1">
            <a:extLst>
              <a:ext uri="{FF2B5EF4-FFF2-40B4-BE49-F238E27FC236}">
                <a16:creationId xmlns:a16="http://schemas.microsoft.com/office/drawing/2014/main" id="{2445ACFD-D600-0292-1705-44B477F98823}"/>
              </a:ext>
            </a:extLst>
          </p:cNvPr>
          <p:cNvSpPr>
            <a:spLocks noGrp="1"/>
          </p:cNvSpPr>
          <p:nvPr>
            <p:ph type="title"/>
          </p:nvPr>
        </p:nvSpPr>
        <p:spPr>
          <a:xfrm>
            <a:off x="838200" y="365125"/>
            <a:ext cx="10515600" cy="1325563"/>
          </a:xfrm>
        </p:spPr>
        <p:txBody>
          <a:bodyPr/>
          <a:lstStyle/>
          <a:p>
            <a:endParaRPr lang="en-US" dirty="0"/>
          </a:p>
        </p:txBody>
      </p:sp>
      <p:pic>
        <p:nvPicPr>
          <p:cNvPr id="3" name="Google Shape;471;p74">
            <a:extLst>
              <a:ext uri="{FF2B5EF4-FFF2-40B4-BE49-F238E27FC236}">
                <a16:creationId xmlns:a16="http://schemas.microsoft.com/office/drawing/2014/main" id="{12186BFD-19AF-179C-B1FF-287CBDD6792D}"/>
              </a:ext>
            </a:extLst>
          </p:cNvPr>
          <p:cNvPicPr preferRelativeResize="0"/>
          <p:nvPr/>
        </p:nvPicPr>
        <p:blipFill>
          <a:blip r:embed="rId2">
            <a:clrChange>
              <a:clrFrom>
                <a:srgbClr val="FFFFFF"/>
              </a:clrFrom>
              <a:clrTo>
                <a:srgbClr val="FFFFFF">
                  <a:alpha val="0"/>
                </a:srgbClr>
              </a:clrTo>
            </a:clrChange>
            <a:alphaModFix/>
          </a:blip>
          <a:stretch>
            <a:fillRect/>
          </a:stretch>
        </p:blipFill>
        <p:spPr>
          <a:xfrm>
            <a:off x="7660742" y="2734715"/>
            <a:ext cx="3103325" cy="2205525"/>
          </a:xfrm>
          <a:prstGeom prst="rect">
            <a:avLst/>
          </a:prstGeom>
          <a:noFill/>
          <a:ln>
            <a:noFill/>
          </a:ln>
        </p:spPr>
      </p:pic>
      <p:sp>
        <p:nvSpPr>
          <p:cNvPr id="2" name="Título 1">
            <a:extLst>
              <a:ext uri="{FF2B5EF4-FFF2-40B4-BE49-F238E27FC236}">
                <a16:creationId xmlns:a16="http://schemas.microsoft.com/office/drawing/2014/main" id="{E9B7B4C8-0402-A972-4EB2-795C5190230E}"/>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sz="4400" b="1" dirty="0" err="1">
                <a:solidFill>
                  <a:schemeClr val="accent1"/>
                </a:solidFill>
              </a:rPr>
              <a:t>Clustering</a:t>
            </a:r>
            <a:r>
              <a:rPr lang="es-ES" sz="4400" b="1" dirty="0">
                <a:solidFill>
                  <a:schemeClr val="accent1"/>
                </a:solidFill>
              </a:rPr>
              <a:t> basados en densidad</a:t>
            </a:r>
            <a:endParaRPr lang="es-ES" dirty="0">
              <a:solidFill>
                <a:schemeClr val="accent1"/>
              </a:solidFill>
            </a:endParaRPr>
          </a:p>
        </p:txBody>
      </p:sp>
    </p:spTree>
    <p:extLst>
      <p:ext uri="{BB962C8B-B14F-4D97-AF65-F5344CB8AC3E}">
        <p14:creationId xmlns:p14="http://schemas.microsoft.com/office/powerpoint/2010/main" val="2657099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3B7569-0F9A-E9D6-C094-2F4C82FD55B4}"/>
              </a:ext>
            </a:extLst>
          </p:cNvPr>
          <p:cNvSpPr>
            <a:spLocks noGrp="1"/>
          </p:cNvSpPr>
          <p:nvPr>
            <p:ph type="title"/>
          </p:nvPr>
        </p:nvSpPr>
        <p:spPr/>
        <p:txBody>
          <a:bodyPr/>
          <a:lstStyle/>
          <a:p>
            <a:r>
              <a:rPr lang="en-US" dirty="0" err="1"/>
              <a:t>Método</a:t>
            </a:r>
            <a:r>
              <a:rPr lang="en-US" dirty="0"/>
              <a:t> del </a:t>
            </a:r>
            <a:r>
              <a:rPr lang="en-US" dirty="0" err="1"/>
              <a:t>Codo</a:t>
            </a:r>
            <a:r>
              <a:rPr lang="en-US" dirty="0"/>
              <a:t> (Elbow)</a:t>
            </a:r>
          </a:p>
        </p:txBody>
      </p:sp>
      <p:sp>
        <p:nvSpPr>
          <p:cNvPr id="3" name="Marcador de contenido 2">
            <a:extLst>
              <a:ext uri="{FF2B5EF4-FFF2-40B4-BE49-F238E27FC236}">
                <a16:creationId xmlns:a16="http://schemas.microsoft.com/office/drawing/2014/main" id="{4B8077AF-0B55-A7C0-0CE7-1E3616FC55AF}"/>
              </a:ext>
            </a:extLst>
          </p:cNvPr>
          <p:cNvSpPr>
            <a:spLocks noGrp="1"/>
          </p:cNvSpPr>
          <p:nvPr>
            <p:ph sz="half" idx="1"/>
          </p:nvPr>
        </p:nvSpPr>
        <p:spPr/>
        <p:txBody>
          <a:bodyPr>
            <a:normAutofit fontScale="70000" lnSpcReduction="20000"/>
          </a:bodyPr>
          <a:lstStyle/>
          <a:p>
            <a:r>
              <a:rPr lang="es-ES" dirty="0"/>
              <a:t>El método del codo es una técnica utilizada en análisis de clústeres para determinar el número óptimo de clústeres en un conjunto de datos</a:t>
            </a:r>
          </a:p>
          <a:p>
            <a:r>
              <a:rPr lang="es-ES" dirty="0"/>
              <a:t>El método del codo se basa en la idea de que se debe seleccionar el número de clústeres donde se produce un cambio significativo en la inercia del modelo</a:t>
            </a:r>
          </a:p>
          <a:p>
            <a:r>
              <a:rPr lang="es-ES" dirty="0"/>
              <a:t>La inercia es la suma de las distancias al cuadrado de cada punto al centroide del clúster al que pertenece</a:t>
            </a:r>
          </a:p>
          <a:p>
            <a:r>
              <a:rPr lang="es-ES" dirty="0"/>
              <a:t>La inercia se utiliza como medida de la varianza dentro de cada clúster</a:t>
            </a:r>
          </a:p>
          <a:p>
            <a:r>
              <a:rPr lang="es-ES" dirty="0"/>
              <a:t>El número de clústeres se selecciona en el punto donde se produce un cambio significativo en la inercia (el "codo" en el gráfico)</a:t>
            </a:r>
            <a:endParaRPr lang="en-US" dirty="0"/>
          </a:p>
        </p:txBody>
      </p:sp>
      <p:pic>
        <p:nvPicPr>
          <p:cNvPr id="1026" name="Picture 2" descr="Método Elbow y método de siluetas para la determinación del número de  clústeres en K-means">
            <a:extLst>
              <a:ext uri="{FF2B5EF4-FFF2-40B4-BE49-F238E27FC236}">
                <a16:creationId xmlns:a16="http://schemas.microsoft.com/office/drawing/2014/main" id="{97566D51-EFDD-C716-580D-43753771B5D5}"/>
              </a:ext>
            </a:extLst>
          </p:cNvPr>
          <p:cNvPicPr>
            <a:picLocks noGrp="1" noChangeAspect="1" noChangeArrowheads="1"/>
          </p:cNvPicPr>
          <p:nvPr>
            <p:ph sz="half" idx="2"/>
          </p:nvPr>
        </p:nvPicPr>
        <p:blipFill>
          <a:blip r:embed="rId2">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6172201" y="1838751"/>
            <a:ext cx="5592207" cy="4156595"/>
          </a:xfrm>
          <a:prstGeom prst="rect">
            <a:avLst/>
          </a:prstGeom>
          <a:noFill/>
          <a:extLst>
            <a:ext uri="{909E8E84-426E-40DD-AFC4-6F175D3DCCD1}">
              <a14:hiddenFill xmlns:a14="http://schemas.microsoft.com/office/drawing/2010/main">
                <a:solidFill>
                  <a:srgbClr val="FFFFFF"/>
                </a:solidFill>
              </a14:hiddenFill>
            </a:ext>
          </a:extLst>
        </p:spPr>
      </p:pic>
      <p:sp>
        <p:nvSpPr>
          <p:cNvPr id="4" name="Título 1">
            <a:extLst>
              <a:ext uri="{FF2B5EF4-FFF2-40B4-BE49-F238E27FC236}">
                <a16:creationId xmlns:a16="http://schemas.microsoft.com/office/drawing/2014/main" id="{2E6DADBF-3500-BC77-1EBD-20EDB42A74D7}"/>
              </a:ext>
            </a:extLst>
          </p:cNvPr>
          <p:cNvSpPr txBox="1">
            <a:spLocks/>
          </p:cNvSpPr>
          <p:nvPr/>
        </p:nvSpPr>
        <p:spPr>
          <a:xfrm>
            <a:off x="838200" y="901756"/>
            <a:ext cx="10515600" cy="762897"/>
          </a:xfrm>
        </p:spPr>
        <p:txBody>
          <a:bodyPr>
            <a:noAutofit/>
          </a:bodyPr>
          <a:lstStyle>
            <a:lvl1pPr algn="l" defTabSz="914400" rtl="0" eaLnBrk="1" latinLnBrk="0" hangingPunct="1">
              <a:lnSpc>
                <a:spcPct val="90000"/>
              </a:lnSpc>
              <a:spcBef>
                <a:spcPct val="0"/>
              </a:spcBef>
              <a:buNone/>
              <a:defRPr sz="4400" b="1" kern="1200">
                <a:solidFill>
                  <a:schemeClr val="bg2">
                    <a:lumMod val="50000"/>
                  </a:schemeClr>
                </a:solidFill>
                <a:latin typeface="+mj-lt"/>
                <a:ea typeface="+mj-ea"/>
                <a:cs typeface="+mj-cs"/>
              </a:defRPr>
            </a:lvl1pPr>
          </a:lstStyle>
          <a:p>
            <a:pPr algn="ctr"/>
            <a:r>
              <a:rPr lang="es-ES" sz="4400" b="1" dirty="0">
                <a:solidFill>
                  <a:schemeClr val="accent1"/>
                </a:solidFill>
              </a:rPr>
              <a:t>Método del codo (</a:t>
            </a:r>
            <a:r>
              <a:rPr lang="es-ES" sz="4400" b="1" dirty="0" err="1">
                <a:solidFill>
                  <a:schemeClr val="accent1"/>
                </a:solidFill>
              </a:rPr>
              <a:t>elbow</a:t>
            </a:r>
            <a:r>
              <a:rPr lang="es-ES" sz="4400" b="1" dirty="0">
                <a:solidFill>
                  <a:schemeClr val="accent1"/>
                </a:solidFill>
              </a:rPr>
              <a:t>)</a:t>
            </a:r>
            <a:endParaRPr lang="es-ES" dirty="0">
              <a:solidFill>
                <a:schemeClr val="accent1"/>
              </a:solidFill>
            </a:endParaRPr>
          </a:p>
        </p:txBody>
      </p:sp>
    </p:spTree>
    <p:extLst>
      <p:ext uri="{BB962C8B-B14F-4D97-AF65-F5344CB8AC3E}">
        <p14:creationId xmlns:p14="http://schemas.microsoft.com/office/powerpoint/2010/main" val="32868469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logo with a black background&#10;&#10;Description automatically generated">
            <a:extLst>
              <a:ext uri="{FF2B5EF4-FFF2-40B4-BE49-F238E27FC236}">
                <a16:creationId xmlns:a16="http://schemas.microsoft.com/office/drawing/2014/main" id="{0F4EBBB3-950B-A198-91DD-9E0C069E6FAC}"/>
              </a:ext>
            </a:extLst>
          </p:cNvPr>
          <p:cNvPicPr>
            <a:picLocks noChangeAspect="1"/>
          </p:cNvPicPr>
          <p:nvPr/>
        </p:nvPicPr>
        <p:blipFill rotWithShape="1">
          <a:blip r:embed="rId2"/>
          <a:srcRect l="6667" t="35664" r="10526" b="41608"/>
          <a:stretch/>
        </p:blipFill>
        <p:spPr>
          <a:xfrm>
            <a:off x="934994" y="508959"/>
            <a:ext cx="2354649" cy="647641"/>
          </a:xfrm>
          <a:prstGeom prst="rect">
            <a:avLst/>
          </a:prstGeom>
        </p:spPr>
      </p:pic>
      <p:sp>
        <p:nvSpPr>
          <p:cNvPr id="12" name="CuadroTexto 11">
            <a:extLst>
              <a:ext uri="{FF2B5EF4-FFF2-40B4-BE49-F238E27FC236}">
                <a16:creationId xmlns:a16="http://schemas.microsoft.com/office/drawing/2014/main" id="{9D1A3BE5-287C-DCDB-3C8B-4FF15D78C868}"/>
              </a:ext>
            </a:extLst>
          </p:cNvPr>
          <p:cNvSpPr txBox="1"/>
          <p:nvPr/>
        </p:nvSpPr>
        <p:spPr>
          <a:xfrm>
            <a:off x="2266456" y="2644170"/>
            <a:ext cx="7659087" cy="1569660"/>
          </a:xfrm>
          <a:prstGeom prst="rect">
            <a:avLst/>
          </a:prstGeom>
          <a:noFill/>
        </p:spPr>
        <p:txBody>
          <a:bodyPr wrap="square" rtlCol="0">
            <a:spAutoFit/>
          </a:bodyPr>
          <a:lstStyle/>
          <a:p>
            <a:pPr algn="ctr"/>
            <a:r>
              <a:rPr lang="es-CO" sz="4800" b="1" dirty="0">
                <a:latin typeface="Montserrat ExtraBold" pitchFamily="2" charset="0"/>
              </a:rPr>
              <a:t>Preguntas, Pendientes o Discusiones</a:t>
            </a:r>
          </a:p>
        </p:txBody>
      </p:sp>
    </p:spTree>
    <p:extLst>
      <p:ext uri="{BB962C8B-B14F-4D97-AF65-F5344CB8AC3E}">
        <p14:creationId xmlns:p14="http://schemas.microsoft.com/office/powerpoint/2010/main" val="38151967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ue and white logo&#10;&#10;Description automatically generated">
            <a:extLst>
              <a:ext uri="{FF2B5EF4-FFF2-40B4-BE49-F238E27FC236}">
                <a16:creationId xmlns:a16="http://schemas.microsoft.com/office/drawing/2014/main" id="{3534D038-55F1-FF85-6131-93A352BB8EAE}"/>
              </a:ext>
            </a:extLst>
          </p:cNvPr>
          <p:cNvPicPr>
            <a:picLocks noChangeAspect="1"/>
          </p:cNvPicPr>
          <p:nvPr/>
        </p:nvPicPr>
        <p:blipFill>
          <a:blip r:embed="rId2"/>
          <a:stretch>
            <a:fillRect/>
          </a:stretch>
        </p:blipFill>
        <p:spPr>
          <a:xfrm>
            <a:off x="5449484" y="681487"/>
            <a:ext cx="5505597" cy="5495026"/>
          </a:xfrm>
          <a:prstGeom prst="rect">
            <a:avLst/>
          </a:prstGeom>
        </p:spPr>
      </p:pic>
    </p:spTree>
    <p:extLst>
      <p:ext uri="{BB962C8B-B14F-4D97-AF65-F5344CB8AC3E}">
        <p14:creationId xmlns:p14="http://schemas.microsoft.com/office/powerpoint/2010/main" val="411014531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503</TotalTime>
  <Words>2307</Words>
  <Application>Microsoft Macintosh PowerPoint</Application>
  <PresentationFormat>Panorámica</PresentationFormat>
  <Paragraphs>307</Paragraphs>
  <Slides>52</Slides>
  <Notes>0</Notes>
  <HiddenSlides>1</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52</vt:i4>
      </vt:variant>
    </vt:vector>
  </HeadingPairs>
  <TitlesOfParts>
    <vt:vector size="60" baseType="lpstr">
      <vt:lpstr>Arial</vt:lpstr>
      <vt:lpstr>DM Sans</vt:lpstr>
      <vt:lpstr>Helvetica Neue</vt:lpstr>
      <vt:lpstr>Helvetica Neue Light</vt:lpstr>
      <vt:lpstr>Montserrat ExtraBold</vt:lpstr>
      <vt:lpstr>Montserrat Medium</vt:lpstr>
      <vt:lpstr>Roboto</vt:lpstr>
      <vt:lpstr>Tema de Office</vt:lpstr>
      <vt:lpstr>Presentación de PowerPoint</vt:lpstr>
      <vt:lpstr>Presentación de PowerPoint</vt:lpstr>
      <vt:lpstr>Presentación de PowerPoint</vt:lpstr>
      <vt:lpstr>Presentación de PowerPoint</vt:lpstr>
      <vt:lpstr>Modelos predictivos</vt:lpstr>
      <vt:lpstr>Presentación de PowerPoint</vt:lpstr>
      <vt:lpstr>Aprendizaje supervisado</vt:lpstr>
      <vt:lpstr>Presentación de PowerPoint</vt:lpstr>
      <vt:lpstr>Presentación de PowerPoint</vt:lpstr>
      <vt:lpstr>Aprendizaje Supervisado</vt:lpstr>
      <vt:lpstr>Regresión</vt:lpstr>
      <vt:lpstr>Análisis de regresión</vt:lpstr>
      <vt:lpstr>Análisis de regresión</vt:lpstr>
      <vt:lpstr>Análisis de regresión</vt:lpstr>
      <vt:lpstr>Correlación</vt:lpstr>
      <vt:lpstr>Correlación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Regresión logística</vt:lpstr>
      <vt:lpstr>Presentación de PowerPoint</vt:lpstr>
      <vt:lpstr>Matriz de confusión</vt:lpstr>
      <vt:lpstr>Accuracy</vt:lpstr>
      <vt:lpstr>Desafíos</vt:lpstr>
      <vt:lpstr>Presentación de PowerPoint</vt:lpstr>
      <vt:lpstr>Presentación de PowerPoint</vt:lpstr>
      <vt:lpstr>Conjuntos de Entrenamiento y Prueba</vt:lpstr>
      <vt:lpstr>Presentación de PowerPoint</vt:lpstr>
      <vt:lpstr>Presentación de PowerPoint</vt:lpstr>
      <vt:lpstr>Presentación de PowerPoint</vt:lpstr>
      <vt:lpstr>Validación Cruzada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Método del Codo (Elbow)</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Francisco Javier Sanchez Pardo</dc:creator>
  <cp:lastModifiedBy>Andres Mauricio Muñoz Sanchez</cp:lastModifiedBy>
  <cp:revision>38</cp:revision>
  <dcterms:created xsi:type="dcterms:W3CDTF">2024-02-16T13:33:19Z</dcterms:created>
  <dcterms:modified xsi:type="dcterms:W3CDTF">2024-10-16T14:58:07Z</dcterms:modified>
</cp:coreProperties>
</file>